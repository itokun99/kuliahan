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libri (MS)" charset="1" panose="020F0502020204030204"/>
      <p:regular r:id="rId25"/>
    </p:embeddedFont>
    <p:embeddedFont>
      <p:font typeface="Calibri (MS) Bold" charset="1" panose="020F0702030404030204"/>
      <p:regular r:id="rId26"/>
    </p:embeddedFont>
    <p:embeddedFont>
      <p:font typeface="Cambria Bold" charset="1" panose="0204080305040603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7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1703" y="2730503"/>
            <a:ext cx="244859" cy="3500123"/>
            <a:chOff x="0" y="0"/>
            <a:chExt cx="326479" cy="46668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6517" cy="4666869"/>
            </a:xfrm>
            <a:custGeom>
              <a:avLst/>
              <a:gdLst/>
              <a:ahLst/>
              <a:cxnLst/>
              <a:rect r="r" b="b" t="t" l="l"/>
              <a:pathLst>
                <a:path h="4666869" w="326517">
                  <a:moveTo>
                    <a:pt x="0" y="0"/>
                  </a:moveTo>
                  <a:lnTo>
                    <a:pt x="326517" y="0"/>
                  </a:lnTo>
                  <a:lnTo>
                    <a:pt x="326517" y="4666869"/>
                  </a:lnTo>
                  <a:lnTo>
                    <a:pt x="0" y="4666869"/>
                  </a:lnTo>
                  <a:close/>
                </a:path>
              </a:pathLst>
            </a:custGeom>
            <a:solidFill>
              <a:srgbClr val="2A9D8F"/>
            </a:solidFill>
            <a:ln w="25400" cap="sq">
              <a:solidFill>
                <a:srgbClr val="2A9D8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554480" y="2560320"/>
            <a:ext cx="15544800" cy="914400"/>
            <a:chOff x="0" y="0"/>
            <a:chExt cx="20726400" cy="1219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2072640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9FD8D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Minggu 2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54480" y="3331845"/>
            <a:ext cx="15544800" cy="288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Pemodelan Proses Bisnis Dasar dengan BPMN (Business Process Model and Notation)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54480" y="8412480"/>
            <a:ext cx="15544800" cy="731520"/>
            <a:chOff x="0" y="0"/>
            <a:chExt cx="20726400" cy="975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72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726400" cy="1013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C9D3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Manajemen Proses Bisnis (SI207) | Program Studi Sistem Informasi | ITTS | Ganjil 2026/2027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62763"/>
            <a:chOff x="0" y="0"/>
            <a:chExt cx="24417871" cy="23503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350389"/>
            </a:xfrm>
            <a:custGeom>
              <a:avLst/>
              <a:gdLst/>
              <a:ahLst/>
              <a:cxnLst/>
              <a:rect r="r" b="b" t="t" l="l"/>
              <a:pathLst>
                <a:path h="235038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1F3A5F"/>
            </a:solidFill>
            <a:ln w="2540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82880"/>
            <a:ext cx="16459200" cy="1371600"/>
            <a:chOff x="0" y="0"/>
            <a:chExt cx="219456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Capaian dan Agenda Pembelajaran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509760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87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SI207 Manajemen Proses Bisnis | Minggu 2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" y="2127885"/>
            <a:ext cx="16459200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A9D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Sub-CPMK 032-2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Mahasiswa mampu menerapkan, menganalisis, atau mengevaluasi metode BPM pada studi kasus Sistem Informasi.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" y="4389120"/>
            <a:ext cx="16459200" cy="731520"/>
            <a:chOff x="0" y="0"/>
            <a:chExt cx="2194560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Agenda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" y="5126355"/>
            <a:ext cx="16459200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1. Elemen Dasar BPMN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2. Aturan Sintaksis BPMN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3. Pemodelan Proses As-Is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62763"/>
            <a:chOff x="0" y="0"/>
            <a:chExt cx="24417871" cy="23503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350389"/>
            </a:xfrm>
            <a:custGeom>
              <a:avLst/>
              <a:gdLst/>
              <a:ahLst/>
              <a:cxnLst/>
              <a:rect r="r" b="b" t="t" l="l"/>
              <a:pathLst>
                <a:path h="235038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1F3A5F"/>
            </a:solidFill>
            <a:ln w="2540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82880"/>
            <a:ext cx="16459200" cy="1371600"/>
            <a:chOff x="0" y="0"/>
            <a:chExt cx="219456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Elemen Dasar BPMN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509760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87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SI207 Manajemen Proses Bisnis | Minggu 2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" y="2301240"/>
            <a:ext cx="16459200" cy="665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1721" indent="-530860" lvl="1">
              <a:lnSpc>
                <a:spcPts val="5280"/>
              </a:lnSpc>
              <a:buFont typeface="Arial"/>
              <a:buChar char="•"/>
            </a:pPr>
            <a:r>
              <a:rPr lang="en-US" sz="4400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Event: start, intermediate, end</a:t>
            </a:r>
          </a:p>
          <a:p>
            <a:pPr algn="l" marL="1061721" indent="-530860" lvl="1">
              <a:lnSpc>
                <a:spcPts val="5280"/>
              </a:lnSpc>
              <a:buFont typeface="Arial"/>
              <a:buChar char="•"/>
            </a:pPr>
            <a:r>
              <a:rPr lang="en-US" sz="4400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Activity: task dan sub-process</a:t>
            </a:r>
          </a:p>
          <a:p>
            <a:pPr algn="l" marL="1061721" indent="-530860" lvl="1">
              <a:lnSpc>
                <a:spcPts val="5280"/>
              </a:lnSpc>
              <a:buFont typeface="Arial"/>
              <a:buChar char="•"/>
            </a:pPr>
            <a:r>
              <a:rPr lang="en-US" sz="4400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Gateway: XOR, AND, OR; dihubungkan oleh sequence flow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62763"/>
            <a:chOff x="0" y="0"/>
            <a:chExt cx="24417871" cy="23503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350389"/>
            </a:xfrm>
            <a:custGeom>
              <a:avLst/>
              <a:gdLst/>
              <a:ahLst/>
              <a:cxnLst/>
              <a:rect r="r" b="b" t="t" l="l"/>
              <a:pathLst>
                <a:path h="235038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1F3A5F"/>
            </a:solidFill>
            <a:ln w="2540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82880"/>
            <a:ext cx="16459200" cy="1371600"/>
            <a:chOff x="0" y="0"/>
            <a:chExt cx="219456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Aturan Sintaksis BPMN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509760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87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SI207 Manajemen Proses Bisnis | Minggu 2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" y="2301240"/>
            <a:ext cx="16459200" cy="665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1721" indent="-530860" lvl="1">
              <a:lnSpc>
                <a:spcPts val="5280"/>
              </a:lnSpc>
              <a:buFont typeface="Arial"/>
              <a:buChar char="•"/>
            </a:pPr>
            <a:r>
              <a:rPr lang="en-US" sz="4400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Setiap proses punya start event dan setiap jalur berakhir di end event</a:t>
            </a:r>
          </a:p>
          <a:p>
            <a:pPr algn="l" marL="1061721" indent="-530860" lvl="1">
              <a:lnSpc>
                <a:spcPts val="5280"/>
              </a:lnSpc>
              <a:buFont typeface="Arial"/>
              <a:buChar char="•"/>
            </a:pPr>
            <a:r>
              <a:rPr lang="en-US" sz="4400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Pool dan lane menunjukkan aktor; message flow antar pool</a:t>
            </a:r>
          </a:p>
          <a:p>
            <a:pPr algn="l" marL="1061721" indent="-530860" lvl="1">
              <a:lnSpc>
                <a:spcPts val="5280"/>
              </a:lnSpc>
              <a:buFont typeface="Arial"/>
              <a:buChar char="•"/>
            </a:pPr>
            <a:r>
              <a:rPr lang="en-US" sz="4400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Split dan join gateway harus konsisten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62763"/>
            <a:chOff x="0" y="0"/>
            <a:chExt cx="24417871" cy="23503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350389"/>
            </a:xfrm>
            <a:custGeom>
              <a:avLst/>
              <a:gdLst/>
              <a:ahLst/>
              <a:cxnLst/>
              <a:rect r="r" b="b" t="t" l="l"/>
              <a:pathLst>
                <a:path h="235038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1F3A5F"/>
            </a:solidFill>
            <a:ln w="2540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82880"/>
            <a:ext cx="16459200" cy="1371600"/>
            <a:chOff x="0" y="0"/>
            <a:chExt cx="219456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Pemodelan Proses As-Is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509760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87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SI207 Manajemen Proses Bisnis | Minggu 2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" y="2301240"/>
            <a:ext cx="16459200" cy="665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61721" indent="-530860" lvl="1">
              <a:lnSpc>
                <a:spcPts val="5280"/>
              </a:lnSpc>
              <a:buFont typeface="Arial"/>
              <a:buChar char="•"/>
            </a:pPr>
            <a:r>
              <a:rPr lang="en-US" sz="4400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Baca narasi: temukan aktor, aktivitas, dan keputusan</a:t>
            </a:r>
          </a:p>
          <a:p>
            <a:pPr algn="l" marL="1061721" indent="-530860" lvl="1">
              <a:lnSpc>
                <a:spcPts val="5280"/>
              </a:lnSpc>
              <a:buFont typeface="Arial"/>
              <a:buChar char="•"/>
            </a:pPr>
            <a:r>
              <a:rPr lang="en-US" sz="4400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Contoh kasus: registrasi akademik</a:t>
            </a:r>
          </a:p>
          <a:p>
            <a:pPr algn="l" marL="1061721" indent="-530860" lvl="1">
              <a:lnSpc>
                <a:spcPts val="5280"/>
              </a:lnSpc>
              <a:buFont typeface="Arial"/>
              <a:buChar char="•"/>
            </a:pPr>
            <a:r>
              <a:rPr lang="en-US" sz="4400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Periksa kesesuaian diagram dengan narasi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62763"/>
            <a:chOff x="0" y="0"/>
            <a:chExt cx="24417871" cy="23503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350389"/>
            </a:xfrm>
            <a:custGeom>
              <a:avLst/>
              <a:gdLst/>
              <a:ahLst/>
              <a:cxnLst/>
              <a:rect r="r" b="b" t="t" l="l"/>
              <a:pathLst>
                <a:path h="235038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1F3A5F"/>
            </a:solidFill>
            <a:ln w="2540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82880"/>
            <a:ext cx="16459200" cy="1371600"/>
            <a:chOff x="0" y="0"/>
            <a:chExt cx="219456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Aktivitas Pembelajaran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509760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87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SI207 Manajemen Proses Bisnis | Minggu 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103120"/>
            <a:ext cx="16459200" cy="1097280"/>
            <a:chOff x="0" y="0"/>
            <a:chExt cx="2194560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A9D8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Metode: </a:t>
              </a:r>
              <a:r>
                <a:rPr lang="en-US" sz="3000">
                  <a:solidFill>
                    <a:srgbClr val="222B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Latihan terbimbing, praktikum pemodelan, peer review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1703" y="3462023"/>
            <a:ext cx="8072123" cy="5511803"/>
            <a:chOff x="0" y="0"/>
            <a:chExt cx="10762831" cy="73490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62869" cy="7349109"/>
            </a:xfrm>
            <a:custGeom>
              <a:avLst/>
              <a:gdLst/>
              <a:ahLst/>
              <a:cxnLst/>
              <a:rect r="r" b="b" t="t" l="l"/>
              <a:pathLst>
                <a:path h="734910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7349109"/>
                  </a:lnTo>
                  <a:lnTo>
                    <a:pt x="0" y="7349109"/>
                  </a:lnTo>
                  <a:close/>
                </a:path>
              </a:pathLst>
            </a:custGeom>
            <a:solidFill>
              <a:srgbClr val="F4F6F8"/>
            </a:solidFill>
            <a:ln w="25400" cap="sq">
              <a:solidFill>
                <a:srgbClr val="F4F6F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71600" y="3749040"/>
            <a:ext cx="7132320" cy="731520"/>
            <a:chOff x="0" y="0"/>
            <a:chExt cx="9509760" cy="975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09760" cy="975360"/>
            </a:xfrm>
            <a:custGeom>
              <a:avLst/>
              <a:gdLst/>
              <a:ahLst/>
              <a:cxnLst/>
              <a:rect r="r" b="b" t="t" l="l"/>
              <a:pathLst>
                <a:path h="9753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95097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Dosen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71600" y="4606290"/>
            <a:ext cx="7132320" cy="408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Mendemonstrasikan pembuatan diagram BPMN, mendampingi latihan, memberi umpan balik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14183" y="3462023"/>
            <a:ext cx="8072123" cy="5511803"/>
            <a:chOff x="0" y="0"/>
            <a:chExt cx="10762831" cy="73490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62869" cy="7349109"/>
            </a:xfrm>
            <a:custGeom>
              <a:avLst/>
              <a:gdLst/>
              <a:ahLst/>
              <a:cxnLst/>
              <a:rect r="r" b="b" t="t" l="l"/>
              <a:pathLst>
                <a:path h="7349109" w="10762869">
                  <a:moveTo>
                    <a:pt x="0" y="0"/>
                  </a:moveTo>
                  <a:lnTo>
                    <a:pt x="10762869" y="0"/>
                  </a:lnTo>
                  <a:lnTo>
                    <a:pt x="10762869" y="7349109"/>
                  </a:lnTo>
                  <a:lnTo>
                    <a:pt x="0" y="7349109"/>
                  </a:lnTo>
                  <a:close/>
                </a:path>
              </a:pathLst>
            </a:custGeom>
            <a:solidFill>
              <a:srgbClr val="F4F6F8"/>
            </a:solidFill>
            <a:ln w="25400" cap="sq">
              <a:solidFill>
                <a:srgbClr val="F4F6F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784080" y="3749040"/>
            <a:ext cx="7132320" cy="731520"/>
            <a:chOff x="0" y="0"/>
            <a:chExt cx="950976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09760" cy="975360"/>
            </a:xfrm>
            <a:custGeom>
              <a:avLst/>
              <a:gdLst/>
              <a:ahLst/>
              <a:cxnLst/>
              <a:rect r="r" b="b" t="t" l="l"/>
              <a:pathLst>
                <a:path h="9753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950976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Mahasiswa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784080" y="4606290"/>
            <a:ext cx="7132320" cy="408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Memodelkan skenario dengan tools BPMN dan mendiskusikan error sintaksis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428" cy="10287000"/>
            <a:chOff x="0" y="0"/>
            <a:chExt cx="24377904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790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3C5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97280" y="3017520"/>
            <a:ext cx="9464040" cy="2606040"/>
            <a:chOff x="0" y="0"/>
            <a:chExt cx="12618720" cy="3474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187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2618720">
                  <a:moveTo>
                    <a:pt x="0" y="0"/>
                  </a:moveTo>
                  <a:lnTo>
                    <a:pt x="12618720" y="0"/>
                  </a:lnTo>
                  <a:lnTo>
                    <a:pt x="1261872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761" r="0" b="-2076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2618720" cy="348424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Elemen Dasar BPMN &amp; Contoh Pemodelan Proses Bisnis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97280" y="5840730"/>
            <a:ext cx="9464040" cy="170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EAF2F7"/>
                </a:solidFill>
                <a:latin typeface="Calibri (MS)"/>
                <a:ea typeface="Calibri (MS)"/>
                <a:cs typeface="Calibri (MS)"/>
                <a:sym typeface="Calibri (MS)"/>
              </a:rPr>
              <a:t>Pengantar notasi Business Process Model and Notation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360468" y="4776788"/>
            <a:ext cx="733425" cy="733425"/>
            <a:chOff x="0" y="0"/>
            <a:chExt cx="977900" cy="977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7900" cy="977900"/>
            </a:xfrm>
            <a:custGeom>
              <a:avLst/>
              <a:gdLst/>
              <a:ahLst/>
              <a:cxnLst/>
              <a:rect r="r" b="b" t="t" l="l"/>
              <a:pathLst>
                <a:path h="977900" w="977900">
                  <a:moveTo>
                    <a:pt x="0" y="488950"/>
                  </a:moveTo>
                  <a:cubicBezTo>
                    <a:pt x="0" y="218948"/>
                    <a:pt x="218948" y="0"/>
                    <a:pt x="488950" y="0"/>
                  </a:cubicBezTo>
                  <a:cubicBezTo>
                    <a:pt x="758952" y="0"/>
                    <a:pt x="977900" y="218948"/>
                    <a:pt x="977900" y="488950"/>
                  </a:cubicBezTo>
                  <a:cubicBezTo>
                    <a:pt x="977900" y="758952"/>
                    <a:pt x="758952" y="977900"/>
                    <a:pt x="488950" y="977900"/>
                  </a:cubicBezTo>
                  <a:cubicBezTo>
                    <a:pt x="218948" y="977900"/>
                    <a:pt x="0" y="758952"/>
                    <a:pt x="0" y="488950"/>
                  </a:cubicBezTo>
                  <a:close/>
                </a:path>
              </a:pathLst>
            </a:custGeom>
            <a:solidFill>
              <a:srgbClr val="0B3C5D"/>
            </a:solidFill>
            <a:ln w="47625" cap="sq">
              <a:solidFill>
                <a:srgbClr val="2E9E6B"/>
              </a:solidFill>
              <a:prstDash val="solid"/>
              <a:miter/>
            </a:ln>
          </p:spPr>
        </p:sp>
      </p:grpSp>
      <p:sp>
        <p:nvSpPr>
          <p:cNvPr name="AutoShape 10" id="10"/>
          <p:cNvSpPr/>
          <p:nvPr/>
        </p:nvSpPr>
        <p:spPr>
          <a:xfrm rot="170040">
            <a:off x="12055440" y="5133975"/>
            <a:ext cx="57792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1" id="11"/>
          <p:cNvGrpSpPr/>
          <p:nvPr/>
        </p:nvGrpSpPr>
        <p:grpSpPr>
          <a:xfrm rot="0">
            <a:off x="12604432" y="4580572"/>
            <a:ext cx="1811655" cy="1125855"/>
            <a:chOff x="0" y="0"/>
            <a:chExt cx="241554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15540" cy="1501013"/>
            </a:xfrm>
            <a:custGeom>
              <a:avLst/>
              <a:gdLst/>
              <a:ahLst/>
              <a:cxnLst/>
              <a:rect r="r" b="b" t="t" l="l"/>
              <a:pathLst>
                <a:path h="1501013" w="2415540">
                  <a:moveTo>
                    <a:pt x="0" y="187579"/>
                  </a:moveTo>
                  <a:cubicBezTo>
                    <a:pt x="0" y="83947"/>
                    <a:pt x="83947" y="0"/>
                    <a:pt x="187579" y="0"/>
                  </a:cubicBezTo>
                  <a:lnTo>
                    <a:pt x="2227834" y="0"/>
                  </a:lnTo>
                  <a:cubicBezTo>
                    <a:pt x="2331466" y="0"/>
                    <a:pt x="2415540" y="83947"/>
                    <a:pt x="2415540" y="187579"/>
                  </a:cubicBezTo>
                  <a:lnTo>
                    <a:pt x="2415540" y="1313434"/>
                  </a:lnTo>
                  <a:cubicBezTo>
                    <a:pt x="2415540" y="1417066"/>
                    <a:pt x="2331593" y="1501013"/>
                    <a:pt x="2227834" y="1501013"/>
                  </a:cubicBezTo>
                  <a:lnTo>
                    <a:pt x="187579" y="1501013"/>
                  </a:lnTo>
                  <a:cubicBezTo>
                    <a:pt x="83947" y="1501140"/>
                    <a:pt x="0" y="1417193"/>
                    <a:pt x="0" y="1313434"/>
                  </a:cubicBezTo>
                  <a:close/>
                </a:path>
              </a:pathLst>
            </a:custGeom>
            <a:solidFill>
              <a:srgbClr val="1C7293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415540" cy="1548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Task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170040">
            <a:off x="14387160" y="5133975"/>
            <a:ext cx="57792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5" id="15"/>
          <p:cNvGrpSpPr/>
          <p:nvPr/>
        </p:nvGrpSpPr>
        <p:grpSpPr>
          <a:xfrm rot="0">
            <a:off x="14926627" y="4639628"/>
            <a:ext cx="1007745" cy="1007745"/>
            <a:chOff x="0" y="0"/>
            <a:chExt cx="1343660" cy="13436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3660" cy="1343660"/>
            </a:xfrm>
            <a:custGeom>
              <a:avLst/>
              <a:gdLst/>
              <a:ahLst/>
              <a:cxnLst/>
              <a:rect r="r" b="b" t="t" l="l"/>
              <a:pathLst>
                <a:path h="1343660" w="1343660">
                  <a:moveTo>
                    <a:pt x="0" y="671830"/>
                  </a:moveTo>
                  <a:lnTo>
                    <a:pt x="671830" y="0"/>
                  </a:lnTo>
                  <a:lnTo>
                    <a:pt x="1343660" y="671830"/>
                  </a:lnTo>
                  <a:lnTo>
                    <a:pt x="671830" y="1343660"/>
                  </a:lnTo>
                  <a:close/>
                </a:path>
              </a:pathLst>
            </a:custGeom>
            <a:solidFill>
              <a:srgbClr val="0B3C5D"/>
            </a:solidFill>
            <a:ln w="47625" cap="sq">
              <a:solidFill>
                <a:srgbClr val="E58F2A"/>
              </a:solidFill>
              <a:prstDash val="solid"/>
              <a:miter/>
            </a:ln>
          </p:spPr>
        </p:sp>
      </p:grpSp>
      <p:sp>
        <p:nvSpPr>
          <p:cNvPr name="AutoShape 17" id="17"/>
          <p:cNvSpPr/>
          <p:nvPr/>
        </p:nvSpPr>
        <p:spPr>
          <a:xfrm rot="170040">
            <a:off x="15895920" y="5133975"/>
            <a:ext cx="577920" cy="0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16411575" y="4752975"/>
            <a:ext cx="781050" cy="781050"/>
            <a:chOff x="0" y="0"/>
            <a:chExt cx="1041400" cy="1041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0" y="520700"/>
                  </a:moveTo>
                  <a:cubicBezTo>
                    <a:pt x="0" y="233172"/>
                    <a:pt x="233172" y="0"/>
                    <a:pt x="520700" y="0"/>
                  </a:cubicBezTo>
                  <a:cubicBezTo>
                    <a:pt x="808228" y="0"/>
                    <a:pt x="1041400" y="233172"/>
                    <a:pt x="1041400" y="520700"/>
                  </a:cubicBezTo>
                  <a:cubicBezTo>
                    <a:pt x="1041400" y="808228"/>
                    <a:pt x="808228" y="1041400"/>
                    <a:pt x="520700" y="1041400"/>
                  </a:cubicBezTo>
                  <a:cubicBezTo>
                    <a:pt x="233172" y="1041400"/>
                    <a:pt x="0" y="808228"/>
                    <a:pt x="0" y="520700"/>
                  </a:cubicBezTo>
                  <a:close/>
                </a:path>
              </a:pathLst>
            </a:custGeom>
            <a:solidFill>
              <a:srgbClr val="0B3C5D"/>
            </a:solidFill>
            <a:ln w="95250" cap="sq">
              <a:solidFill>
                <a:srgbClr val="D64545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3C5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Apa itu BPMN?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185035"/>
            <a:ext cx="5231130" cy="5231130"/>
            <a:chOff x="0" y="0"/>
            <a:chExt cx="6974840" cy="69748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74840" cy="6974840"/>
            </a:xfrm>
            <a:custGeom>
              <a:avLst/>
              <a:gdLst/>
              <a:ahLst/>
              <a:cxnLst/>
              <a:rect r="r" b="b" t="t" l="l"/>
              <a:pathLst>
                <a:path h="6974840" w="69748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791325" y="0"/>
                  </a:lnTo>
                  <a:cubicBezTo>
                    <a:pt x="6892671" y="0"/>
                    <a:pt x="6974840" y="82169"/>
                    <a:pt x="6974840" y="183515"/>
                  </a:cubicBezTo>
                  <a:lnTo>
                    <a:pt x="6974840" y="6791325"/>
                  </a:lnTo>
                  <a:cubicBezTo>
                    <a:pt x="6974840" y="6892671"/>
                    <a:pt x="6892671" y="6974840"/>
                    <a:pt x="6791325" y="6974840"/>
                  </a:cubicBezTo>
                  <a:lnTo>
                    <a:pt x="183515" y="6974840"/>
                  </a:lnTo>
                  <a:cubicBezTo>
                    <a:pt x="82169" y="6974840"/>
                    <a:pt x="0" y="6892671"/>
                    <a:pt x="0" y="6791325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418749" y="2858929"/>
            <a:ext cx="865823" cy="865823"/>
            <a:chOff x="0" y="0"/>
            <a:chExt cx="1154430" cy="11544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54430" cy="1154430"/>
            </a:xfrm>
            <a:custGeom>
              <a:avLst/>
              <a:gdLst/>
              <a:ahLst/>
              <a:cxnLst/>
              <a:rect r="r" b="b" t="t" l="l"/>
              <a:pathLst>
                <a:path h="1154430" w="1154430">
                  <a:moveTo>
                    <a:pt x="0" y="577215"/>
                  </a:moveTo>
                  <a:cubicBezTo>
                    <a:pt x="0" y="258445"/>
                    <a:pt x="258445" y="0"/>
                    <a:pt x="577215" y="0"/>
                  </a:cubicBezTo>
                  <a:cubicBezTo>
                    <a:pt x="895985" y="0"/>
                    <a:pt x="1154430" y="258445"/>
                    <a:pt x="1154430" y="577215"/>
                  </a:cubicBezTo>
                  <a:cubicBezTo>
                    <a:pt x="1154430" y="895985"/>
                    <a:pt x="895985" y="1154430"/>
                    <a:pt x="577215" y="1154430"/>
                  </a:cubicBezTo>
                  <a:cubicBezTo>
                    <a:pt x="258445" y="1154430"/>
                    <a:pt x="0" y="895985"/>
                    <a:pt x="0" y="577215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2E9E6B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303020" y="4253865"/>
            <a:ext cx="425196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Standar terbuka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3020" y="5095875"/>
            <a:ext cx="4251960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Dikelola oleh Object Management Group (OMG) dan ditetapkan sebagai standar ISO/IEC 19510.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05575" y="2185035"/>
            <a:ext cx="5231130" cy="5231130"/>
            <a:chOff x="0" y="0"/>
            <a:chExt cx="6974840" cy="6974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74840" cy="6974840"/>
            </a:xfrm>
            <a:custGeom>
              <a:avLst/>
              <a:gdLst/>
              <a:ahLst/>
              <a:cxnLst/>
              <a:rect r="r" b="b" t="t" l="l"/>
              <a:pathLst>
                <a:path h="6974840" w="69748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791325" y="0"/>
                  </a:lnTo>
                  <a:cubicBezTo>
                    <a:pt x="6892671" y="0"/>
                    <a:pt x="6974840" y="82169"/>
                    <a:pt x="6974840" y="183515"/>
                  </a:cubicBezTo>
                  <a:lnTo>
                    <a:pt x="6974840" y="6791325"/>
                  </a:lnTo>
                  <a:cubicBezTo>
                    <a:pt x="6974840" y="6892671"/>
                    <a:pt x="6892671" y="6974840"/>
                    <a:pt x="6791325" y="6974840"/>
                  </a:cubicBezTo>
                  <a:lnTo>
                    <a:pt x="183515" y="6974840"/>
                  </a:lnTo>
                  <a:cubicBezTo>
                    <a:pt x="82169" y="6974840"/>
                    <a:pt x="0" y="6892671"/>
                    <a:pt x="0" y="6791325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6976110" y="2888742"/>
            <a:ext cx="1272540" cy="806196"/>
            <a:chOff x="0" y="0"/>
            <a:chExt cx="1696720" cy="10749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96720" cy="1074928"/>
            </a:xfrm>
            <a:custGeom>
              <a:avLst/>
              <a:gdLst/>
              <a:ahLst/>
              <a:cxnLst/>
              <a:rect r="r" b="b" t="t" l="l"/>
              <a:pathLst>
                <a:path h="1074928" w="1696720">
                  <a:moveTo>
                    <a:pt x="0" y="153543"/>
                  </a:moveTo>
                  <a:cubicBezTo>
                    <a:pt x="0" y="68707"/>
                    <a:pt x="68707" y="0"/>
                    <a:pt x="153543" y="0"/>
                  </a:cubicBezTo>
                  <a:lnTo>
                    <a:pt x="1543177" y="0"/>
                  </a:lnTo>
                  <a:cubicBezTo>
                    <a:pt x="1628013" y="0"/>
                    <a:pt x="1696720" y="68707"/>
                    <a:pt x="1696720" y="153543"/>
                  </a:cubicBezTo>
                  <a:lnTo>
                    <a:pt x="1696720" y="921385"/>
                  </a:lnTo>
                  <a:cubicBezTo>
                    <a:pt x="1696720" y="1006221"/>
                    <a:pt x="1628013" y="1074928"/>
                    <a:pt x="1543177" y="1074928"/>
                  </a:cubicBezTo>
                  <a:lnTo>
                    <a:pt x="153543" y="1074928"/>
                  </a:lnTo>
                  <a:cubicBezTo>
                    <a:pt x="68707" y="1074928"/>
                    <a:pt x="0" y="1006221"/>
                    <a:pt x="0" y="921385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B3C5D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6995160" y="4253865"/>
            <a:ext cx="425196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Bahasa visual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95160" y="5095875"/>
            <a:ext cx="4251960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Proses digambarkan dengan simbol grafis yang mudah dibaca oleh pihak bisnis maupun teknis.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197715" y="2185035"/>
            <a:ext cx="5231130" cy="5231130"/>
            <a:chOff x="0" y="0"/>
            <a:chExt cx="6974840" cy="6974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74840" cy="6974840"/>
            </a:xfrm>
            <a:custGeom>
              <a:avLst/>
              <a:gdLst/>
              <a:ahLst/>
              <a:cxnLst/>
              <a:rect r="r" b="b" t="t" l="l"/>
              <a:pathLst>
                <a:path h="6974840" w="69748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791325" y="0"/>
                  </a:lnTo>
                  <a:cubicBezTo>
                    <a:pt x="6892671" y="0"/>
                    <a:pt x="6974840" y="82169"/>
                    <a:pt x="6974840" y="183515"/>
                  </a:cubicBezTo>
                  <a:lnTo>
                    <a:pt x="6974840" y="6791325"/>
                  </a:lnTo>
                  <a:cubicBezTo>
                    <a:pt x="6974840" y="6892671"/>
                    <a:pt x="6892671" y="6974840"/>
                    <a:pt x="6791325" y="6974840"/>
                  </a:cubicBezTo>
                  <a:lnTo>
                    <a:pt x="183515" y="6974840"/>
                  </a:lnTo>
                  <a:cubicBezTo>
                    <a:pt x="82169" y="6974840"/>
                    <a:pt x="0" y="6892671"/>
                    <a:pt x="0" y="6791325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734449" y="2790349"/>
            <a:ext cx="1002982" cy="1002982"/>
            <a:chOff x="0" y="0"/>
            <a:chExt cx="1337310" cy="13373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37310" cy="1337310"/>
            </a:xfrm>
            <a:custGeom>
              <a:avLst/>
              <a:gdLst/>
              <a:ahLst/>
              <a:cxnLst/>
              <a:rect r="r" b="b" t="t" l="l"/>
              <a:pathLst>
                <a:path h="1337310" w="1337310">
                  <a:moveTo>
                    <a:pt x="0" y="668655"/>
                  </a:moveTo>
                  <a:lnTo>
                    <a:pt x="668655" y="0"/>
                  </a:lnTo>
                  <a:lnTo>
                    <a:pt x="1337310" y="668655"/>
                  </a:lnTo>
                  <a:lnTo>
                    <a:pt x="668655" y="1337310"/>
                  </a:ln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1C7293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337310" cy="13944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687300" y="4253865"/>
            <a:ext cx="425196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Satu bahasa bersama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87300" y="5095875"/>
            <a:ext cx="4251960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Analis, manajer, dan developer memakai diagram yang sama untuk berdiskusi tentang proses.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22960" y="7818120"/>
            <a:ext cx="16596360" cy="1165860"/>
            <a:chOff x="0" y="0"/>
            <a:chExt cx="22128480" cy="155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945600" y="0"/>
                  </a:lnTo>
                  <a:cubicBezTo>
                    <a:pt x="22046564" y="0"/>
                    <a:pt x="22128480" y="81915"/>
                    <a:pt x="22128480" y="182880"/>
                  </a:cubicBezTo>
                  <a:lnTo>
                    <a:pt x="22128480" y="1371600"/>
                  </a:lnTo>
                  <a:cubicBezTo>
                    <a:pt x="22128480" y="1472565"/>
                    <a:pt x="22046564" y="1554480"/>
                    <a:pt x="21945600" y="1554480"/>
                  </a:cubicBezTo>
                  <a:lnTo>
                    <a:pt x="182880" y="1554480"/>
                  </a:lnTo>
                  <a:cubicBezTo>
                    <a:pt x="81915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0B3C5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2128480" cy="1592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BPMN = Business Process Model and Notation: notasi grafis untuk memodelkan proses dari awal hingga akhir.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696212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B6B7B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3C5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Elemen 1: Event (Peristiwa)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185035"/>
            <a:ext cx="5231130" cy="5368290"/>
            <a:chOff x="0" y="0"/>
            <a:chExt cx="6974840" cy="7157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74840" cy="7157720"/>
            </a:xfrm>
            <a:custGeom>
              <a:avLst/>
              <a:gdLst/>
              <a:ahLst/>
              <a:cxnLst/>
              <a:rect r="r" b="b" t="t" l="l"/>
              <a:pathLst>
                <a:path h="7157720" w="69748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791325" y="0"/>
                  </a:lnTo>
                  <a:cubicBezTo>
                    <a:pt x="6892671" y="0"/>
                    <a:pt x="6974840" y="82169"/>
                    <a:pt x="6974840" y="183515"/>
                  </a:cubicBezTo>
                  <a:lnTo>
                    <a:pt x="6974840" y="6974205"/>
                  </a:lnTo>
                  <a:cubicBezTo>
                    <a:pt x="6974840" y="7075551"/>
                    <a:pt x="6892671" y="7157720"/>
                    <a:pt x="6791325" y="7157720"/>
                  </a:cubicBezTo>
                  <a:lnTo>
                    <a:pt x="183515" y="7157720"/>
                  </a:lnTo>
                  <a:cubicBezTo>
                    <a:pt x="82169" y="7157720"/>
                    <a:pt x="0" y="7075551"/>
                    <a:pt x="0" y="6974205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790349" y="2858929"/>
            <a:ext cx="1277302" cy="1277302"/>
            <a:chOff x="0" y="0"/>
            <a:chExt cx="1703070" cy="17030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3070" cy="1703070"/>
            </a:xfrm>
            <a:custGeom>
              <a:avLst/>
              <a:gdLst/>
              <a:ahLst/>
              <a:cxnLst/>
              <a:rect r="r" b="b" t="t" l="l"/>
              <a:pathLst>
                <a:path h="1703070" w="1703070">
                  <a:moveTo>
                    <a:pt x="0" y="851535"/>
                  </a:moveTo>
                  <a:cubicBezTo>
                    <a:pt x="0" y="381254"/>
                    <a:pt x="381254" y="0"/>
                    <a:pt x="851535" y="0"/>
                  </a:cubicBezTo>
                  <a:cubicBezTo>
                    <a:pt x="1321816" y="0"/>
                    <a:pt x="1703070" y="381254"/>
                    <a:pt x="1703070" y="851535"/>
                  </a:cubicBezTo>
                  <a:cubicBezTo>
                    <a:pt x="1703070" y="1321816"/>
                    <a:pt x="1321816" y="1703070"/>
                    <a:pt x="851535" y="1703070"/>
                  </a:cubicBezTo>
                  <a:cubicBezTo>
                    <a:pt x="381254" y="1703070"/>
                    <a:pt x="0" y="1321816"/>
                    <a:pt x="0" y="851535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2E9E6B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303020" y="4596765"/>
            <a:ext cx="425196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Start Event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3020" y="5370195"/>
            <a:ext cx="4251960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Titik awal proses. Lingkaran bergaris tipis, tanpa alur masuk. Contoh: pelanggan mengirim pesanan.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05575" y="2185035"/>
            <a:ext cx="5231130" cy="5368290"/>
            <a:chOff x="0" y="0"/>
            <a:chExt cx="6974840" cy="71577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74840" cy="7157720"/>
            </a:xfrm>
            <a:custGeom>
              <a:avLst/>
              <a:gdLst/>
              <a:ahLst/>
              <a:cxnLst/>
              <a:rect r="r" b="b" t="t" l="l"/>
              <a:pathLst>
                <a:path h="7157720" w="69748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791325" y="0"/>
                  </a:lnTo>
                  <a:cubicBezTo>
                    <a:pt x="6892671" y="0"/>
                    <a:pt x="6974840" y="82169"/>
                    <a:pt x="6974840" y="183515"/>
                  </a:cubicBezTo>
                  <a:lnTo>
                    <a:pt x="6974840" y="6974205"/>
                  </a:lnTo>
                  <a:cubicBezTo>
                    <a:pt x="6974840" y="7075551"/>
                    <a:pt x="6892671" y="7157720"/>
                    <a:pt x="6791325" y="7157720"/>
                  </a:cubicBezTo>
                  <a:lnTo>
                    <a:pt x="183515" y="7157720"/>
                  </a:lnTo>
                  <a:cubicBezTo>
                    <a:pt x="82169" y="7157720"/>
                    <a:pt x="0" y="7075551"/>
                    <a:pt x="0" y="6974205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482489" y="2858929"/>
            <a:ext cx="1277302" cy="1277302"/>
            <a:chOff x="0" y="0"/>
            <a:chExt cx="1703070" cy="17030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3070" cy="1703070"/>
            </a:xfrm>
            <a:custGeom>
              <a:avLst/>
              <a:gdLst/>
              <a:ahLst/>
              <a:cxnLst/>
              <a:rect r="r" b="b" t="t" l="l"/>
              <a:pathLst>
                <a:path h="1703070" w="1703070">
                  <a:moveTo>
                    <a:pt x="0" y="851535"/>
                  </a:moveTo>
                  <a:cubicBezTo>
                    <a:pt x="0" y="381254"/>
                    <a:pt x="381254" y="0"/>
                    <a:pt x="851535" y="0"/>
                  </a:cubicBezTo>
                  <a:cubicBezTo>
                    <a:pt x="1321816" y="0"/>
                    <a:pt x="1703070" y="381254"/>
                    <a:pt x="1703070" y="851535"/>
                  </a:cubicBezTo>
                  <a:cubicBezTo>
                    <a:pt x="1703070" y="1321816"/>
                    <a:pt x="1321816" y="1703070"/>
                    <a:pt x="851535" y="1703070"/>
                  </a:cubicBezTo>
                  <a:cubicBezTo>
                    <a:pt x="381254" y="1703070"/>
                    <a:pt x="0" y="1321816"/>
                    <a:pt x="0" y="851535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E58F2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619649" y="2996089"/>
            <a:ext cx="1002982" cy="1002982"/>
            <a:chOff x="0" y="0"/>
            <a:chExt cx="1337310" cy="13373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37310" cy="1337310"/>
            </a:xfrm>
            <a:custGeom>
              <a:avLst/>
              <a:gdLst/>
              <a:ahLst/>
              <a:cxnLst/>
              <a:rect r="r" b="b" t="t" l="l"/>
              <a:pathLst>
                <a:path h="1337310" w="1337310">
                  <a:moveTo>
                    <a:pt x="0" y="668655"/>
                  </a:moveTo>
                  <a:cubicBezTo>
                    <a:pt x="0" y="299339"/>
                    <a:pt x="299339" y="0"/>
                    <a:pt x="668655" y="0"/>
                  </a:cubicBezTo>
                  <a:cubicBezTo>
                    <a:pt x="1037971" y="0"/>
                    <a:pt x="1337310" y="299339"/>
                    <a:pt x="1337310" y="668655"/>
                  </a:cubicBezTo>
                  <a:cubicBezTo>
                    <a:pt x="1337310" y="1037971"/>
                    <a:pt x="1037971" y="1337310"/>
                    <a:pt x="668655" y="1337310"/>
                  </a:cubicBezTo>
                  <a:cubicBezTo>
                    <a:pt x="299339" y="1337310"/>
                    <a:pt x="0" y="1037971"/>
                    <a:pt x="0" y="668655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E58F2A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6995160" y="4596765"/>
            <a:ext cx="425196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Intermediate Event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95160" y="5370195"/>
            <a:ext cx="4251960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Kejadian di tengah proses, misalnya menunggu pesan atau batas waktu. Lingkaran bergaris ganda.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97715" y="2185035"/>
            <a:ext cx="5231130" cy="5368290"/>
            <a:chOff x="0" y="0"/>
            <a:chExt cx="6974840" cy="7157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74840" cy="7157720"/>
            </a:xfrm>
            <a:custGeom>
              <a:avLst/>
              <a:gdLst/>
              <a:ahLst/>
              <a:cxnLst/>
              <a:rect r="r" b="b" t="t" l="l"/>
              <a:pathLst>
                <a:path h="7157720" w="69748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791325" y="0"/>
                  </a:lnTo>
                  <a:cubicBezTo>
                    <a:pt x="6892671" y="0"/>
                    <a:pt x="6974840" y="82169"/>
                    <a:pt x="6974840" y="183515"/>
                  </a:cubicBezTo>
                  <a:lnTo>
                    <a:pt x="6974840" y="6974205"/>
                  </a:lnTo>
                  <a:cubicBezTo>
                    <a:pt x="6974840" y="7075551"/>
                    <a:pt x="6892671" y="7157720"/>
                    <a:pt x="6791325" y="7157720"/>
                  </a:cubicBezTo>
                  <a:lnTo>
                    <a:pt x="183515" y="7157720"/>
                  </a:lnTo>
                  <a:cubicBezTo>
                    <a:pt x="82169" y="7157720"/>
                    <a:pt x="0" y="7075551"/>
                    <a:pt x="0" y="6974205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4148435" y="2832735"/>
            <a:ext cx="1329690" cy="1329690"/>
            <a:chOff x="0" y="0"/>
            <a:chExt cx="1772920" cy="1772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72920" cy="1772920"/>
            </a:xfrm>
            <a:custGeom>
              <a:avLst/>
              <a:gdLst/>
              <a:ahLst/>
              <a:cxnLst/>
              <a:rect r="r" b="b" t="t" l="l"/>
              <a:pathLst>
                <a:path h="1772920" w="1772920">
                  <a:moveTo>
                    <a:pt x="0" y="886460"/>
                  </a:moveTo>
                  <a:cubicBezTo>
                    <a:pt x="0" y="396875"/>
                    <a:pt x="396875" y="0"/>
                    <a:pt x="886460" y="0"/>
                  </a:cubicBezTo>
                  <a:cubicBezTo>
                    <a:pt x="1376045" y="0"/>
                    <a:pt x="1772920" y="396875"/>
                    <a:pt x="1772920" y="886460"/>
                  </a:cubicBezTo>
                  <a:cubicBezTo>
                    <a:pt x="1772920" y="1376045"/>
                    <a:pt x="1376045" y="1772920"/>
                    <a:pt x="886460" y="1772920"/>
                  </a:cubicBezTo>
                  <a:cubicBezTo>
                    <a:pt x="396875" y="1772920"/>
                    <a:pt x="0" y="1376045"/>
                    <a:pt x="0" y="88646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D64545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687300" y="4596765"/>
            <a:ext cx="425196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End Event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87300" y="5370195"/>
            <a:ext cx="4251960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Titik akhir proses. Lingkaran bergaris tebal, tanpa alur keluar. Contoh: pesanan selesai dikirim.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22960" y="7955280"/>
            <a:ext cx="16596360" cy="1165860"/>
            <a:chOff x="0" y="0"/>
            <a:chExt cx="22128480" cy="1554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945600" y="0"/>
                  </a:lnTo>
                  <a:cubicBezTo>
                    <a:pt x="22046564" y="0"/>
                    <a:pt x="22128480" y="81915"/>
                    <a:pt x="22128480" y="182880"/>
                  </a:cubicBezTo>
                  <a:lnTo>
                    <a:pt x="22128480" y="1371600"/>
                  </a:lnTo>
                  <a:cubicBezTo>
                    <a:pt x="22128480" y="1472565"/>
                    <a:pt x="22046564" y="1554480"/>
                    <a:pt x="21945600" y="1554480"/>
                  </a:cubicBezTo>
                  <a:lnTo>
                    <a:pt x="182880" y="1554480"/>
                  </a:lnTo>
                  <a:cubicBezTo>
                    <a:pt x="81915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0B3C5D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2128480" cy="1592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Event bisa memiliki pemicu (pesan, waktu, error) yang ditandai ikon di dalam lingkaran.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696212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B6B7B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3C5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Elemen 2: Activity (Aktivitas)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185035"/>
            <a:ext cx="8111490" cy="5368290"/>
            <a:chOff x="0" y="0"/>
            <a:chExt cx="10815320" cy="7157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15320" cy="7157720"/>
            </a:xfrm>
            <a:custGeom>
              <a:avLst/>
              <a:gdLst/>
              <a:ahLst/>
              <a:cxnLst/>
              <a:rect r="r" b="b" t="t" l="l"/>
              <a:pathLst>
                <a:path h="7157720" w="108153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631805" y="0"/>
                  </a:lnTo>
                  <a:cubicBezTo>
                    <a:pt x="10733151" y="0"/>
                    <a:pt x="10815320" y="82169"/>
                    <a:pt x="10815320" y="183515"/>
                  </a:cubicBezTo>
                  <a:lnTo>
                    <a:pt x="10815320" y="6974205"/>
                  </a:lnTo>
                  <a:cubicBezTo>
                    <a:pt x="10815320" y="7075551"/>
                    <a:pt x="10733151" y="7157720"/>
                    <a:pt x="10631805" y="7157720"/>
                  </a:cubicBezTo>
                  <a:lnTo>
                    <a:pt x="183515" y="7157720"/>
                  </a:lnTo>
                  <a:cubicBezTo>
                    <a:pt x="82169" y="7157720"/>
                    <a:pt x="0" y="7075551"/>
                    <a:pt x="0" y="6974205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3338989" y="2653189"/>
            <a:ext cx="3060383" cy="1688783"/>
            <a:chOff x="0" y="0"/>
            <a:chExt cx="4080510" cy="22517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80510" cy="2251710"/>
            </a:xfrm>
            <a:custGeom>
              <a:avLst/>
              <a:gdLst/>
              <a:ahLst/>
              <a:cxnLst/>
              <a:rect r="r" b="b" t="t" l="l"/>
              <a:pathLst>
                <a:path h="2251710" w="4080510">
                  <a:moveTo>
                    <a:pt x="0" y="225171"/>
                  </a:moveTo>
                  <a:cubicBezTo>
                    <a:pt x="0" y="100838"/>
                    <a:pt x="100838" y="0"/>
                    <a:pt x="225171" y="0"/>
                  </a:cubicBezTo>
                  <a:lnTo>
                    <a:pt x="3855339" y="0"/>
                  </a:lnTo>
                  <a:cubicBezTo>
                    <a:pt x="3979672" y="0"/>
                    <a:pt x="4080510" y="100838"/>
                    <a:pt x="4080510" y="225171"/>
                  </a:cubicBezTo>
                  <a:lnTo>
                    <a:pt x="4080510" y="2026539"/>
                  </a:lnTo>
                  <a:cubicBezTo>
                    <a:pt x="4080510" y="2150872"/>
                    <a:pt x="3979672" y="2251710"/>
                    <a:pt x="3855339" y="2251710"/>
                  </a:cubicBezTo>
                  <a:lnTo>
                    <a:pt x="225171" y="2251710"/>
                  </a:lnTo>
                  <a:cubicBezTo>
                    <a:pt x="100838" y="2251710"/>
                    <a:pt x="0" y="2150872"/>
                    <a:pt x="0" y="2026539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0B3C5D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80510" cy="2289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1B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Task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71600" y="4596765"/>
            <a:ext cx="699516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Task: pekerjaan tunggal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1600" y="5370195"/>
            <a:ext cx="6995160" cy="196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Satu langkah kerja yang tidak dipecah lagi, seperti “Periksa stok barang”. Bentuknya persegi panjang bersudut membulat.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17355" y="2185035"/>
            <a:ext cx="8111490" cy="5368290"/>
            <a:chOff x="0" y="0"/>
            <a:chExt cx="10815320" cy="7157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15320" cy="7157720"/>
            </a:xfrm>
            <a:custGeom>
              <a:avLst/>
              <a:gdLst/>
              <a:ahLst/>
              <a:cxnLst/>
              <a:rect r="r" b="b" t="t" l="l"/>
              <a:pathLst>
                <a:path h="7157720" w="1081532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10631805" y="0"/>
                  </a:lnTo>
                  <a:cubicBezTo>
                    <a:pt x="10733151" y="0"/>
                    <a:pt x="10815320" y="82169"/>
                    <a:pt x="10815320" y="183515"/>
                  </a:cubicBezTo>
                  <a:lnTo>
                    <a:pt x="10815320" y="6974205"/>
                  </a:lnTo>
                  <a:cubicBezTo>
                    <a:pt x="10815320" y="7075551"/>
                    <a:pt x="10733151" y="7157720"/>
                    <a:pt x="10631805" y="7157720"/>
                  </a:cubicBezTo>
                  <a:lnTo>
                    <a:pt x="183515" y="7157720"/>
                  </a:lnTo>
                  <a:cubicBezTo>
                    <a:pt x="82169" y="7157720"/>
                    <a:pt x="0" y="7075551"/>
                    <a:pt x="0" y="6974205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842909" y="2653189"/>
            <a:ext cx="3060383" cy="1688783"/>
            <a:chOff x="0" y="0"/>
            <a:chExt cx="4080510" cy="225171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80510" cy="2251710"/>
            </a:xfrm>
            <a:custGeom>
              <a:avLst/>
              <a:gdLst/>
              <a:ahLst/>
              <a:cxnLst/>
              <a:rect r="r" b="b" t="t" l="l"/>
              <a:pathLst>
                <a:path h="2251710" w="4080510">
                  <a:moveTo>
                    <a:pt x="0" y="225171"/>
                  </a:moveTo>
                  <a:cubicBezTo>
                    <a:pt x="0" y="100838"/>
                    <a:pt x="100838" y="0"/>
                    <a:pt x="225171" y="0"/>
                  </a:cubicBezTo>
                  <a:lnTo>
                    <a:pt x="3855339" y="0"/>
                  </a:lnTo>
                  <a:cubicBezTo>
                    <a:pt x="3979672" y="0"/>
                    <a:pt x="4080510" y="100838"/>
                    <a:pt x="4080510" y="225171"/>
                  </a:cubicBezTo>
                  <a:lnTo>
                    <a:pt x="4080510" y="2026539"/>
                  </a:lnTo>
                  <a:cubicBezTo>
                    <a:pt x="4080510" y="2150872"/>
                    <a:pt x="3979672" y="2251710"/>
                    <a:pt x="3855339" y="2251710"/>
                  </a:cubicBezTo>
                  <a:lnTo>
                    <a:pt x="225171" y="2251710"/>
                  </a:lnTo>
                  <a:cubicBezTo>
                    <a:pt x="100838" y="2251710"/>
                    <a:pt x="0" y="2150872"/>
                    <a:pt x="0" y="2026539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0B3C5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80510" cy="2289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1B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Sub-Process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153073" y="3894772"/>
            <a:ext cx="440055" cy="440055"/>
            <a:chOff x="0" y="0"/>
            <a:chExt cx="586740" cy="586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6740" cy="586740"/>
            </a:xfrm>
            <a:custGeom>
              <a:avLst/>
              <a:gdLst/>
              <a:ahLst/>
              <a:cxnLst/>
              <a:rect r="r" b="b" t="t" l="l"/>
              <a:pathLst>
                <a:path h="586740" w="586740">
                  <a:moveTo>
                    <a:pt x="0" y="0"/>
                  </a:moveTo>
                  <a:lnTo>
                    <a:pt x="586740" y="0"/>
                  </a:lnTo>
                  <a:lnTo>
                    <a:pt x="586740" y="586740"/>
                  </a:lnTo>
                  <a:lnTo>
                    <a:pt x="0" y="586740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B3C5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86740" cy="6343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875520" y="4596765"/>
            <a:ext cx="699516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Sub-Process: kumpulan pekerjaan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75520" y="5370195"/>
            <a:ext cx="6995160" cy="196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Langkah yang berisi alur proses lain di dalamnya. Tanda [+] berarti rinciannya bisa dibuka pada diagram terpisah.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22960" y="7955280"/>
            <a:ext cx="16596360" cy="1165860"/>
            <a:chOff x="0" y="0"/>
            <a:chExt cx="22128480" cy="1554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945600" y="0"/>
                  </a:lnTo>
                  <a:cubicBezTo>
                    <a:pt x="22046564" y="0"/>
                    <a:pt x="22128480" y="81915"/>
                    <a:pt x="22128480" y="182880"/>
                  </a:cubicBezTo>
                  <a:lnTo>
                    <a:pt x="22128480" y="1371600"/>
                  </a:lnTo>
                  <a:cubicBezTo>
                    <a:pt x="22128480" y="1472565"/>
                    <a:pt x="22046564" y="1554480"/>
                    <a:pt x="21945600" y="1554480"/>
                  </a:cubicBezTo>
                  <a:lnTo>
                    <a:pt x="182880" y="1554480"/>
                  </a:lnTo>
                  <a:cubicBezTo>
                    <a:pt x="81915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0B3C5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128480" cy="1592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Penamaan task: gunakan kata kerja + objek, misalnya “Verifikasi data pelanggan”.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96212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B6B7B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3C5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Elemen 3: Gateway (Percabangan)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185035"/>
            <a:ext cx="5231130" cy="5368290"/>
            <a:chOff x="0" y="0"/>
            <a:chExt cx="6974840" cy="71577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74840" cy="7157720"/>
            </a:xfrm>
            <a:custGeom>
              <a:avLst/>
              <a:gdLst/>
              <a:ahLst/>
              <a:cxnLst/>
              <a:rect r="r" b="b" t="t" l="l"/>
              <a:pathLst>
                <a:path h="7157720" w="69748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791325" y="0"/>
                  </a:lnTo>
                  <a:cubicBezTo>
                    <a:pt x="6892671" y="0"/>
                    <a:pt x="6974840" y="82169"/>
                    <a:pt x="6974840" y="183515"/>
                  </a:cubicBezTo>
                  <a:lnTo>
                    <a:pt x="6974840" y="6974205"/>
                  </a:lnTo>
                  <a:cubicBezTo>
                    <a:pt x="6974840" y="7075551"/>
                    <a:pt x="6892671" y="7157720"/>
                    <a:pt x="6791325" y="7157720"/>
                  </a:cubicBezTo>
                  <a:lnTo>
                    <a:pt x="183515" y="7157720"/>
                  </a:lnTo>
                  <a:cubicBezTo>
                    <a:pt x="82169" y="7157720"/>
                    <a:pt x="0" y="7075551"/>
                    <a:pt x="0" y="6974205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2653189" y="2790349"/>
            <a:ext cx="1551623" cy="1551623"/>
            <a:chOff x="0" y="0"/>
            <a:chExt cx="2068830" cy="20688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68830" cy="2068830"/>
            </a:xfrm>
            <a:custGeom>
              <a:avLst/>
              <a:gdLst/>
              <a:ahLst/>
              <a:cxnLst/>
              <a:rect r="r" b="b" t="t" l="l"/>
              <a:pathLst>
                <a:path h="2068830" w="2068830">
                  <a:moveTo>
                    <a:pt x="0" y="1034415"/>
                  </a:moveTo>
                  <a:lnTo>
                    <a:pt x="1034415" y="0"/>
                  </a:lnTo>
                  <a:lnTo>
                    <a:pt x="2068830" y="1034415"/>
                  </a:lnTo>
                  <a:lnTo>
                    <a:pt x="1034415" y="2068830"/>
                  </a:ln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1C7293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2068830" cy="2145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303020" y="4665345"/>
            <a:ext cx="425196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Exclusive (XOR)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3020" y="5438775"/>
            <a:ext cx="4251960" cy="196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Memilih tepat satu jalur berdasarkan kondisi. Contoh: disetujui atau ditolak.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05575" y="2185035"/>
            <a:ext cx="5231130" cy="5368290"/>
            <a:chOff x="0" y="0"/>
            <a:chExt cx="6974840" cy="7157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74840" cy="7157720"/>
            </a:xfrm>
            <a:custGeom>
              <a:avLst/>
              <a:gdLst/>
              <a:ahLst/>
              <a:cxnLst/>
              <a:rect r="r" b="b" t="t" l="l"/>
              <a:pathLst>
                <a:path h="7157720" w="69748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791325" y="0"/>
                  </a:lnTo>
                  <a:cubicBezTo>
                    <a:pt x="6892671" y="0"/>
                    <a:pt x="6974840" y="82169"/>
                    <a:pt x="6974840" y="183515"/>
                  </a:cubicBezTo>
                  <a:lnTo>
                    <a:pt x="6974840" y="6974205"/>
                  </a:lnTo>
                  <a:cubicBezTo>
                    <a:pt x="6974840" y="7075551"/>
                    <a:pt x="6892671" y="7157720"/>
                    <a:pt x="6791325" y="7157720"/>
                  </a:cubicBezTo>
                  <a:lnTo>
                    <a:pt x="183515" y="7157720"/>
                  </a:lnTo>
                  <a:cubicBezTo>
                    <a:pt x="82169" y="7157720"/>
                    <a:pt x="0" y="7075551"/>
                    <a:pt x="0" y="6974205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345329" y="2790349"/>
            <a:ext cx="1551623" cy="1551623"/>
            <a:chOff x="0" y="0"/>
            <a:chExt cx="2068830" cy="20688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8830" cy="2068830"/>
            </a:xfrm>
            <a:custGeom>
              <a:avLst/>
              <a:gdLst/>
              <a:ahLst/>
              <a:cxnLst/>
              <a:rect r="r" b="b" t="t" l="l"/>
              <a:pathLst>
                <a:path h="2068830" w="2068830">
                  <a:moveTo>
                    <a:pt x="0" y="1034415"/>
                  </a:moveTo>
                  <a:lnTo>
                    <a:pt x="1034415" y="0"/>
                  </a:lnTo>
                  <a:lnTo>
                    <a:pt x="2068830" y="1034415"/>
                  </a:lnTo>
                  <a:lnTo>
                    <a:pt x="1034415" y="2068830"/>
                  </a:ln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1C7293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2068830" cy="2145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995160" y="4665345"/>
            <a:ext cx="425196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Parallel (AND)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95160" y="5438775"/>
            <a:ext cx="4251960" cy="196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Menjalankan semua jalur sekaligus, atau menunggu semua selesai. Contoh: kemas barang dan buat faktur.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97715" y="2185035"/>
            <a:ext cx="5231130" cy="5368290"/>
            <a:chOff x="0" y="0"/>
            <a:chExt cx="6974840" cy="7157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74840" cy="7157720"/>
            </a:xfrm>
            <a:custGeom>
              <a:avLst/>
              <a:gdLst/>
              <a:ahLst/>
              <a:cxnLst/>
              <a:rect r="r" b="b" t="t" l="l"/>
              <a:pathLst>
                <a:path h="7157720" w="6974840">
                  <a:moveTo>
                    <a:pt x="0" y="183515"/>
                  </a:moveTo>
                  <a:cubicBezTo>
                    <a:pt x="0" y="82169"/>
                    <a:pt x="82169" y="0"/>
                    <a:pt x="183515" y="0"/>
                  </a:cubicBezTo>
                  <a:lnTo>
                    <a:pt x="6791325" y="0"/>
                  </a:lnTo>
                  <a:cubicBezTo>
                    <a:pt x="6892671" y="0"/>
                    <a:pt x="6974840" y="82169"/>
                    <a:pt x="6974840" y="183515"/>
                  </a:cubicBezTo>
                  <a:lnTo>
                    <a:pt x="6974840" y="6974205"/>
                  </a:lnTo>
                  <a:cubicBezTo>
                    <a:pt x="6974840" y="7075551"/>
                    <a:pt x="6892671" y="7157720"/>
                    <a:pt x="6791325" y="7157720"/>
                  </a:cubicBezTo>
                  <a:lnTo>
                    <a:pt x="183515" y="7157720"/>
                  </a:lnTo>
                  <a:cubicBezTo>
                    <a:pt x="82169" y="7157720"/>
                    <a:pt x="0" y="7075551"/>
                    <a:pt x="0" y="6974205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4037469" y="2790349"/>
            <a:ext cx="1551623" cy="1551623"/>
            <a:chOff x="0" y="0"/>
            <a:chExt cx="2068830" cy="20688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68830" cy="2068830"/>
            </a:xfrm>
            <a:custGeom>
              <a:avLst/>
              <a:gdLst/>
              <a:ahLst/>
              <a:cxnLst/>
              <a:rect r="r" b="b" t="t" l="l"/>
              <a:pathLst>
                <a:path h="2068830" w="2068830">
                  <a:moveTo>
                    <a:pt x="0" y="1034415"/>
                  </a:moveTo>
                  <a:lnTo>
                    <a:pt x="1034415" y="0"/>
                  </a:lnTo>
                  <a:lnTo>
                    <a:pt x="2068830" y="1034415"/>
                  </a:lnTo>
                  <a:lnTo>
                    <a:pt x="1034415" y="2068830"/>
                  </a:ln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4459922" y="3212802"/>
            <a:ext cx="706717" cy="706717"/>
            <a:chOff x="0" y="0"/>
            <a:chExt cx="942289" cy="94228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2340" cy="942340"/>
            </a:xfrm>
            <a:custGeom>
              <a:avLst/>
              <a:gdLst/>
              <a:ahLst/>
              <a:cxnLst/>
              <a:rect r="r" b="b" t="t" l="l"/>
              <a:pathLst>
                <a:path h="942340" w="942340">
                  <a:moveTo>
                    <a:pt x="0" y="471170"/>
                  </a:moveTo>
                  <a:cubicBezTo>
                    <a:pt x="0" y="210947"/>
                    <a:pt x="210947" y="0"/>
                    <a:pt x="471170" y="0"/>
                  </a:cubicBezTo>
                  <a:cubicBezTo>
                    <a:pt x="731393" y="0"/>
                    <a:pt x="942340" y="210947"/>
                    <a:pt x="942340" y="471170"/>
                  </a:cubicBezTo>
                  <a:cubicBezTo>
                    <a:pt x="942340" y="731393"/>
                    <a:pt x="731393" y="942340"/>
                    <a:pt x="471170" y="942340"/>
                  </a:cubicBezTo>
                  <a:cubicBezTo>
                    <a:pt x="210947" y="942340"/>
                    <a:pt x="0" y="731393"/>
                    <a:pt x="0" y="471170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1C7293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687300" y="4665345"/>
            <a:ext cx="425196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Inclusive (OR)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87300" y="5438775"/>
            <a:ext cx="4251960" cy="196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Mengaktifkan satu atau lebih jalur yang kondisinya terpenuhi.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7955280"/>
            <a:ext cx="16596360" cy="1165860"/>
            <a:chOff x="0" y="0"/>
            <a:chExt cx="22128480" cy="15544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945600" y="0"/>
                  </a:lnTo>
                  <a:cubicBezTo>
                    <a:pt x="22046564" y="0"/>
                    <a:pt x="22128480" y="81915"/>
                    <a:pt x="22128480" y="182880"/>
                  </a:cubicBezTo>
                  <a:lnTo>
                    <a:pt x="22128480" y="1371600"/>
                  </a:lnTo>
                  <a:cubicBezTo>
                    <a:pt x="22128480" y="1472565"/>
                    <a:pt x="22046564" y="1554480"/>
                    <a:pt x="21945600" y="1554480"/>
                  </a:cubicBezTo>
                  <a:lnTo>
                    <a:pt x="182880" y="1554480"/>
                  </a:lnTo>
                  <a:cubicBezTo>
                    <a:pt x="81915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0B3C5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2128480" cy="1592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Gateway tidak mengerjakan pekerjaan; ia hanya mengatur percabangan dan penggabungan alur.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696212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B6B7B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3C5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Elemen 4: Alur, Pool, dan Lane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322195"/>
            <a:ext cx="8522970" cy="1664970"/>
            <a:chOff x="0" y="0"/>
            <a:chExt cx="11363960" cy="2219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363960" cy="2219960"/>
            </a:xfrm>
            <a:custGeom>
              <a:avLst/>
              <a:gdLst/>
              <a:ahLst/>
              <a:cxnLst/>
              <a:rect r="r" b="b" t="t" l="l"/>
              <a:pathLst>
                <a:path h="2219960" w="11363960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11178921" y="0"/>
                  </a:lnTo>
                  <a:cubicBezTo>
                    <a:pt x="11281028" y="0"/>
                    <a:pt x="11363960" y="82804"/>
                    <a:pt x="11363960" y="185039"/>
                  </a:cubicBezTo>
                  <a:lnTo>
                    <a:pt x="11363960" y="2034921"/>
                  </a:lnTo>
                  <a:cubicBezTo>
                    <a:pt x="11363960" y="2137029"/>
                    <a:pt x="11281156" y="2219960"/>
                    <a:pt x="11178921" y="2219960"/>
                  </a:cubicBezTo>
                  <a:lnTo>
                    <a:pt x="185039" y="2219960"/>
                  </a:lnTo>
                  <a:cubicBezTo>
                    <a:pt x="82804" y="2219960"/>
                    <a:pt x="0" y="2137156"/>
                    <a:pt x="0" y="2034921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sp>
        <p:nvSpPr>
          <p:cNvPr name="AutoShape 7" id="7"/>
          <p:cNvSpPr/>
          <p:nvPr/>
        </p:nvSpPr>
        <p:spPr>
          <a:xfrm rot="62520">
            <a:off x="1215219" y="3145155"/>
            <a:ext cx="2095843" cy="0"/>
          </a:xfrm>
          <a:prstGeom prst="line">
            <a:avLst/>
          </a:prstGeom>
          <a:ln cap="rnd" w="19050">
            <a:solidFill>
              <a:srgbClr val="1B2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62520">
            <a:off x="1215219" y="3145155"/>
            <a:ext cx="2095843" cy="0"/>
          </a:xfrm>
          <a:prstGeom prst="line">
            <a:avLst/>
          </a:prstGeom>
          <a:ln cap="rnd" w="19050">
            <a:solidFill>
              <a:srgbClr val="1B2A3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9" id="9"/>
          <p:cNvSpPr txBox="true"/>
          <p:nvPr/>
        </p:nvSpPr>
        <p:spPr>
          <a:xfrm rot="0">
            <a:off x="3703320" y="2480310"/>
            <a:ext cx="534924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Sequence 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03320" y="3038475"/>
            <a:ext cx="534924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Garis panah penuh: urutan aktivitas dalam satu pool.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13435" y="4105275"/>
            <a:ext cx="8522970" cy="1664970"/>
            <a:chOff x="0" y="0"/>
            <a:chExt cx="11363960" cy="2219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63960" cy="2219960"/>
            </a:xfrm>
            <a:custGeom>
              <a:avLst/>
              <a:gdLst/>
              <a:ahLst/>
              <a:cxnLst/>
              <a:rect r="r" b="b" t="t" l="l"/>
              <a:pathLst>
                <a:path h="2219960" w="11363960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11178921" y="0"/>
                  </a:lnTo>
                  <a:cubicBezTo>
                    <a:pt x="11281028" y="0"/>
                    <a:pt x="11363960" y="82804"/>
                    <a:pt x="11363960" y="185039"/>
                  </a:cubicBezTo>
                  <a:lnTo>
                    <a:pt x="11363960" y="2034921"/>
                  </a:lnTo>
                  <a:cubicBezTo>
                    <a:pt x="11363960" y="2137029"/>
                    <a:pt x="11281156" y="2219960"/>
                    <a:pt x="11178921" y="2219960"/>
                  </a:cubicBezTo>
                  <a:lnTo>
                    <a:pt x="185039" y="2219960"/>
                  </a:lnTo>
                  <a:cubicBezTo>
                    <a:pt x="82804" y="2219960"/>
                    <a:pt x="0" y="2137156"/>
                    <a:pt x="0" y="2034921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sp>
        <p:nvSpPr>
          <p:cNvPr name="AutoShape 13" id="13"/>
          <p:cNvSpPr/>
          <p:nvPr/>
        </p:nvSpPr>
        <p:spPr>
          <a:xfrm rot="62520">
            <a:off x="1215219" y="4928235"/>
            <a:ext cx="2095843" cy="0"/>
          </a:xfrm>
          <a:prstGeom prst="line">
            <a:avLst/>
          </a:prstGeom>
          <a:ln cap="rnd" w="19050">
            <a:solidFill>
              <a:srgbClr val="1B2A3A"/>
            </a:solidFill>
            <a:prstDash val="solid"/>
            <a:headEnd type="oval" len="lg" w="lg"/>
            <a:tailEnd type="triangle" len="med" w="lg"/>
          </a:ln>
        </p:spPr>
      </p:sp>
      <p:sp>
        <p:nvSpPr>
          <p:cNvPr name="TextBox 14" id="14"/>
          <p:cNvSpPr txBox="true"/>
          <p:nvPr/>
        </p:nvSpPr>
        <p:spPr>
          <a:xfrm rot="0">
            <a:off x="3703320" y="4263390"/>
            <a:ext cx="534924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Message Flow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03320" y="4821555"/>
            <a:ext cx="534924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Garis putus-putus: pesan antar pool (organisasi berbeda).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13435" y="5888355"/>
            <a:ext cx="8522970" cy="1664970"/>
            <a:chOff x="0" y="0"/>
            <a:chExt cx="11363960" cy="22199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63960" cy="2219960"/>
            </a:xfrm>
            <a:custGeom>
              <a:avLst/>
              <a:gdLst/>
              <a:ahLst/>
              <a:cxnLst/>
              <a:rect r="r" b="b" t="t" l="l"/>
              <a:pathLst>
                <a:path h="2219960" w="11363960">
                  <a:moveTo>
                    <a:pt x="0" y="185039"/>
                  </a:moveTo>
                  <a:cubicBezTo>
                    <a:pt x="0" y="82804"/>
                    <a:pt x="82804" y="0"/>
                    <a:pt x="185039" y="0"/>
                  </a:cubicBezTo>
                  <a:lnTo>
                    <a:pt x="11178921" y="0"/>
                  </a:lnTo>
                  <a:cubicBezTo>
                    <a:pt x="11281028" y="0"/>
                    <a:pt x="11363960" y="82804"/>
                    <a:pt x="11363960" y="185039"/>
                  </a:cubicBezTo>
                  <a:lnTo>
                    <a:pt x="11363960" y="2034921"/>
                  </a:lnTo>
                  <a:cubicBezTo>
                    <a:pt x="11363960" y="2137029"/>
                    <a:pt x="11281156" y="2219960"/>
                    <a:pt x="11178921" y="2219960"/>
                  </a:cubicBezTo>
                  <a:lnTo>
                    <a:pt x="185039" y="2219960"/>
                  </a:lnTo>
                  <a:cubicBezTo>
                    <a:pt x="82804" y="2219960"/>
                    <a:pt x="0" y="2137156"/>
                    <a:pt x="0" y="2034921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sp>
        <p:nvSpPr>
          <p:cNvPr name="AutoShape 18" id="18"/>
          <p:cNvSpPr/>
          <p:nvPr/>
        </p:nvSpPr>
        <p:spPr>
          <a:xfrm rot="62520">
            <a:off x="1215219" y="6711315"/>
            <a:ext cx="2095843" cy="0"/>
          </a:xfrm>
          <a:prstGeom prst="line">
            <a:avLst/>
          </a:prstGeom>
          <a:ln cap="rnd" w="19050">
            <a:solidFill>
              <a:srgbClr val="1B2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3703320" y="6046470"/>
            <a:ext cx="534924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B3C5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Association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03320" y="6604635"/>
            <a:ext cx="5349240" cy="87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Garis titik-titik: menghubungkan anotasi atau data ke elemen.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993630" y="2312670"/>
            <a:ext cx="7444740" cy="5250180"/>
            <a:chOff x="0" y="0"/>
            <a:chExt cx="9926320" cy="7000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926320" cy="7000240"/>
            </a:xfrm>
            <a:custGeom>
              <a:avLst/>
              <a:gdLst/>
              <a:ahLst/>
              <a:cxnLst/>
              <a:rect r="r" b="b" t="t" l="l"/>
              <a:pathLst>
                <a:path h="7000240" w="9926320">
                  <a:moveTo>
                    <a:pt x="0" y="0"/>
                  </a:moveTo>
                  <a:lnTo>
                    <a:pt x="9926320" y="0"/>
                  </a:lnTo>
                  <a:lnTo>
                    <a:pt x="9926320" y="7000240"/>
                  </a:lnTo>
                  <a:lnTo>
                    <a:pt x="0" y="700024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993630" y="2312670"/>
            <a:ext cx="723900" cy="5250180"/>
            <a:chOff x="0" y="0"/>
            <a:chExt cx="965200" cy="700024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965200" cy="7000240"/>
              <a:chOff x="0" y="0"/>
              <a:chExt cx="965200" cy="700024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65200" cy="7000240"/>
              </a:xfrm>
              <a:custGeom>
                <a:avLst/>
                <a:gdLst/>
                <a:ahLst/>
                <a:cxnLst/>
                <a:rect r="r" b="b" t="t" l="l"/>
                <a:pathLst>
                  <a:path h="7000240" w="965200">
                    <a:moveTo>
                      <a:pt x="0" y="0"/>
                    </a:moveTo>
                    <a:lnTo>
                      <a:pt x="965200" y="0"/>
                    </a:lnTo>
                    <a:lnTo>
                      <a:pt x="965200" y="7000240"/>
                    </a:lnTo>
                    <a:lnTo>
                      <a:pt x="0" y="7000240"/>
                    </a:lnTo>
                    <a:close/>
                  </a:path>
                </a:pathLst>
              </a:custGeom>
              <a:solidFill>
                <a:srgbClr val="0B3C5D"/>
              </a:solidFill>
              <a:ln w="38100" cap="sq">
                <a:solidFill>
                  <a:srgbClr val="0B3C5D"/>
                </a:solidFill>
                <a:prstDash val="solid"/>
                <a:miter/>
              </a:ln>
            </p:spPr>
          </p:sp>
        </p:grpSp>
        <p:grpSp>
          <p:nvGrpSpPr>
            <p:cNvPr name="Group 26" id="26"/>
            <p:cNvGrpSpPr/>
            <p:nvPr/>
          </p:nvGrpSpPr>
          <p:grpSpPr>
            <a:xfrm rot="-5400000">
              <a:off x="0" y="0"/>
              <a:ext cx="965200" cy="7000240"/>
              <a:chOff x="0" y="0"/>
              <a:chExt cx="965200" cy="700024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65200" cy="7000240"/>
              </a:xfrm>
              <a:custGeom>
                <a:avLst/>
                <a:gdLst/>
                <a:ahLst/>
                <a:cxnLst/>
                <a:rect r="r" b="b" t="t" l="l"/>
                <a:pathLst>
                  <a:path h="7000240" w="965200">
                    <a:moveTo>
                      <a:pt x="0" y="0"/>
                    </a:moveTo>
                    <a:lnTo>
                      <a:pt x="965200" y="0"/>
                    </a:lnTo>
                    <a:lnTo>
                      <a:pt x="965200" y="7000240"/>
                    </a:lnTo>
                    <a:lnTo>
                      <a:pt x="0" y="70002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880538" t="0" r="-880538" b="0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965200" cy="70478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sz="21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Pool</a:t>
                </a:r>
              </a:p>
            </p:txBody>
          </p:sp>
        </p:grpSp>
      </p:grpSp>
      <p:sp>
        <p:nvSpPr>
          <p:cNvPr name="AutoShape 29" id="29"/>
          <p:cNvSpPr/>
          <p:nvPr/>
        </p:nvSpPr>
        <p:spPr>
          <a:xfrm rot="14580">
            <a:off x="10684164" y="4928235"/>
            <a:ext cx="6749472" cy="0"/>
          </a:xfrm>
          <a:prstGeom prst="line">
            <a:avLst/>
          </a:prstGeom>
          <a:ln cap="rnd" w="19050">
            <a:solidFill>
              <a:srgbClr val="0B3C5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10904220" y="2430780"/>
            <a:ext cx="164592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Lane 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04220" y="5036820"/>
            <a:ext cx="164592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Lane B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779091" y="3000851"/>
            <a:ext cx="2227898" cy="1130618"/>
            <a:chOff x="0" y="0"/>
            <a:chExt cx="2970530" cy="150749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70530" cy="1507617"/>
            </a:xfrm>
            <a:custGeom>
              <a:avLst/>
              <a:gdLst/>
              <a:ahLst/>
              <a:cxnLst/>
              <a:rect r="r" b="b" t="t" l="l"/>
              <a:pathLst>
                <a:path h="1507617" w="2970530">
                  <a:moveTo>
                    <a:pt x="0" y="188468"/>
                  </a:moveTo>
                  <a:cubicBezTo>
                    <a:pt x="0" y="84328"/>
                    <a:pt x="84328" y="0"/>
                    <a:pt x="188468" y="0"/>
                  </a:cubicBezTo>
                  <a:lnTo>
                    <a:pt x="2782062" y="0"/>
                  </a:lnTo>
                  <a:cubicBezTo>
                    <a:pt x="2886075" y="0"/>
                    <a:pt x="2970530" y="84328"/>
                    <a:pt x="2970530" y="188468"/>
                  </a:cubicBezTo>
                  <a:lnTo>
                    <a:pt x="2970530" y="1319149"/>
                  </a:lnTo>
                  <a:cubicBezTo>
                    <a:pt x="2970530" y="1423162"/>
                    <a:pt x="2886202" y="1507617"/>
                    <a:pt x="2782062" y="1507617"/>
                  </a:cubicBezTo>
                  <a:lnTo>
                    <a:pt x="188468" y="1507617"/>
                  </a:lnTo>
                  <a:cubicBezTo>
                    <a:pt x="84328" y="1507490"/>
                    <a:pt x="0" y="1423162"/>
                    <a:pt x="0" y="1319022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0B3C5D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970530" cy="1545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Aktivitas 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659451" y="5881211"/>
            <a:ext cx="2227898" cy="1130618"/>
            <a:chOff x="0" y="0"/>
            <a:chExt cx="2970530" cy="15074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970530" cy="1507617"/>
            </a:xfrm>
            <a:custGeom>
              <a:avLst/>
              <a:gdLst/>
              <a:ahLst/>
              <a:cxnLst/>
              <a:rect r="r" b="b" t="t" l="l"/>
              <a:pathLst>
                <a:path h="1507617" w="2970530">
                  <a:moveTo>
                    <a:pt x="0" y="188468"/>
                  </a:moveTo>
                  <a:cubicBezTo>
                    <a:pt x="0" y="84328"/>
                    <a:pt x="84328" y="0"/>
                    <a:pt x="188468" y="0"/>
                  </a:cubicBezTo>
                  <a:lnTo>
                    <a:pt x="2782062" y="0"/>
                  </a:lnTo>
                  <a:cubicBezTo>
                    <a:pt x="2886075" y="0"/>
                    <a:pt x="2970530" y="84328"/>
                    <a:pt x="2970530" y="188468"/>
                  </a:cubicBezTo>
                  <a:lnTo>
                    <a:pt x="2970530" y="1319149"/>
                  </a:lnTo>
                  <a:cubicBezTo>
                    <a:pt x="2970530" y="1423162"/>
                    <a:pt x="2886202" y="1507617"/>
                    <a:pt x="2782062" y="1507617"/>
                  </a:cubicBezTo>
                  <a:lnTo>
                    <a:pt x="188468" y="1507617"/>
                  </a:lnTo>
                  <a:cubicBezTo>
                    <a:pt x="84328" y="1507490"/>
                    <a:pt x="0" y="1423162"/>
                    <a:pt x="0" y="1319022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0B3C5D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970530" cy="1545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Aktivitas 2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rot="54240">
            <a:off x="13975918" y="3556635"/>
            <a:ext cx="1811884" cy="0"/>
          </a:xfrm>
          <a:prstGeom prst="line">
            <a:avLst/>
          </a:prstGeom>
          <a:ln cap="rnd" w="19050">
            <a:solidFill>
              <a:srgbClr val="1B2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 rot="5358360">
            <a:off x="14593167" y="4722495"/>
            <a:ext cx="2360466" cy="0"/>
          </a:xfrm>
          <a:prstGeom prst="line">
            <a:avLst/>
          </a:prstGeom>
          <a:ln cap="rnd" w="19050">
            <a:solidFill>
              <a:srgbClr val="1B2A3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0" id="40"/>
          <p:cNvGrpSpPr/>
          <p:nvPr/>
        </p:nvGrpSpPr>
        <p:grpSpPr>
          <a:xfrm rot="0">
            <a:off x="822960" y="7955280"/>
            <a:ext cx="16596360" cy="1165860"/>
            <a:chOff x="0" y="0"/>
            <a:chExt cx="22128480" cy="155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128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212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945600" y="0"/>
                  </a:lnTo>
                  <a:cubicBezTo>
                    <a:pt x="22046564" y="0"/>
                    <a:pt x="22128480" y="81915"/>
                    <a:pt x="22128480" y="182880"/>
                  </a:cubicBezTo>
                  <a:lnTo>
                    <a:pt x="22128480" y="1371600"/>
                  </a:lnTo>
                  <a:cubicBezTo>
                    <a:pt x="22128480" y="1472565"/>
                    <a:pt x="22046564" y="1554480"/>
                    <a:pt x="21945600" y="1554480"/>
                  </a:cubicBezTo>
                  <a:lnTo>
                    <a:pt x="182880" y="1554480"/>
                  </a:lnTo>
                  <a:cubicBezTo>
                    <a:pt x="81915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0B3C5D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2128480" cy="15925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Pool = organisasi atau partisipan. Lane = peran atau unit kerja di dalam pool.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696212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B6B7B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3C5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Contoh: Proses Pengajuan Cuti Karyawan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3910" y="2106930"/>
            <a:ext cx="16634460" cy="7033260"/>
            <a:chOff x="0" y="0"/>
            <a:chExt cx="22179280" cy="9377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79280" cy="9377680"/>
            </a:xfrm>
            <a:custGeom>
              <a:avLst/>
              <a:gdLst/>
              <a:ahLst/>
              <a:cxnLst/>
              <a:rect r="r" b="b" t="t" l="l"/>
              <a:pathLst>
                <a:path h="9377680" w="22179280">
                  <a:moveTo>
                    <a:pt x="0" y="0"/>
                  </a:moveTo>
                  <a:lnTo>
                    <a:pt x="22179280" y="0"/>
                  </a:lnTo>
                  <a:lnTo>
                    <a:pt x="22179280" y="9377680"/>
                  </a:lnTo>
                  <a:lnTo>
                    <a:pt x="0" y="9377680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B3C5D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03910" y="2106930"/>
            <a:ext cx="723900" cy="7033260"/>
            <a:chOff x="0" y="0"/>
            <a:chExt cx="965200" cy="937768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965200" cy="9377680"/>
              <a:chOff x="0" y="0"/>
              <a:chExt cx="965200" cy="937768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65200" cy="9377680"/>
              </a:xfrm>
              <a:custGeom>
                <a:avLst/>
                <a:gdLst/>
                <a:ahLst/>
                <a:cxnLst/>
                <a:rect r="r" b="b" t="t" l="l"/>
                <a:pathLst>
                  <a:path h="9377680" w="965200">
                    <a:moveTo>
                      <a:pt x="0" y="0"/>
                    </a:moveTo>
                    <a:lnTo>
                      <a:pt x="965200" y="0"/>
                    </a:lnTo>
                    <a:lnTo>
                      <a:pt x="965200" y="9377680"/>
                    </a:lnTo>
                    <a:lnTo>
                      <a:pt x="0" y="9377680"/>
                    </a:lnTo>
                    <a:close/>
                  </a:path>
                </a:pathLst>
              </a:custGeom>
              <a:solidFill>
                <a:srgbClr val="0B3C5D"/>
              </a:solidFill>
              <a:ln w="38100" cap="sq">
                <a:solidFill>
                  <a:srgbClr val="0B3C5D"/>
                </a:solidFill>
                <a:prstDash val="solid"/>
                <a:miter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 rot="-5400000">
              <a:off x="0" y="0"/>
              <a:ext cx="965200" cy="9377680"/>
              <a:chOff x="0" y="0"/>
              <a:chExt cx="965200" cy="937768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65200" cy="9377680"/>
              </a:xfrm>
              <a:custGeom>
                <a:avLst/>
                <a:gdLst/>
                <a:ahLst/>
                <a:cxnLst/>
                <a:rect r="r" b="b" t="t" l="l"/>
                <a:pathLst>
                  <a:path h="9377680" w="965200">
                    <a:moveTo>
                      <a:pt x="0" y="0"/>
                    </a:moveTo>
                    <a:lnTo>
                      <a:pt x="965200" y="0"/>
                    </a:lnTo>
                    <a:lnTo>
                      <a:pt x="965200" y="9377680"/>
                    </a:lnTo>
                    <a:lnTo>
                      <a:pt x="0" y="93776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1196570" t="0" r="-1196570" b="0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965200" cy="94253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sz="2100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Proses Cuti</a:t>
                </a: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1494473" y="2111692"/>
            <a:ext cx="1400175" cy="2360295"/>
            <a:chOff x="0" y="0"/>
            <a:chExt cx="1866900" cy="31470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66900" cy="3147060"/>
            </a:xfrm>
            <a:custGeom>
              <a:avLst/>
              <a:gdLst/>
              <a:ahLst/>
              <a:cxnLst/>
              <a:rect r="r" b="b" t="t" l="l"/>
              <a:pathLst>
                <a:path h="3147060" w="1866900">
                  <a:moveTo>
                    <a:pt x="0" y="0"/>
                  </a:moveTo>
                  <a:lnTo>
                    <a:pt x="1866900" y="0"/>
                  </a:lnTo>
                  <a:lnTo>
                    <a:pt x="1866900" y="3147060"/>
                  </a:lnTo>
                  <a:lnTo>
                    <a:pt x="0" y="3147060"/>
                  </a:lnTo>
                  <a:close/>
                </a:path>
              </a:pathLst>
            </a:custGeom>
            <a:solidFill>
              <a:srgbClr val="EAF2F7"/>
            </a:solidFill>
            <a:ln w="28575" cap="sq">
              <a:solidFill>
                <a:srgbClr val="0B3C5D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866900" cy="31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Karyawan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6720">
            <a:off x="2866063" y="2116455"/>
            <a:ext cx="14567564" cy="0"/>
          </a:xfrm>
          <a:prstGeom prst="line">
            <a:avLst/>
          </a:prstGeom>
          <a:ln cap="rnd" w="19050">
            <a:solidFill>
              <a:srgbClr val="0B3C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494473" y="4443412"/>
            <a:ext cx="1400175" cy="2360295"/>
            <a:chOff x="0" y="0"/>
            <a:chExt cx="1866900" cy="31470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66900" cy="3147060"/>
            </a:xfrm>
            <a:custGeom>
              <a:avLst/>
              <a:gdLst/>
              <a:ahLst/>
              <a:cxnLst/>
              <a:rect r="r" b="b" t="t" l="l"/>
              <a:pathLst>
                <a:path h="3147060" w="1866900">
                  <a:moveTo>
                    <a:pt x="0" y="0"/>
                  </a:moveTo>
                  <a:lnTo>
                    <a:pt x="1866900" y="0"/>
                  </a:lnTo>
                  <a:lnTo>
                    <a:pt x="1866900" y="3147060"/>
                  </a:lnTo>
                  <a:lnTo>
                    <a:pt x="0" y="3147060"/>
                  </a:lnTo>
                  <a:close/>
                </a:path>
              </a:pathLst>
            </a:custGeom>
            <a:solidFill>
              <a:srgbClr val="EAF2F7"/>
            </a:solidFill>
            <a:ln w="28575" cap="sq">
              <a:solidFill>
                <a:srgbClr val="0B3C5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866900" cy="31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Atasan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6720">
            <a:off x="2866063" y="4448175"/>
            <a:ext cx="14567564" cy="0"/>
          </a:xfrm>
          <a:prstGeom prst="line">
            <a:avLst/>
          </a:prstGeom>
          <a:ln cap="rnd" w="19050">
            <a:solidFill>
              <a:srgbClr val="0B3C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494473" y="6775132"/>
            <a:ext cx="1400175" cy="2360295"/>
            <a:chOff x="0" y="0"/>
            <a:chExt cx="1866900" cy="31470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66900" cy="3147060"/>
            </a:xfrm>
            <a:custGeom>
              <a:avLst/>
              <a:gdLst/>
              <a:ahLst/>
              <a:cxnLst/>
              <a:rect r="r" b="b" t="t" l="l"/>
              <a:pathLst>
                <a:path h="3147060" w="1866900">
                  <a:moveTo>
                    <a:pt x="0" y="0"/>
                  </a:moveTo>
                  <a:lnTo>
                    <a:pt x="1866900" y="0"/>
                  </a:lnTo>
                  <a:lnTo>
                    <a:pt x="1866900" y="3147060"/>
                  </a:lnTo>
                  <a:lnTo>
                    <a:pt x="0" y="3147060"/>
                  </a:lnTo>
                  <a:close/>
                </a:path>
              </a:pathLst>
            </a:custGeom>
            <a:solidFill>
              <a:srgbClr val="EAF2F7"/>
            </a:solidFill>
            <a:ln w="28575" cap="sq">
              <a:solidFill>
                <a:srgbClr val="0B3C5D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866900" cy="31946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HRD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6720">
            <a:off x="2866063" y="6779895"/>
            <a:ext cx="14567564" cy="0"/>
          </a:xfrm>
          <a:prstGeom prst="line">
            <a:avLst/>
          </a:prstGeom>
          <a:ln cap="rnd" w="19050">
            <a:solidFill>
              <a:srgbClr val="0B3C5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3270409" y="2927509"/>
            <a:ext cx="728662" cy="728662"/>
            <a:chOff x="0" y="0"/>
            <a:chExt cx="971550" cy="9715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1550" cy="971550"/>
            </a:xfrm>
            <a:custGeom>
              <a:avLst/>
              <a:gdLst/>
              <a:ahLst/>
              <a:cxnLst/>
              <a:rect r="r" b="b" t="t" l="l"/>
              <a:pathLst>
                <a:path h="971550" w="971550">
                  <a:moveTo>
                    <a:pt x="0" y="485775"/>
                  </a:moveTo>
                  <a:cubicBezTo>
                    <a:pt x="0" y="217551"/>
                    <a:pt x="217551" y="0"/>
                    <a:pt x="485775" y="0"/>
                  </a:cubicBezTo>
                  <a:cubicBezTo>
                    <a:pt x="753999" y="0"/>
                    <a:pt x="971550" y="217551"/>
                    <a:pt x="971550" y="485775"/>
                  </a:cubicBezTo>
                  <a:cubicBezTo>
                    <a:pt x="971550" y="753999"/>
                    <a:pt x="753999" y="971550"/>
                    <a:pt x="485775" y="971550"/>
                  </a:cubicBezTo>
                  <a:cubicBezTo>
                    <a:pt x="217551" y="971550"/>
                    <a:pt x="0" y="753999"/>
                    <a:pt x="0" y="485775"/>
                  </a:cubicBez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2E9E6B"/>
              </a:solidFill>
              <a:prstDash val="solid"/>
              <a:miter/>
            </a:ln>
          </p:spPr>
        </p:sp>
      </p:grpSp>
      <p:sp>
        <p:nvSpPr>
          <p:cNvPr name="AutoShape 27" id="27"/>
          <p:cNvSpPr/>
          <p:nvPr/>
        </p:nvSpPr>
        <p:spPr>
          <a:xfrm rot="170040">
            <a:off x="3963000" y="3282315"/>
            <a:ext cx="577920" cy="0"/>
          </a:xfrm>
          <a:prstGeom prst="line">
            <a:avLst/>
          </a:prstGeom>
          <a:ln cap="rnd" w="19050">
            <a:solidFill>
              <a:srgbClr val="1B2A3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4509611" y="2726531"/>
            <a:ext cx="2365058" cy="1130618"/>
            <a:chOff x="0" y="0"/>
            <a:chExt cx="3153410" cy="15074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153410" cy="1507617"/>
            </a:xfrm>
            <a:custGeom>
              <a:avLst/>
              <a:gdLst/>
              <a:ahLst/>
              <a:cxnLst/>
              <a:rect r="r" b="b" t="t" l="l"/>
              <a:pathLst>
                <a:path h="1507617" w="3153410">
                  <a:moveTo>
                    <a:pt x="0" y="188468"/>
                  </a:moveTo>
                  <a:cubicBezTo>
                    <a:pt x="0" y="84328"/>
                    <a:pt x="84328" y="0"/>
                    <a:pt x="188468" y="0"/>
                  </a:cubicBezTo>
                  <a:lnTo>
                    <a:pt x="2964942" y="0"/>
                  </a:lnTo>
                  <a:cubicBezTo>
                    <a:pt x="3068955" y="0"/>
                    <a:pt x="3153410" y="84328"/>
                    <a:pt x="3153410" y="188468"/>
                  </a:cubicBezTo>
                  <a:lnTo>
                    <a:pt x="3153410" y="1319149"/>
                  </a:lnTo>
                  <a:cubicBezTo>
                    <a:pt x="3153410" y="1423162"/>
                    <a:pt x="3069082" y="1507617"/>
                    <a:pt x="2964942" y="1507617"/>
                  </a:cubicBezTo>
                  <a:lnTo>
                    <a:pt x="188468" y="1507617"/>
                  </a:lnTo>
                  <a:cubicBezTo>
                    <a:pt x="84328" y="1507490"/>
                    <a:pt x="0" y="1423162"/>
                    <a:pt x="0" y="1319022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0B3C5D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153410" cy="1545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Ajukan formulir cuti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48720">
            <a:off x="6843608" y="3282315"/>
            <a:ext cx="2017595" cy="0"/>
          </a:xfrm>
          <a:prstGeom prst="line">
            <a:avLst/>
          </a:prstGeom>
          <a:ln cap="rnd" w="19050">
            <a:solidFill>
              <a:srgbClr val="1B2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rot="5345760">
            <a:off x="7940878" y="4173855"/>
            <a:ext cx="1811884" cy="0"/>
          </a:xfrm>
          <a:prstGeom prst="line">
            <a:avLst/>
          </a:prstGeom>
          <a:ln cap="rnd" w="19050">
            <a:solidFill>
              <a:srgbClr val="1B2A3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3" id="33"/>
          <p:cNvGrpSpPr/>
          <p:nvPr/>
        </p:nvGrpSpPr>
        <p:grpSpPr>
          <a:xfrm rot="0">
            <a:off x="7664291" y="5058251"/>
            <a:ext cx="2365058" cy="1130618"/>
            <a:chOff x="0" y="0"/>
            <a:chExt cx="3153410" cy="15074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53410" cy="1507617"/>
            </a:xfrm>
            <a:custGeom>
              <a:avLst/>
              <a:gdLst/>
              <a:ahLst/>
              <a:cxnLst/>
              <a:rect r="r" b="b" t="t" l="l"/>
              <a:pathLst>
                <a:path h="1507617" w="3153410">
                  <a:moveTo>
                    <a:pt x="0" y="188468"/>
                  </a:moveTo>
                  <a:cubicBezTo>
                    <a:pt x="0" y="84328"/>
                    <a:pt x="84328" y="0"/>
                    <a:pt x="188468" y="0"/>
                  </a:cubicBezTo>
                  <a:lnTo>
                    <a:pt x="2964942" y="0"/>
                  </a:lnTo>
                  <a:cubicBezTo>
                    <a:pt x="3068955" y="0"/>
                    <a:pt x="3153410" y="84328"/>
                    <a:pt x="3153410" y="188468"/>
                  </a:cubicBezTo>
                  <a:lnTo>
                    <a:pt x="3153410" y="1319149"/>
                  </a:lnTo>
                  <a:cubicBezTo>
                    <a:pt x="3153410" y="1423162"/>
                    <a:pt x="3069082" y="1507617"/>
                    <a:pt x="2964942" y="1507617"/>
                  </a:cubicBezTo>
                  <a:lnTo>
                    <a:pt x="188468" y="1507617"/>
                  </a:lnTo>
                  <a:cubicBezTo>
                    <a:pt x="84328" y="1507490"/>
                    <a:pt x="0" y="1423162"/>
                    <a:pt x="0" y="1319022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0B3C5D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153410" cy="1545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Tinjau pengajuan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rot="87240">
            <a:off x="9998212" y="5614035"/>
            <a:ext cx="1126217" cy="0"/>
          </a:xfrm>
          <a:prstGeom prst="line">
            <a:avLst/>
          </a:prstGeom>
          <a:ln cap="rnd" w="19050">
            <a:solidFill>
              <a:srgbClr val="1B2A3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7" id="37"/>
          <p:cNvGrpSpPr/>
          <p:nvPr/>
        </p:nvGrpSpPr>
        <p:grpSpPr>
          <a:xfrm rot="0">
            <a:off x="11088529" y="5053489"/>
            <a:ext cx="1140142" cy="1140142"/>
            <a:chOff x="0" y="0"/>
            <a:chExt cx="1520190" cy="152019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20190" cy="1520190"/>
            </a:xfrm>
            <a:custGeom>
              <a:avLst/>
              <a:gdLst/>
              <a:ahLst/>
              <a:cxnLst/>
              <a:rect r="r" b="b" t="t" l="l"/>
              <a:pathLst>
                <a:path h="1520190" w="1520190">
                  <a:moveTo>
                    <a:pt x="0" y="760095"/>
                  </a:moveTo>
                  <a:lnTo>
                    <a:pt x="760095" y="0"/>
                  </a:lnTo>
                  <a:lnTo>
                    <a:pt x="1520190" y="760095"/>
                  </a:lnTo>
                  <a:lnTo>
                    <a:pt x="760095" y="1520190"/>
                  </a:lnTo>
                  <a:close/>
                </a:path>
              </a:pathLst>
            </a:custGeom>
            <a:solidFill>
              <a:srgbClr val="FFFFFF"/>
            </a:solidFill>
            <a:ln w="42862" cap="sq">
              <a:solidFill>
                <a:srgbClr val="1C7293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520190" cy="1558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561320" y="4556760"/>
            <a:ext cx="219456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Disetujui?</a:t>
            </a:r>
          </a:p>
        </p:txBody>
      </p:sp>
      <p:sp>
        <p:nvSpPr>
          <p:cNvPr name="AutoShape 41" id="41"/>
          <p:cNvSpPr/>
          <p:nvPr/>
        </p:nvSpPr>
        <p:spPr>
          <a:xfrm rot="5322240">
            <a:off x="11026931" y="6779895"/>
            <a:ext cx="1263339" cy="0"/>
          </a:xfrm>
          <a:prstGeom prst="line">
            <a:avLst/>
          </a:prstGeom>
          <a:ln cap="rnd" w="19050">
            <a:solidFill>
              <a:srgbClr val="1B2A3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2" id="42"/>
          <p:cNvSpPr txBox="true"/>
          <p:nvPr/>
        </p:nvSpPr>
        <p:spPr>
          <a:xfrm rot="0">
            <a:off x="11795760" y="6408420"/>
            <a:ext cx="6858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E9E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Ya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0476071" y="7389971"/>
            <a:ext cx="2365058" cy="1130618"/>
            <a:chOff x="0" y="0"/>
            <a:chExt cx="3153410" cy="15074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53410" cy="1507617"/>
            </a:xfrm>
            <a:custGeom>
              <a:avLst/>
              <a:gdLst/>
              <a:ahLst/>
              <a:cxnLst/>
              <a:rect r="r" b="b" t="t" l="l"/>
              <a:pathLst>
                <a:path h="1507617" w="3153410">
                  <a:moveTo>
                    <a:pt x="0" y="188468"/>
                  </a:moveTo>
                  <a:cubicBezTo>
                    <a:pt x="0" y="84328"/>
                    <a:pt x="84328" y="0"/>
                    <a:pt x="188468" y="0"/>
                  </a:cubicBezTo>
                  <a:lnTo>
                    <a:pt x="2964942" y="0"/>
                  </a:lnTo>
                  <a:cubicBezTo>
                    <a:pt x="3068955" y="0"/>
                    <a:pt x="3153410" y="84328"/>
                    <a:pt x="3153410" y="188468"/>
                  </a:cubicBezTo>
                  <a:lnTo>
                    <a:pt x="3153410" y="1319149"/>
                  </a:lnTo>
                  <a:cubicBezTo>
                    <a:pt x="3153410" y="1423162"/>
                    <a:pt x="3069082" y="1507617"/>
                    <a:pt x="2964942" y="1507617"/>
                  </a:cubicBezTo>
                  <a:lnTo>
                    <a:pt x="188468" y="1507617"/>
                  </a:lnTo>
                  <a:cubicBezTo>
                    <a:pt x="84328" y="1507490"/>
                    <a:pt x="0" y="1423162"/>
                    <a:pt x="0" y="1319022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0B3C5D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153410" cy="1545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Catat cuti &amp; kirim notifikasi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 rot="61139">
            <a:off x="12810049" y="7945755"/>
            <a:ext cx="1606172" cy="0"/>
          </a:xfrm>
          <a:prstGeom prst="line">
            <a:avLst/>
          </a:prstGeom>
          <a:ln cap="rnd" w="19050">
            <a:solidFill>
              <a:srgbClr val="1B2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rot="44160">
            <a:off x="12192857" y="5614035"/>
            <a:ext cx="2223316" cy="0"/>
          </a:xfrm>
          <a:prstGeom prst="line">
            <a:avLst/>
          </a:prstGeom>
          <a:ln cap="rnd" w="19050">
            <a:solidFill>
              <a:srgbClr val="1B2A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8" id="48"/>
          <p:cNvSpPr txBox="true"/>
          <p:nvPr/>
        </p:nvSpPr>
        <p:spPr>
          <a:xfrm rot="0">
            <a:off x="12412980" y="5105400"/>
            <a:ext cx="109728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D64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Tidak</a:t>
            </a:r>
          </a:p>
        </p:txBody>
      </p:sp>
      <p:sp>
        <p:nvSpPr>
          <p:cNvPr name="AutoShape 49" id="49"/>
          <p:cNvSpPr/>
          <p:nvPr/>
        </p:nvSpPr>
        <p:spPr>
          <a:xfrm rot="-5376300">
            <a:off x="12330065" y="5888355"/>
            <a:ext cx="4143470" cy="0"/>
          </a:xfrm>
          <a:prstGeom prst="line">
            <a:avLst/>
          </a:prstGeom>
          <a:ln cap="rnd" w="19050">
            <a:solidFill>
              <a:srgbClr val="1B2A3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0" id="50"/>
          <p:cNvGrpSpPr/>
          <p:nvPr/>
        </p:nvGrpSpPr>
        <p:grpSpPr>
          <a:xfrm rot="0">
            <a:off x="13219271" y="2726531"/>
            <a:ext cx="2365058" cy="1130618"/>
            <a:chOff x="0" y="0"/>
            <a:chExt cx="3153410" cy="150749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53410" cy="1507617"/>
            </a:xfrm>
            <a:custGeom>
              <a:avLst/>
              <a:gdLst/>
              <a:ahLst/>
              <a:cxnLst/>
              <a:rect r="r" b="b" t="t" l="l"/>
              <a:pathLst>
                <a:path h="1507617" w="3153410">
                  <a:moveTo>
                    <a:pt x="0" y="188468"/>
                  </a:moveTo>
                  <a:cubicBezTo>
                    <a:pt x="0" y="84328"/>
                    <a:pt x="84328" y="0"/>
                    <a:pt x="188468" y="0"/>
                  </a:cubicBezTo>
                  <a:lnTo>
                    <a:pt x="2964942" y="0"/>
                  </a:lnTo>
                  <a:cubicBezTo>
                    <a:pt x="3068955" y="0"/>
                    <a:pt x="3153410" y="84328"/>
                    <a:pt x="3153410" y="188468"/>
                  </a:cubicBezTo>
                  <a:lnTo>
                    <a:pt x="3153410" y="1319149"/>
                  </a:lnTo>
                  <a:cubicBezTo>
                    <a:pt x="3153410" y="1423162"/>
                    <a:pt x="3069082" y="1507617"/>
                    <a:pt x="2964942" y="1507617"/>
                  </a:cubicBezTo>
                  <a:lnTo>
                    <a:pt x="188468" y="1507617"/>
                  </a:lnTo>
                  <a:cubicBezTo>
                    <a:pt x="84328" y="1507490"/>
                    <a:pt x="0" y="1423162"/>
                    <a:pt x="0" y="1319022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0B3C5D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153410" cy="15455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Terima pemberitahuan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115320">
            <a:off x="15553134" y="3282315"/>
            <a:ext cx="852011" cy="0"/>
          </a:xfrm>
          <a:prstGeom prst="line">
            <a:avLst/>
          </a:prstGeom>
          <a:ln cap="rnd" w="19050">
            <a:solidFill>
              <a:srgbClr val="1B2A3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4" id="54"/>
          <p:cNvGrpSpPr/>
          <p:nvPr/>
        </p:nvGrpSpPr>
        <p:grpSpPr>
          <a:xfrm rot="0">
            <a:off x="16342995" y="2901315"/>
            <a:ext cx="781050" cy="781050"/>
            <a:chOff x="0" y="0"/>
            <a:chExt cx="1041400" cy="1041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414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1041400">
                  <a:moveTo>
                    <a:pt x="0" y="520700"/>
                  </a:moveTo>
                  <a:cubicBezTo>
                    <a:pt x="0" y="233172"/>
                    <a:pt x="233172" y="0"/>
                    <a:pt x="520700" y="0"/>
                  </a:cubicBezTo>
                  <a:cubicBezTo>
                    <a:pt x="808228" y="0"/>
                    <a:pt x="1041400" y="233172"/>
                    <a:pt x="1041400" y="520700"/>
                  </a:cubicBezTo>
                  <a:cubicBezTo>
                    <a:pt x="1041400" y="808228"/>
                    <a:pt x="808228" y="1041400"/>
                    <a:pt x="520700" y="1041400"/>
                  </a:cubicBezTo>
                  <a:cubicBezTo>
                    <a:pt x="233172" y="1041400"/>
                    <a:pt x="0" y="808228"/>
                    <a:pt x="0" y="52070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D64545"/>
              </a:solidFill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1696212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B6B7B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3C5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Membaca Diagram Cuti Langkah demi Langkah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2263140"/>
            <a:ext cx="822960" cy="822960"/>
            <a:chOff x="0" y="0"/>
            <a:chExt cx="109728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57400" y="2263140"/>
            <a:ext cx="3566160" cy="822960"/>
            <a:chOff x="0" y="0"/>
            <a:chExt cx="475488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914400"/>
                  </a:lnTo>
                  <a:cubicBezTo>
                    <a:pt x="4754880" y="1015365"/>
                    <a:pt x="4672965" y="1097280"/>
                    <a:pt x="4572000" y="1097280"/>
                  </a:cubicBezTo>
                  <a:lnTo>
                    <a:pt x="182880" y="1097280"/>
                  </a:lnTo>
                  <a:cubicBezTo>
                    <a:pt x="81915" y="1097280"/>
                    <a:pt x="0" y="1015365"/>
                    <a:pt x="0" y="914400"/>
                  </a:cubicBezTo>
                  <a:close/>
                </a:path>
              </a:pathLst>
            </a:custGeom>
            <a:solidFill>
              <a:srgbClr val="EAF2F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754880" cy="1144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Start Event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35040" y="2263140"/>
            <a:ext cx="11384280" cy="822960"/>
            <a:chOff x="0" y="0"/>
            <a:chExt cx="1517904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1790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543" r="0" b="-21954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51790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Karyawan memulai proses saat membutuhkan cuti.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3703320"/>
            <a:ext cx="822960" cy="822960"/>
            <a:chOff x="0" y="0"/>
            <a:chExt cx="10972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057400" y="3703320"/>
            <a:ext cx="3566160" cy="822960"/>
            <a:chOff x="0" y="0"/>
            <a:chExt cx="475488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914400"/>
                  </a:lnTo>
                  <a:cubicBezTo>
                    <a:pt x="4754880" y="1015365"/>
                    <a:pt x="4672965" y="1097280"/>
                    <a:pt x="4572000" y="1097280"/>
                  </a:cubicBezTo>
                  <a:lnTo>
                    <a:pt x="182880" y="1097280"/>
                  </a:lnTo>
                  <a:cubicBezTo>
                    <a:pt x="81915" y="1097280"/>
                    <a:pt x="0" y="1015365"/>
                    <a:pt x="0" y="914400"/>
                  </a:cubicBezTo>
                  <a:close/>
                </a:path>
              </a:pathLst>
            </a:custGeom>
            <a:solidFill>
              <a:srgbClr val="EAF2F7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4754880" cy="1144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Task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035040" y="3703320"/>
            <a:ext cx="11384280" cy="822960"/>
            <a:chOff x="0" y="0"/>
            <a:chExt cx="1517904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1790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543" r="0" b="-2195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51790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Karyawan mengajukan formulir, lalu atasan meninjau pengajuan.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5143500"/>
            <a:ext cx="822960" cy="822960"/>
            <a:chOff x="0" y="0"/>
            <a:chExt cx="109728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057400" y="5143500"/>
            <a:ext cx="3566160" cy="822960"/>
            <a:chOff x="0" y="0"/>
            <a:chExt cx="475488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914400"/>
                  </a:lnTo>
                  <a:cubicBezTo>
                    <a:pt x="4754880" y="1015365"/>
                    <a:pt x="4672965" y="1097280"/>
                    <a:pt x="4572000" y="1097280"/>
                  </a:cubicBezTo>
                  <a:lnTo>
                    <a:pt x="182880" y="1097280"/>
                  </a:lnTo>
                  <a:cubicBezTo>
                    <a:pt x="81915" y="1097280"/>
                    <a:pt x="0" y="1015365"/>
                    <a:pt x="0" y="914400"/>
                  </a:cubicBezTo>
                  <a:close/>
                </a:path>
              </a:pathLst>
            </a:custGeom>
            <a:solidFill>
              <a:srgbClr val="EAF2F7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754880" cy="1144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Exclusive Gateway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035040" y="5143500"/>
            <a:ext cx="11384280" cy="822960"/>
            <a:chOff x="0" y="0"/>
            <a:chExt cx="1517904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1790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543" r="0" b="-21954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51790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Atasan memutuskan satu jalur: disetujui (Ya) atau ditolak (Tidak).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6583680"/>
            <a:ext cx="822960" cy="822960"/>
            <a:chOff x="0" y="0"/>
            <a:chExt cx="109728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57400" y="6583680"/>
            <a:ext cx="3566160" cy="822960"/>
            <a:chOff x="0" y="0"/>
            <a:chExt cx="475488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914400"/>
                  </a:lnTo>
                  <a:cubicBezTo>
                    <a:pt x="4754880" y="1015365"/>
                    <a:pt x="4672965" y="1097280"/>
                    <a:pt x="4572000" y="1097280"/>
                  </a:cubicBezTo>
                  <a:lnTo>
                    <a:pt x="182880" y="1097280"/>
                  </a:lnTo>
                  <a:cubicBezTo>
                    <a:pt x="81915" y="1097280"/>
                    <a:pt x="0" y="1015365"/>
                    <a:pt x="0" y="914400"/>
                  </a:cubicBezTo>
                  <a:close/>
                </a:path>
              </a:pathLst>
            </a:custGeom>
            <a:solidFill>
              <a:srgbClr val="EAF2F7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4754880" cy="1144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Task (HRD)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035040" y="6583680"/>
            <a:ext cx="11384280" cy="822960"/>
            <a:chOff x="0" y="0"/>
            <a:chExt cx="15179040" cy="10972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1790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543" r="0" b="-21954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51790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Jika Ya, HRD mencatat cuti dan mengirim notifikasi. Jika Tidak, alur langsung kembali ke karyawan.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8023860"/>
            <a:ext cx="822960" cy="822960"/>
            <a:chOff x="0" y="0"/>
            <a:chExt cx="109728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057400" y="8023860"/>
            <a:ext cx="3566160" cy="822960"/>
            <a:chOff x="0" y="0"/>
            <a:chExt cx="475488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54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7548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572000" y="0"/>
                  </a:lnTo>
                  <a:cubicBezTo>
                    <a:pt x="4672965" y="0"/>
                    <a:pt x="4754880" y="81915"/>
                    <a:pt x="4754880" y="182880"/>
                  </a:cubicBezTo>
                  <a:lnTo>
                    <a:pt x="4754880" y="914400"/>
                  </a:lnTo>
                  <a:cubicBezTo>
                    <a:pt x="4754880" y="1015365"/>
                    <a:pt x="4672965" y="1097280"/>
                    <a:pt x="4572000" y="1097280"/>
                  </a:cubicBezTo>
                  <a:lnTo>
                    <a:pt x="182880" y="1097280"/>
                  </a:lnTo>
                  <a:cubicBezTo>
                    <a:pt x="81915" y="1097280"/>
                    <a:pt x="0" y="1015365"/>
                    <a:pt x="0" y="914400"/>
                  </a:cubicBezTo>
                  <a:close/>
                </a:path>
              </a:pathLst>
            </a:custGeom>
            <a:solidFill>
              <a:srgbClr val="EAF2F7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4754880" cy="1144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 Event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035040" y="8023860"/>
            <a:ext cx="11384280" cy="822960"/>
            <a:chOff x="0" y="0"/>
            <a:chExt cx="1517904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1790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15179039">
                  <a:moveTo>
                    <a:pt x="0" y="0"/>
                  </a:moveTo>
                  <a:lnTo>
                    <a:pt x="15179039" y="0"/>
                  </a:lnTo>
                  <a:lnTo>
                    <a:pt x="151790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9543" r="0" b="-21954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51790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A3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Karyawan menerima pemberitahuan dan proses selesai.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696212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B6B7B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480060"/>
            <a:ext cx="16596360" cy="1234440"/>
            <a:chOff x="0" y="0"/>
            <a:chExt cx="22128480" cy="16459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212848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3C5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Praktik Baik Pemodelan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3435" y="2185035"/>
            <a:ext cx="8111490" cy="3310890"/>
            <a:chOff x="0" y="0"/>
            <a:chExt cx="10815320" cy="4414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815320" cy="4414520"/>
            </a:xfrm>
            <a:custGeom>
              <a:avLst/>
              <a:gdLst/>
              <a:ahLst/>
              <a:cxnLst/>
              <a:rect r="r" b="b" t="t" l="l"/>
              <a:pathLst>
                <a:path h="4414520" w="1081532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10631424" y="0"/>
                  </a:lnTo>
                  <a:cubicBezTo>
                    <a:pt x="10733024" y="0"/>
                    <a:pt x="10815320" y="82296"/>
                    <a:pt x="10815320" y="183896"/>
                  </a:cubicBezTo>
                  <a:lnTo>
                    <a:pt x="10815320" y="4230624"/>
                  </a:lnTo>
                  <a:cubicBezTo>
                    <a:pt x="10815320" y="4332224"/>
                    <a:pt x="10733024" y="4414520"/>
                    <a:pt x="10631424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03020" y="2674620"/>
            <a:ext cx="822960" cy="822960"/>
            <a:chOff x="0" y="0"/>
            <a:chExt cx="109728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68880" y="2674620"/>
            <a:ext cx="6035040" cy="822960"/>
            <a:chOff x="0" y="0"/>
            <a:chExt cx="804672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046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80467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Beri nama dengan kata kerja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03020" y="3792855"/>
            <a:ext cx="713232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Task: kata kerja + objek (“Verifikasi data”). Event: keadaan (“Cuti disetujui”).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317355" y="2185035"/>
            <a:ext cx="8111490" cy="3310890"/>
            <a:chOff x="0" y="0"/>
            <a:chExt cx="10815320" cy="4414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15320" cy="4414520"/>
            </a:xfrm>
            <a:custGeom>
              <a:avLst/>
              <a:gdLst/>
              <a:ahLst/>
              <a:cxnLst/>
              <a:rect r="r" b="b" t="t" l="l"/>
              <a:pathLst>
                <a:path h="4414520" w="1081532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10631424" y="0"/>
                  </a:lnTo>
                  <a:cubicBezTo>
                    <a:pt x="10733024" y="0"/>
                    <a:pt x="10815320" y="82296"/>
                    <a:pt x="10815320" y="183896"/>
                  </a:cubicBezTo>
                  <a:lnTo>
                    <a:pt x="10815320" y="4230624"/>
                  </a:lnTo>
                  <a:cubicBezTo>
                    <a:pt x="10815320" y="4332224"/>
                    <a:pt x="10733024" y="4414520"/>
                    <a:pt x="10631424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806940" y="2674620"/>
            <a:ext cx="822960" cy="822960"/>
            <a:chOff x="0" y="0"/>
            <a:chExt cx="1097280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0" y="2674620"/>
            <a:ext cx="6035040" cy="822960"/>
            <a:chOff x="0" y="0"/>
            <a:chExt cx="804672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046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80467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Awali dan akhiri dengan jelas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806940" y="3792855"/>
            <a:ext cx="713232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Gunakan Start Event dan minimal satu End Event; setiap alur harus berujung.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13435" y="5751195"/>
            <a:ext cx="8111490" cy="3310890"/>
            <a:chOff x="0" y="0"/>
            <a:chExt cx="10815320" cy="4414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15320" cy="4414520"/>
            </a:xfrm>
            <a:custGeom>
              <a:avLst/>
              <a:gdLst/>
              <a:ahLst/>
              <a:cxnLst/>
              <a:rect r="r" b="b" t="t" l="l"/>
              <a:pathLst>
                <a:path h="4414520" w="1081532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10631424" y="0"/>
                  </a:lnTo>
                  <a:cubicBezTo>
                    <a:pt x="10733024" y="0"/>
                    <a:pt x="10815320" y="82296"/>
                    <a:pt x="10815320" y="183896"/>
                  </a:cubicBezTo>
                  <a:lnTo>
                    <a:pt x="10815320" y="4230624"/>
                  </a:lnTo>
                  <a:cubicBezTo>
                    <a:pt x="10815320" y="4332224"/>
                    <a:pt x="10733024" y="4414520"/>
                    <a:pt x="10631424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03020" y="6240780"/>
            <a:ext cx="822960" cy="822960"/>
            <a:chOff x="0" y="0"/>
            <a:chExt cx="109728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468880" y="6240780"/>
            <a:ext cx="6035040" cy="822960"/>
            <a:chOff x="0" y="0"/>
            <a:chExt cx="804672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46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80467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Beri label tiap percabangan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303020" y="7359015"/>
            <a:ext cx="713232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Setiap alur keluar dari XOR Gateway diberi kondisi, seperti “Ya” atau “Tidak”.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317355" y="5751195"/>
            <a:ext cx="8111490" cy="3310890"/>
            <a:chOff x="0" y="0"/>
            <a:chExt cx="10815320" cy="4414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15320" cy="4414520"/>
            </a:xfrm>
            <a:custGeom>
              <a:avLst/>
              <a:gdLst/>
              <a:ahLst/>
              <a:cxnLst/>
              <a:rect r="r" b="b" t="t" l="l"/>
              <a:pathLst>
                <a:path h="4414520" w="10815320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10631424" y="0"/>
                  </a:lnTo>
                  <a:cubicBezTo>
                    <a:pt x="10733024" y="0"/>
                    <a:pt x="10815320" y="82296"/>
                    <a:pt x="10815320" y="183896"/>
                  </a:cubicBezTo>
                  <a:lnTo>
                    <a:pt x="10815320" y="4230624"/>
                  </a:lnTo>
                  <a:cubicBezTo>
                    <a:pt x="10815320" y="4332224"/>
                    <a:pt x="10733024" y="4414520"/>
                    <a:pt x="10631424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EAF2F7"/>
            </a:solidFill>
            <a:ln w="19050" cap="sq">
              <a:solidFill>
                <a:srgbClr val="EAF2F7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806940" y="6240780"/>
            <a:ext cx="822960" cy="822960"/>
            <a:chOff x="0" y="0"/>
            <a:chExt cx="109728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972800" y="6240780"/>
            <a:ext cx="6035040" cy="822960"/>
            <a:chOff x="0" y="0"/>
            <a:chExt cx="804672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0467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2890" r="0" b="-9289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804672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3C5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Jaga tetap sederhana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806940" y="7359015"/>
            <a:ext cx="713232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3A"/>
                </a:solidFill>
                <a:latin typeface="Calibri (MS)"/>
                <a:ea typeface="Calibri (MS)"/>
                <a:cs typeface="Calibri (MS)"/>
                <a:sym typeface="Calibri (MS)"/>
              </a:rPr>
              <a:t>Usahakan satu diagram muat satu halaman; pindahkan rincian ke Sub-Process.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962120" y="9608820"/>
            <a:ext cx="50292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B6B7B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62763"/>
            <a:chOff x="0" y="0"/>
            <a:chExt cx="24417871" cy="23503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2350389"/>
            </a:xfrm>
            <a:custGeom>
              <a:avLst/>
              <a:gdLst/>
              <a:ahLst/>
              <a:cxnLst/>
              <a:rect r="r" b="b" t="t" l="l"/>
              <a:pathLst>
                <a:path h="2350389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2350389"/>
                  </a:lnTo>
                  <a:lnTo>
                    <a:pt x="0" y="2350389"/>
                  </a:lnTo>
                  <a:close/>
                </a:path>
              </a:pathLst>
            </a:custGeom>
            <a:solidFill>
              <a:srgbClr val="1F3A5F"/>
            </a:solidFill>
            <a:ln w="25400" cap="sq">
              <a:solidFill>
                <a:srgbClr val="1F3A5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182880"/>
            <a:ext cx="16459200" cy="1371600"/>
            <a:chOff x="0" y="0"/>
            <a:chExt cx="21945600" cy="182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85725"/>
              <a:ext cx="2194560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Penugasan dan Referensi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9509760"/>
            <a:ext cx="16459200" cy="548640"/>
            <a:chOff x="0" y="0"/>
            <a:chExt cx="219456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879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SI207 Manajemen Proses Bisnis | Minggu 2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14400" y="2291715"/>
            <a:ext cx="16459200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Tugas Praktik 1 (15%): model BPMN as-is registrasi akademik lengkap dengan pools dan lanes.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" y="5486400"/>
            <a:ext cx="16459200" cy="731520"/>
            <a:chOff x="0" y="0"/>
            <a:chExt cx="21945600" cy="975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F3A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Referensi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" y="6252210"/>
            <a:ext cx="16459200" cy="28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Utama: Dumas, La Rosa, Mendling &amp; Reijers (2018). Fundamentals of Business Process Management (2nd ed.). Springer.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DAHXH2gKuWo</dc:identifier>
  <dcterms:modified xsi:type="dcterms:W3CDTF">2011-08-01T06:04:30Z</dcterms:modified>
  <cp:revision>1</cp:revision>
  <dc:title>Minggu_02_Pemodelan_Proses_Bisnis_Dasar_dengan_BPM.pptx</dc:title>
</cp:coreProperties>
</file>