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y="6858000" cx="12192000"/>
  <p:notesSz cx="6858000" cy="9144000"/>
  <p:embeddedFontLst>
    <p:embeddedFont>
      <p:font typeface="Open Sans"/>
      <p:regular r:id="rId23"/>
      <p:bold r:id="rId24"/>
      <p:italic r:id="rId25"/>
      <p:boldItalic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37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:go="http://customooxmlschemas.google.com/" r:id="rId27" roundtripDataSignature="AMtx7mjczNIzZNdVNZiY3qHMLisghV2Vf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8DCFD42B-64C6-463B-99EA-4EB7C79C726D}">
  <a:tblStyle styleId="{8DCFD42B-64C6-463B-99EA-4EB7C79C726D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37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font" Target="fonts/OpenSans-bold.fntdata"/><Relationship Id="rId23" Type="http://schemas.openxmlformats.org/officeDocument/2006/relationships/font" Target="fonts/OpenSans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OpenSans-boldItalic.fntdata"/><Relationship Id="rId25" Type="http://schemas.openxmlformats.org/officeDocument/2006/relationships/font" Target="fonts/OpenSans-italic.fntdata"/><Relationship Id="rId27" Type="http://customschemas.google.com/relationships/presentationmetadata" Target="meta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4" name="Google Shape;94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9" name="Google Shape;109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6" name="Google Shape;126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9" name="Google Shape;139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1" name="Google Shape;151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8ee74f45bd_0_3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7" name="Google Shape;197;g38ee74f45bd_0_3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8ee74f45bd_0_10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6" name="Google Shape;226;g38ee74f45bd_0_10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38ee74f45bd_0_11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9" name="Google Shape;239;g38ee74f45bd_0_1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38ee74f45bd_0_16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1" name="Google Shape;261;g38ee74f45bd_0_16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4" name="Google Shape;274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38ee74f45bd_0_20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5" name="Google Shape;295;g38ee74f45bd_0_20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17" name="Google Shape;317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53" name="Google Shape;353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74" name="Google Shape;374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g160bc3606eb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9" name="Google Shape;389;g160bc3606eb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90" name="Google Shape;390;g160bc3606eb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8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8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8" name="Google Shape;18;p2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2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30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30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3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3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3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3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31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31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3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3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3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32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32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32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32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32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3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3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3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3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3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3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3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3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5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35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35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2" name="Google Shape;62;p3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3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3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6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36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36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9" name="Google Shape;69;p3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3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3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37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3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3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8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38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3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3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3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2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2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2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2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9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2.png"/><Relationship Id="rId4" Type="http://schemas.openxmlformats.org/officeDocument/2006/relationships/image" Target="../media/image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2.png"/><Relationship Id="rId4" Type="http://schemas.openxmlformats.org/officeDocument/2006/relationships/image" Target="../media/image3.png"/><Relationship Id="rId5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0.jpg"/><Relationship Id="rId4" Type="http://schemas.openxmlformats.org/officeDocument/2006/relationships/image" Target="../media/image6.png"/><Relationship Id="rId5" Type="http://schemas.openxmlformats.org/officeDocument/2006/relationships/image" Target="../media/image11.png"/><Relationship Id="rId6" Type="http://schemas.openxmlformats.org/officeDocument/2006/relationships/image" Target="../media/image7.png"/><Relationship Id="rId7" Type="http://schemas.openxmlformats.org/officeDocument/2006/relationships/image" Target="../media/image5.png"/><Relationship Id="rId8" Type="http://schemas.openxmlformats.org/officeDocument/2006/relationships/image" Target="../media/image9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picture containing graphical user interface, text&#10;&#10;Description automatically generated" id="88" name="Google Shape;88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59675" y="1609100"/>
            <a:ext cx="2072525" cy="530449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"/>
          <p:cNvSpPr txBox="1"/>
          <p:nvPr/>
        </p:nvSpPr>
        <p:spPr>
          <a:xfrm>
            <a:off x="0" y="2219225"/>
            <a:ext cx="12192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Arial"/>
              <a:buNone/>
            </a:pPr>
            <a:r>
              <a:rPr b="1" lang="en-US" sz="3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Konsep Sistem dan Sistem Informasi</a:t>
            </a:r>
            <a:endParaRPr b="0" i="0" sz="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1"/>
          <p:cNvSpPr txBox="1"/>
          <p:nvPr/>
        </p:nvSpPr>
        <p:spPr>
          <a:xfrm>
            <a:off x="-50" y="3512850"/>
            <a:ext cx="121920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3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www.itts.ac.id</a:t>
            </a:r>
            <a:endParaRPr b="0" i="0" sz="13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"/>
          <p:cNvSpPr txBox="1"/>
          <p:nvPr/>
        </p:nvSpPr>
        <p:spPr>
          <a:xfrm>
            <a:off x="7780175" y="1847050"/>
            <a:ext cx="40557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1" lang="en-US" sz="13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Pusat Teknologi Nasional Berkelas Dunia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Text&#10;&#10;Description automatically generated" id="96" name="Google Shape;96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6109" y="209804"/>
            <a:ext cx="2923540" cy="748241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2"/>
          <p:cNvSpPr txBox="1"/>
          <p:nvPr/>
        </p:nvSpPr>
        <p:spPr>
          <a:xfrm>
            <a:off x="7714903" y="399250"/>
            <a:ext cx="4121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>
                <a:solidFill>
                  <a:srgbClr val="1B3564"/>
                </a:solidFill>
                <a:latin typeface="Calibri"/>
                <a:ea typeface="Calibri"/>
                <a:cs typeface="Calibri"/>
                <a:sym typeface="Calibri"/>
              </a:rPr>
              <a:t>Irwan Siswanto, M.Kom.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2"/>
          <p:cNvSpPr/>
          <p:nvPr/>
        </p:nvSpPr>
        <p:spPr>
          <a:xfrm>
            <a:off x="356108" y="6182975"/>
            <a:ext cx="10794491" cy="465221"/>
          </a:xfrm>
          <a:prstGeom prst="rect">
            <a:avLst/>
          </a:prstGeom>
          <a:solidFill>
            <a:srgbClr val="02CCC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2"/>
          <p:cNvSpPr/>
          <p:nvPr/>
        </p:nvSpPr>
        <p:spPr>
          <a:xfrm>
            <a:off x="11245515" y="6176749"/>
            <a:ext cx="590375" cy="465221"/>
          </a:xfrm>
          <a:prstGeom prst="rect">
            <a:avLst/>
          </a:prstGeom>
          <a:solidFill>
            <a:srgbClr val="1B356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2"/>
          <p:cNvSpPr txBox="1"/>
          <p:nvPr/>
        </p:nvSpPr>
        <p:spPr>
          <a:xfrm>
            <a:off x="491574" y="6224700"/>
            <a:ext cx="5100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i="1"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Konsep Sistem Informasi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2"/>
          <p:cNvSpPr txBox="1"/>
          <p:nvPr>
            <p:ph idx="12" type="sldNum"/>
          </p:nvPr>
        </p:nvSpPr>
        <p:spPr>
          <a:xfrm>
            <a:off x="8957224" y="6224693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US" sz="1800">
                <a:solidFill>
                  <a:schemeClr val="lt1"/>
                </a:solidFill>
              </a:rPr>
              <a:t>‹#›</a:t>
            </a:fld>
            <a:endParaRPr sz="1800">
              <a:solidFill>
                <a:schemeClr val="lt1"/>
              </a:solidFill>
            </a:endParaRPr>
          </a:p>
        </p:txBody>
      </p:sp>
      <p:sp>
        <p:nvSpPr>
          <p:cNvPr id="102" name="Google Shape;102;p2"/>
          <p:cNvSpPr/>
          <p:nvPr/>
        </p:nvSpPr>
        <p:spPr>
          <a:xfrm>
            <a:off x="5393267" y="2455333"/>
            <a:ext cx="1405466" cy="1405466"/>
          </a:xfrm>
          <a:prstGeom prst="ellipse">
            <a:avLst/>
          </a:prstGeom>
          <a:solidFill>
            <a:srgbClr val="1B356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2"/>
          <p:cNvSpPr txBox="1"/>
          <p:nvPr/>
        </p:nvSpPr>
        <p:spPr>
          <a:xfrm>
            <a:off x="4827351" y="1303867"/>
            <a:ext cx="253729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Selamat Datang</a:t>
            </a:r>
            <a:endParaRPr b="1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2"/>
          <p:cNvSpPr/>
          <p:nvPr/>
        </p:nvSpPr>
        <p:spPr>
          <a:xfrm>
            <a:off x="5757068" y="1913799"/>
            <a:ext cx="677864" cy="96305"/>
          </a:xfrm>
          <a:prstGeom prst="rect">
            <a:avLst/>
          </a:prstGeom>
          <a:solidFill>
            <a:srgbClr val="019C9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2"/>
          <p:cNvSpPr txBox="1"/>
          <p:nvPr/>
        </p:nvSpPr>
        <p:spPr>
          <a:xfrm>
            <a:off x="4163025" y="4147625"/>
            <a:ext cx="3942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en-US" sz="1800">
                <a:solidFill>
                  <a:srgbClr val="008789"/>
                </a:solidFill>
                <a:latin typeface="Calibri"/>
                <a:ea typeface="Calibri"/>
                <a:cs typeface="Calibri"/>
                <a:sym typeface="Calibri"/>
              </a:rPr>
              <a:t>Irwan Siswanto, M.Kom.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6" name="Google Shape;106;p2" title="IMG_3752.png"/>
          <p:cNvPicPr preferRelativeResize="0"/>
          <p:nvPr/>
        </p:nvPicPr>
        <p:blipFill rotWithShape="1">
          <a:blip r:embed="rId4">
            <a:alphaModFix/>
          </a:blip>
          <a:srcRect b="25987" l="8033" r="13896" t="16366"/>
          <a:stretch/>
        </p:blipFill>
        <p:spPr>
          <a:xfrm>
            <a:off x="5378700" y="2455329"/>
            <a:ext cx="1434600" cy="1451400"/>
          </a:xfrm>
          <a:prstGeom prst="ellipse">
            <a:avLst/>
          </a:prstGeom>
          <a:solidFill>
            <a:srgbClr val="1B3564"/>
          </a:solidFill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Text&#10;&#10;Description automatically generated" id="111" name="Google Shape;111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6109" y="209804"/>
            <a:ext cx="2923540" cy="748241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3"/>
          <p:cNvSpPr/>
          <p:nvPr/>
        </p:nvSpPr>
        <p:spPr>
          <a:xfrm>
            <a:off x="356108" y="6182975"/>
            <a:ext cx="10794491" cy="465221"/>
          </a:xfrm>
          <a:prstGeom prst="rect">
            <a:avLst/>
          </a:prstGeom>
          <a:solidFill>
            <a:srgbClr val="02CCC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3"/>
          <p:cNvSpPr/>
          <p:nvPr/>
        </p:nvSpPr>
        <p:spPr>
          <a:xfrm>
            <a:off x="11245515" y="6176749"/>
            <a:ext cx="590375" cy="465221"/>
          </a:xfrm>
          <a:prstGeom prst="rect">
            <a:avLst/>
          </a:prstGeom>
          <a:solidFill>
            <a:srgbClr val="1B356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3"/>
          <p:cNvSpPr txBox="1"/>
          <p:nvPr>
            <p:ph idx="12" type="sldNum"/>
          </p:nvPr>
        </p:nvSpPr>
        <p:spPr>
          <a:xfrm>
            <a:off x="8957224" y="6224693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US" sz="1800">
                <a:solidFill>
                  <a:schemeClr val="lt1"/>
                </a:solidFill>
              </a:rPr>
              <a:t>‹#›</a:t>
            </a:fld>
            <a:endParaRPr sz="1800">
              <a:solidFill>
                <a:schemeClr val="lt1"/>
              </a:solidFill>
            </a:endParaRPr>
          </a:p>
        </p:txBody>
      </p:sp>
      <p:sp>
        <p:nvSpPr>
          <p:cNvPr id="115" name="Google Shape;115;p3"/>
          <p:cNvSpPr/>
          <p:nvPr/>
        </p:nvSpPr>
        <p:spPr>
          <a:xfrm>
            <a:off x="356108" y="2790761"/>
            <a:ext cx="5739892" cy="2867187"/>
          </a:xfrm>
          <a:prstGeom prst="rect">
            <a:avLst/>
          </a:prstGeom>
          <a:solidFill>
            <a:srgbClr val="1B356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3"/>
          <p:cNvSpPr txBox="1"/>
          <p:nvPr/>
        </p:nvSpPr>
        <p:spPr>
          <a:xfrm>
            <a:off x="356108" y="1347171"/>
            <a:ext cx="3441007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lang="en-US" sz="4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Pendahuluan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3"/>
          <p:cNvSpPr/>
          <p:nvPr/>
        </p:nvSpPr>
        <p:spPr>
          <a:xfrm>
            <a:off x="356109" y="2265735"/>
            <a:ext cx="1041512" cy="83456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3"/>
          <p:cNvSpPr/>
          <p:nvPr/>
        </p:nvSpPr>
        <p:spPr>
          <a:xfrm>
            <a:off x="6096000" y="1347171"/>
            <a:ext cx="5739890" cy="1443590"/>
          </a:xfrm>
          <a:prstGeom prst="rect">
            <a:avLst/>
          </a:prstGeom>
          <a:solidFill>
            <a:srgbClr val="02CCC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3"/>
          <p:cNvSpPr txBox="1"/>
          <p:nvPr/>
        </p:nvSpPr>
        <p:spPr>
          <a:xfrm>
            <a:off x="6515100" y="3128962"/>
            <a:ext cx="5320800" cy="230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chemeClr val="dk1"/>
                </a:solidFill>
              </a:rPr>
              <a:t>Dalam kehidupan sehari-hari, kita selalu berinteraksi dengan berbagai </a:t>
            </a:r>
            <a:r>
              <a:rPr b="1" lang="en-US" sz="1600">
                <a:solidFill>
                  <a:schemeClr val="dk1"/>
                </a:solidFill>
              </a:rPr>
              <a:t>sistem</a:t>
            </a:r>
            <a:r>
              <a:rPr lang="en-US" sz="1600">
                <a:solidFill>
                  <a:schemeClr val="dk1"/>
                </a:solidFill>
              </a:rPr>
              <a:t>, baik sistem alami maupun buatan manusia. Misalnya: sistem pernapasan, sistem transportasi, sistem akademik, hingga sistem informasi kampus.</a:t>
            </a:r>
            <a:endParaRPr sz="1600">
              <a:solidFill>
                <a:schemeClr val="dk1"/>
              </a:solidFill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600">
                <a:solidFill>
                  <a:schemeClr val="dk1"/>
                </a:solidFill>
              </a:rPr>
              <a:t>Untuk memahami </a:t>
            </a:r>
            <a:r>
              <a:rPr b="1" lang="en-US" sz="1600">
                <a:solidFill>
                  <a:schemeClr val="dk1"/>
                </a:solidFill>
              </a:rPr>
              <a:t>Sistem Informasi</a:t>
            </a:r>
            <a:r>
              <a:rPr lang="en-US" sz="1600">
                <a:solidFill>
                  <a:schemeClr val="dk1"/>
                </a:solidFill>
              </a:rPr>
              <a:t>, mahasiswa perlu memahami terlebih dahulu </a:t>
            </a:r>
            <a:r>
              <a:rPr b="1" lang="en-US" sz="1600">
                <a:solidFill>
                  <a:schemeClr val="dk1"/>
                </a:solidFill>
              </a:rPr>
              <a:t>apa itu sistem</a:t>
            </a:r>
            <a:r>
              <a:rPr lang="en-US" sz="1600">
                <a:solidFill>
                  <a:schemeClr val="dk1"/>
                </a:solidFill>
              </a:rPr>
              <a:t>, karena sistem informasi hanyalah salah satu bentuk sistem yang fokus pada pengelolaan </a:t>
            </a:r>
            <a:r>
              <a:rPr b="1" lang="en-US" sz="1600">
                <a:solidFill>
                  <a:schemeClr val="dk1"/>
                </a:solidFill>
              </a:rPr>
              <a:t>data dan informasi</a:t>
            </a:r>
            <a:r>
              <a:rPr lang="en-US" sz="1600">
                <a:solidFill>
                  <a:schemeClr val="dk1"/>
                </a:solidFill>
              </a:rPr>
              <a:t>.</a:t>
            </a:r>
            <a:endParaRPr sz="2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3"/>
          <p:cNvSpPr txBox="1"/>
          <p:nvPr/>
        </p:nvSpPr>
        <p:spPr>
          <a:xfrm>
            <a:off x="6329576" y="1715023"/>
            <a:ext cx="5370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3"/>
          <p:cNvSpPr txBox="1"/>
          <p:nvPr/>
        </p:nvSpPr>
        <p:spPr>
          <a:xfrm>
            <a:off x="491574" y="6224700"/>
            <a:ext cx="5100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i="1"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Konsep Sistem Informasi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2" name="Google Shape;122;p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45613" y="2790750"/>
            <a:ext cx="2150386" cy="2867201"/>
          </a:xfrm>
          <a:prstGeom prst="rect">
            <a:avLst/>
          </a:prstGeom>
          <a:solidFill>
            <a:srgbClr val="1B3564"/>
          </a:solidFill>
          <a:ln>
            <a:noFill/>
          </a:ln>
        </p:spPr>
      </p:pic>
      <p:pic>
        <p:nvPicPr>
          <p:cNvPr id="123" name="Google Shape;123;p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701998" y="2790762"/>
            <a:ext cx="2150375" cy="286718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Text&#10;&#10;Description automatically generated" id="128" name="Google Shape;128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6109" y="209804"/>
            <a:ext cx="2923540" cy="748241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4"/>
          <p:cNvSpPr/>
          <p:nvPr/>
        </p:nvSpPr>
        <p:spPr>
          <a:xfrm>
            <a:off x="356108" y="6182975"/>
            <a:ext cx="10794491" cy="465221"/>
          </a:xfrm>
          <a:prstGeom prst="rect">
            <a:avLst/>
          </a:prstGeom>
          <a:solidFill>
            <a:srgbClr val="02CCC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4"/>
          <p:cNvSpPr/>
          <p:nvPr/>
        </p:nvSpPr>
        <p:spPr>
          <a:xfrm>
            <a:off x="11245515" y="6176749"/>
            <a:ext cx="590375" cy="465221"/>
          </a:xfrm>
          <a:prstGeom prst="rect">
            <a:avLst/>
          </a:prstGeom>
          <a:solidFill>
            <a:srgbClr val="1B356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4"/>
          <p:cNvSpPr txBox="1"/>
          <p:nvPr>
            <p:ph idx="12" type="sldNum"/>
          </p:nvPr>
        </p:nvSpPr>
        <p:spPr>
          <a:xfrm>
            <a:off x="8957224" y="6224693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US" sz="1800">
                <a:solidFill>
                  <a:schemeClr val="lt1"/>
                </a:solidFill>
              </a:rPr>
              <a:t>‹#›</a:t>
            </a:fld>
            <a:endParaRPr sz="1800">
              <a:solidFill>
                <a:schemeClr val="lt1"/>
              </a:solidFill>
            </a:endParaRPr>
          </a:p>
        </p:txBody>
      </p:sp>
      <p:sp>
        <p:nvSpPr>
          <p:cNvPr id="132" name="Google Shape;132;p4"/>
          <p:cNvSpPr txBox="1"/>
          <p:nvPr/>
        </p:nvSpPr>
        <p:spPr>
          <a:xfrm>
            <a:off x="356098" y="1347175"/>
            <a:ext cx="51114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lang="en-US" sz="4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Pengertian Sistem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4"/>
          <p:cNvSpPr/>
          <p:nvPr/>
        </p:nvSpPr>
        <p:spPr>
          <a:xfrm>
            <a:off x="356109" y="2265735"/>
            <a:ext cx="1041512" cy="83456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4"/>
          <p:cNvSpPr txBox="1"/>
          <p:nvPr/>
        </p:nvSpPr>
        <p:spPr>
          <a:xfrm>
            <a:off x="356100" y="2749525"/>
            <a:ext cx="11272800" cy="32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100">
                <a:solidFill>
                  <a:schemeClr val="dk1"/>
                </a:solidFill>
              </a:rPr>
              <a:t>Definisi Umum</a:t>
            </a:r>
            <a:endParaRPr b="1" sz="2100"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900">
                <a:solidFill>
                  <a:schemeClr val="dk1"/>
                </a:solidFill>
              </a:rPr>
              <a:t>Sistem adalah </a:t>
            </a:r>
            <a:r>
              <a:rPr b="1" lang="en-US" sz="1900">
                <a:solidFill>
                  <a:schemeClr val="dk1"/>
                </a:solidFill>
              </a:rPr>
              <a:t>sekumpulan elemen yang saling berinteraksi dan bekerja sama untuk mencapai tujuan tertentu</a:t>
            </a:r>
            <a:r>
              <a:rPr lang="en-US" sz="1900">
                <a:solidFill>
                  <a:schemeClr val="dk1"/>
                </a:solidFill>
              </a:rPr>
              <a:t>.</a:t>
            </a:r>
            <a:br>
              <a:rPr lang="en-US" sz="1900">
                <a:solidFill>
                  <a:schemeClr val="dk1"/>
                </a:solidFill>
              </a:rPr>
            </a:br>
            <a:r>
              <a:rPr lang="en-US" sz="1900">
                <a:solidFill>
                  <a:schemeClr val="dk1"/>
                </a:solidFill>
              </a:rPr>
              <a:t>Menurut </a:t>
            </a:r>
            <a:r>
              <a:rPr i="1" lang="en-US" sz="1900">
                <a:solidFill>
                  <a:schemeClr val="dk1"/>
                </a:solidFill>
              </a:rPr>
              <a:t>Ludwig von Bertalanffy</a:t>
            </a:r>
            <a:r>
              <a:rPr lang="en-US" sz="1900">
                <a:solidFill>
                  <a:schemeClr val="dk1"/>
                </a:solidFill>
              </a:rPr>
              <a:t> (1950), </a:t>
            </a:r>
            <a:r>
              <a:rPr i="1" lang="en-US" sz="1900">
                <a:solidFill>
                  <a:schemeClr val="dk1"/>
                </a:solidFill>
              </a:rPr>
              <a:t>sistem merupakan suatu keseluruhan yang kompleks, di mana bagian-bagiannya saling bergantung dan membentuk suatu kesatuan yang terorganisir.</a:t>
            </a:r>
            <a:endParaRPr i="1" sz="1900">
              <a:solidFill>
                <a:schemeClr val="dk1"/>
              </a:solidFill>
            </a:endParaRPr>
          </a:p>
          <a:p>
            <a:pPr indent="0" lvl="0" marL="0" marR="3810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-US" sz="1900">
                <a:solidFill>
                  <a:schemeClr val="dk1"/>
                </a:solidFill>
              </a:rPr>
              <a:t>Contoh:</a:t>
            </a:r>
            <a:r>
              <a:rPr lang="en-US" sz="1900">
                <a:solidFill>
                  <a:schemeClr val="dk1"/>
                </a:solidFill>
              </a:rPr>
              <a:t> Sistem akademik kampus terdiri dari mahasiswa, dosen, kurikulum, jadwal, nilai, dan proses pembelajaran yang saling berhubungan untuk mencapai tujuan pendidikan.</a:t>
            </a:r>
            <a:endParaRPr sz="1900">
              <a:solidFill>
                <a:schemeClr val="dk1"/>
              </a:solidFill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sz="2100">
              <a:solidFill>
                <a:schemeClr val="dk1"/>
              </a:solidFill>
            </a:endParaRPr>
          </a:p>
        </p:txBody>
      </p:sp>
      <p:sp>
        <p:nvSpPr>
          <p:cNvPr id="135" name="Google Shape;135;p4"/>
          <p:cNvSpPr txBox="1"/>
          <p:nvPr/>
        </p:nvSpPr>
        <p:spPr>
          <a:xfrm>
            <a:off x="6313996" y="1347171"/>
            <a:ext cx="5521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4"/>
          <p:cNvSpPr txBox="1"/>
          <p:nvPr/>
        </p:nvSpPr>
        <p:spPr>
          <a:xfrm>
            <a:off x="491574" y="6224700"/>
            <a:ext cx="5100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i="1"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Konsep Sistem Informasi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Text&#10;&#10;Description automatically generated" id="141" name="Google Shape;141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6109" y="209804"/>
            <a:ext cx="2923540" cy="748241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6"/>
          <p:cNvSpPr/>
          <p:nvPr/>
        </p:nvSpPr>
        <p:spPr>
          <a:xfrm>
            <a:off x="356108" y="6182975"/>
            <a:ext cx="10794491" cy="465221"/>
          </a:xfrm>
          <a:prstGeom prst="rect">
            <a:avLst/>
          </a:prstGeom>
          <a:solidFill>
            <a:srgbClr val="02CCC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6"/>
          <p:cNvSpPr/>
          <p:nvPr/>
        </p:nvSpPr>
        <p:spPr>
          <a:xfrm>
            <a:off x="11245515" y="6176749"/>
            <a:ext cx="590375" cy="465221"/>
          </a:xfrm>
          <a:prstGeom prst="rect">
            <a:avLst/>
          </a:prstGeom>
          <a:solidFill>
            <a:srgbClr val="1B356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6"/>
          <p:cNvSpPr txBox="1"/>
          <p:nvPr>
            <p:ph idx="12" type="sldNum"/>
          </p:nvPr>
        </p:nvSpPr>
        <p:spPr>
          <a:xfrm>
            <a:off x="8957224" y="6224693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US" sz="1800">
                <a:solidFill>
                  <a:schemeClr val="lt1"/>
                </a:solidFill>
              </a:rPr>
              <a:t>‹#›</a:t>
            </a:fld>
            <a:endParaRPr sz="1800">
              <a:solidFill>
                <a:schemeClr val="lt1"/>
              </a:solidFill>
            </a:endParaRPr>
          </a:p>
        </p:txBody>
      </p:sp>
      <p:sp>
        <p:nvSpPr>
          <p:cNvPr id="145" name="Google Shape;145;p6"/>
          <p:cNvSpPr txBox="1"/>
          <p:nvPr/>
        </p:nvSpPr>
        <p:spPr>
          <a:xfrm>
            <a:off x="2913500" y="1075700"/>
            <a:ext cx="6294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lang="en-US" sz="3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Elemen Utama Sistem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6"/>
          <p:cNvSpPr/>
          <p:nvPr/>
        </p:nvSpPr>
        <p:spPr>
          <a:xfrm>
            <a:off x="5575244" y="1994272"/>
            <a:ext cx="1041512" cy="83456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47" name="Google Shape;147;p6"/>
          <p:cNvGraphicFramePr/>
          <p:nvPr/>
        </p:nvGraphicFramePr>
        <p:xfrm>
          <a:off x="1014475" y="24606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{8DCFD42B-64C6-463B-99EA-4EB7C79C726D}</a:tableStyleId>
              </a:tblPr>
              <a:tblGrid>
                <a:gridCol w="1213925"/>
                <a:gridCol w="5079975"/>
                <a:gridCol w="3377850"/>
              </a:tblGrid>
              <a:tr h="3791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/>
                        <a:t>Elemen</a:t>
                      </a:r>
                      <a:endParaRPr b="1" sz="1100"/>
                    </a:p>
                  </a:txBody>
                  <a:tcPr marT="91425" marB="91425" marR="91425" marL="91425">
                    <a:solidFill>
                      <a:srgbClr val="02CC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/>
                        <a:t>Deskripsi</a:t>
                      </a:r>
                      <a:endParaRPr b="1" sz="1100"/>
                    </a:p>
                  </a:txBody>
                  <a:tcPr marT="91425" marB="91425" marR="91425" marL="91425">
                    <a:solidFill>
                      <a:srgbClr val="02CC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/>
                        <a:t>Contoh</a:t>
                      </a:r>
                      <a:endParaRPr b="1" sz="1100"/>
                    </a:p>
                  </a:txBody>
                  <a:tcPr marT="91425" marB="91425" marR="91425" marL="91425">
                    <a:solidFill>
                      <a:srgbClr val="02CCCD"/>
                    </a:solidFill>
                  </a:tcPr>
                </a:tc>
              </a:tr>
              <a:tr h="3984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/>
                        <a:t>Input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Sumber daya yang masuk ke dalam sistem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Data mahasiswa, data nilai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611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/>
                        <a:t>Proses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Aktivitas untuk mengubah input menjadi output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Pengolahan data nilai menjadi KHS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984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/>
                        <a:t>Output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Hasil yang dihasilkan dari proses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Laporan nilai, transkrip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984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/>
                        <a:t>Feedback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Informasi untuk perbaikan proses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Revisi nilai dari dosen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611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/>
                        <a:t>Control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Mekanisme pengendalian agar sistem berjalan sesuai tujuan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Validasi data, otorisasi akses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611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/>
                        <a:t>Environment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Lingkungan luar yang mempengaruhi sistem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Kebijakan kampus, regulasi pemerintah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48" name="Google Shape;148;p6"/>
          <p:cNvSpPr txBox="1"/>
          <p:nvPr/>
        </p:nvSpPr>
        <p:spPr>
          <a:xfrm>
            <a:off x="491574" y="6224700"/>
            <a:ext cx="5100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i="1"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Konsep Sistem Informasi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Text&#10;&#10;Description automatically generated" id="153" name="Google Shape;153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6109" y="209804"/>
            <a:ext cx="2923540" cy="748241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9"/>
          <p:cNvSpPr/>
          <p:nvPr/>
        </p:nvSpPr>
        <p:spPr>
          <a:xfrm>
            <a:off x="356108" y="6182975"/>
            <a:ext cx="10794491" cy="465221"/>
          </a:xfrm>
          <a:prstGeom prst="rect">
            <a:avLst/>
          </a:prstGeom>
          <a:solidFill>
            <a:srgbClr val="02CCC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9"/>
          <p:cNvSpPr/>
          <p:nvPr/>
        </p:nvSpPr>
        <p:spPr>
          <a:xfrm>
            <a:off x="11245515" y="6176749"/>
            <a:ext cx="590375" cy="465221"/>
          </a:xfrm>
          <a:prstGeom prst="rect">
            <a:avLst/>
          </a:prstGeom>
          <a:solidFill>
            <a:srgbClr val="1B356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9"/>
          <p:cNvSpPr txBox="1"/>
          <p:nvPr>
            <p:ph idx="12" type="sldNum"/>
          </p:nvPr>
        </p:nvSpPr>
        <p:spPr>
          <a:xfrm>
            <a:off x="8957224" y="6224693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US" sz="1800">
                <a:solidFill>
                  <a:schemeClr val="lt1"/>
                </a:solidFill>
              </a:rPr>
              <a:t>‹#›</a:t>
            </a:fld>
            <a:endParaRPr sz="1800">
              <a:solidFill>
                <a:schemeClr val="lt1"/>
              </a:solidFill>
            </a:endParaRPr>
          </a:p>
        </p:txBody>
      </p:sp>
      <p:sp>
        <p:nvSpPr>
          <p:cNvPr id="157" name="Google Shape;157;p9"/>
          <p:cNvSpPr txBox="1"/>
          <p:nvPr/>
        </p:nvSpPr>
        <p:spPr>
          <a:xfrm>
            <a:off x="3145674" y="2565575"/>
            <a:ext cx="2419500" cy="3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32975" lIns="65950" spcFirstLastPara="1" rIns="65950" wrap="square" tIns="329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38"/>
              <a:buFont typeface="Arial"/>
              <a:buNone/>
            </a:pPr>
            <a:r>
              <a:rPr lang="en-US" sz="938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Setiap sistem diciptakan untuk mencapai hasil tertentu.</a:t>
            </a:r>
            <a:endParaRPr b="0" i="0" sz="93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9"/>
          <p:cNvSpPr/>
          <p:nvPr/>
        </p:nvSpPr>
        <p:spPr>
          <a:xfrm>
            <a:off x="3189195" y="3403972"/>
            <a:ext cx="1026300" cy="1027200"/>
          </a:xfrm>
          <a:prstGeom prst="ellipse">
            <a:avLst/>
          </a:prstGeom>
          <a:solidFill>
            <a:srgbClr val="008789"/>
          </a:solidFill>
          <a:ln>
            <a:noFill/>
          </a:ln>
        </p:spPr>
        <p:txBody>
          <a:bodyPr anchorCtr="0" anchor="t" bIns="32975" lIns="65950" spcFirstLastPara="1" rIns="65950" wrap="square" tIns="329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99"/>
              <a:buFont typeface="Arial"/>
              <a:buNone/>
            </a:pPr>
            <a:r>
              <a:t/>
            </a:r>
            <a:endParaRPr b="0" i="0" sz="129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9"/>
          <p:cNvSpPr/>
          <p:nvPr/>
        </p:nvSpPr>
        <p:spPr>
          <a:xfrm>
            <a:off x="4562335" y="3403972"/>
            <a:ext cx="1023900" cy="1027200"/>
          </a:xfrm>
          <a:prstGeom prst="ellipse">
            <a:avLst/>
          </a:prstGeom>
          <a:solidFill>
            <a:srgbClr val="1B3564"/>
          </a:solidFill>
          <a:ln>
            <a:noFill/>
          </a:ln>
        </p:spPr>
        <p:txBody>
          <a:bodyPr anchorCtr="0" anchor="t" bIns="32975" lIns="65950" spcFirstLastPara="1" rIns="65950" wrap="square" tIns="329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99"/>
              <a:buFont typeface="Arial"/>
              <a:buNone/>
            </a:pPr>
            <a:r>
              <a:t/>
            </a:r>
            <a:endParaRPr b="0" i="0" sz="129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9"/>
          <p:cNvSpPr/>
          <p:nvPr/>
        </p:nvSpPr>
        <p:spPr>
          <a:xfrm>
            <a:off x="5935474" y="3403972"/>
            <a:ext cx="1023900" cy="1027200"/>
          </a:xfrm>
          <a:prstGeom prst="ellipse">
            <a:avLst/>
          </a:prstGeom>
          <a:solidFill>
            <a:srgbClr val="019C9E"/>
          </a:solidFill>
          <a:ln>
            <a:noFill/>
          </a:ln>
        </p:spPr>
        <p:txBody>
          <a:bodyPr anchorCtr="0" anchor="t" bIns="32975" lIns="65950" spcFirstLastPara="1" rIns="65950" wrap="square" tIns="329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99"/>
              <a:buFont typeface="Arial"/>
              <a:buNone/>
            </a:pPr>
            <a:r>
              <a:t/>
            </a:r>
            <a:endParaRPr b="0" i="0" sz="129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9"/>
          <p:cNvSpPr/>
          <p:nvPr/>
        </p:nvSpPr>
        <p:spPr>
          <a:xfrm>
            <a:off x="7309759" y="3403972"/>
            <a:ext cx="1023900" cy="1027200"/>
          </a:xfrm>
          <a:prstGeom prst="ellipse">
            <a:avLst/>
          </a:prstGeom>
          <a:solidFill>
            <a:srgbClr val="1B3564"/>
          </a:solidFill>
          <a:ln>
            <a:noFill/>
          </a:ln>
        </p:spPr>
        <p:txBody>
          <a:bodyPr anchorCtr="0" anchor="t" bIns="32975" lIns="65950" spcFirstLastPara="1" rIns="65950" wrap="square" tIns="329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99"/>
              <a:buFont typeface="Arial"/>
              <a:buNone/>
            </a:pPr>
            <a:r>
              <a:t/>
            </a:r>
            <a:endParaRPr b="0" i="0" sz="129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9"/>
          <p:cNvSpPr/>
          <p:nvPr/>
        </p:nvSpPr>
        <p:spPr>
          <a:xfrm>
            <a:off x="8682899" y="3403972"/>
            <a:ext cx="1023900" cy="1027200"/>
          </a:xfrm>
          <a:prstGeom prst="ellipse">
            <a:avLst/>
          </a:prstGeom>
          <a:solidFill>
            <a:srgbClr val="02CCCD"/>
          </a:solidFill>
          <a:ln>
            <a:noFill/>
          </a:ln>
        </p:spPr>
        <p:txBody>
          <a:bodyPr anchorCtr="0" anchor="t" bIns="32975" lIns="65950" spcFirstLastPara="1" rIns="65950" wrap="square" tIns="329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99"/>
              <a:buFont typeface="Arial"/>
              <a:buNone/>
            </a:pPr>
            <a:r>
              <a:t/>
            </a:r>
            <a:endParaRPr b="0" i="0" sz="129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9"/>
          <p:cNvSpPr/>
          <p:nvPr/>
        </p:nvSpPr>
        <p:spPr>
          <a:xfrm>
            <a:off x="10053747" y="3403972"/>
            <a:ext cx="1026300" cy="1027200"/>
          </a:xfrm>
          <a:prstGeom prst="ellipse">
            <a:avLst/>
          </a:prstGeom>
          <a:solidFill>
            <a:srgbClr val="1B3564"/>
          </a:solidFill>
          <a:ln>
            <a:noFill/>
          </a:ln>
        </p:spPr>
        <p:txBody>
          <a:bodyPr anchorCtr="0" anchor="t" bIns="32975" lIns="65950" spcFirstLastPara="1" rIns="65950" wrap="square" tIns="329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99"/>
              <a:buFont typeface="Arial"/>
              <a:buNone/>
            </a:pPr>
            <a:r>
              <a:t/>
            </a:r>
            <a:endParaRPr b="0" i="0" sz="129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9"/>
          <p:cNvSpPr/>
          <p:nvPr/>
        </p:nvSpPr>
        <p:spPr>
          <a:xfrm>
            <a:off x="4217618" y="3721206"/>
            <a:ext cx="340136" cy="391676"/>
          </a:xfrm>
          <a:custGeom>
            <a:rect b="b" l="l" r="r" t="t"/>
            <a:pathLst>
              <a:path extrusionOk="0" h="158" w="137">
                <a:moveTo>
                  <a:pt x="123" y="79"/>
                </a:moveTo>
                <a:cubicBezTo>
                  <a:pt x="123" y="51"/>
                  <a:pt x="128" y="25"/>
                  <a:pt x="137" y="0"/>
                </a:cubicBezTo>
                <a:cubicBezTo>
                  <a:pt x="94" y="32"/>
                  <a:pt x="44" y="32"/>
                  <a:pt x="0" y="0"/>
                </a:cubicBezTo>
                <a:cubicBezTo>
                  <a:pt x="10" y="25"/>
                  <a:pt x="15" y="51"/>
                  <a:pt x="15" y="79"/>
                </a:cubicBezTo>
                <a:cubicBezTo>
                  <a:pt x="15" y="107"/>
                  <a:pt x="10" y="133"/>
                  <a:pt x="0" y="158"/>
                </a:cubicBezTo>
                <a:cubicBezTo>
                  <a:pt x="44" y="126"/>
                  <a:pt x="94" y="126"/>
                  <a:pt x="137" y="158"/>
                </a:cubicBezTo>
                <a:cubicBezTo>
                  <a:pt x="128" y="133"/>
                  <a:pt x="123" y="107"/>
                  <a:pt x="123" y="79"/>
                </a:cubicBezTo>
                <a:close/>
              </a:path>
            </a:pathLst>
          </a:custGeom>
          <a:solidFill>
            <a:srgbClr val="008789">
              <a:alpha val="40000"/>
            </a:srgbClr>
          </a:solidFill>
          <a:ln>
            <a:noFill/>
          </a:ln>
        </p:spPr>
        <p:txBody>
          <a:bodyPr anchorCtr="0" anchor="t" bIns="32975" lIns="65950" spcFirstLastPara="1" rIns="65950" wrap="square" tIns="329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99"/>
              <a:buFont typeface="Arial"/>
              <a:buNone/>
            </a:pPr>
            <a:r>
              <a:t/>
            </a:r>
            <a:endParaRPr b="0" i="0" sz="129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9"/>
          <p:cNvSpPr/>
          <p:nvPr/>
        </p:nvSpPr>
        <p:spPr>
          <a:xfrm>
            <a:off x="5590758" y="3721206"/>
            <a:ext cx="340135" cy="391676"/>
          </a:xfrm>
          <a:custGeom>
            <a:rect b="b" l="l" r="r" t="t"/>
            <a:pathLst>
              <a:path extrusionOk="0" h="158" w="137">
                <a:moveTo>
                  <a:pt x="122" y="79"/>
                </a:moveTo>
                <a:cubicBezTo>
                  <a:pt x="122" y="51"/>
                  <a:pt x="128" y="25"/>
                  <a:pt x="137" y="0"/>
                </a:cubicBezTo>
                <a:cubicBezTo>
                  <a:pt x="93" y="32"/>
                  <a:pt x="44" y="32"/>
                  <a:pt x="0" y="0"/>
                </a:cubicBezTo>
                <a:cubicBezTo>
                  <a:pt x="10" y="25"/>
                  <a:pt x="15" y="51"/>
                  <a:pt x="15" y="79"/>
                </a:cubicBezTo>
                <a:cubicBezTo>
                  <a:pt x="15" y="107"/>
                  <a:pt x="10" y="133"/>
                  <a:pt x="0" y="158"/>
                </a:cubicBezTo>
                <a:cubicBezTo>
                  <a:pt x="44" y="126"/>
                  <a:pt x="93" y="126"/>
                  <a:pt x="137" y="158"/>
                </a:cubicBezTo>
                <a:cubicBezTo>
                  <a:pt x="128" y="133"/>
                  <a:pt x="122" y="107"/>
                  <a:pt x="122" y="79"/>
                </a:cubicBezTo>
                <a:close/>
              </a:path>
            </a:pathLst>
          </a:custGeom>
          <a:solidFill>
            <a:srgbClr val="008789">
              <a:alpha val="40000"/>
            </a:srgbClr>
          </a:solidFill>
          <a:ln>
            <a:noFill/>
          </a:ln>
        </p:spPr>
        <p:txBody>
          <a:bodyPr anchorCtr="0" anchor="t" bIns="32975" lIns="65950" spcFirstLastPara="1" rIns="65950" wrap="square" tIns="329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99"/>
              <a:buFont typeface="Arial"/>
              <a:buNone/>
            </a:pPr>
            <a:r>
              <a:t/>
            </a:r>
            <a:endParaRPr b="0" i="0" sz="129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9"/>
          <p:cNvSpPr/>
          <p:nvPr/>
        </p:nvSpPr>
        <p:spPr>
          <a:xfrm>
            <a:off x="6965043" y="3721206"/>
            <a:ext cx="338990" cy="391676"/>
          </a:xfrm>
          <a:custGeom>
            <a:rect b="b" l="l" r="r" t="t"/>
            <a:pathLst>
              <a:path extrusionOk="0" h="158" w="137">
                <a:moveTo>
                  <a:pt x="122" y="79"/>
                </a:moveTo>
                <a:cubicBezTo>
                  <a:pt x="122" y="51"/>
                  <a:pt x="128" y="25"/>
                  <a:pt x="137" y="0"/>
                </a:cubicBezTo>
                <a:cubicBezTo>
                  <a:pt x="93" y="32"/>
                  <a:pt x="44" y="32"/>
                  <a:pt x="0" y="0"/>
                </a:cubicBezTo>
                <a:cubicBezTo>
                  <a:pt x="9" y="25"/>
                  <a:pt x="15" y="51"/>
                  <a:pt x="15" y="79"/>
                </a:cubicBezTo>
                <a:cubicBezTo>
                  <a:pt x="15" y="107"/>
                  <a:pt x="9" y="133"/>
                  <a:pt x="0" y="158"/>
                </a:cubicBezTo>
                <a:cubicBezTo>
                  <a:pt x="44" y="126"/>
                  <a:pt x="93" y="126"/>
                  <a:pt x="137" y="158"/>
                </a:cubicBezTo>
                <a:cubicBezTo>
                  <a:pt x="128" y="133"/>
                  <a:pt x="122" y="107"/>
                  <a:pt x="122" y="79"/>
                </a:cubicBezTo>
                <a:close/>
              </a:path>
            </a:pathLst>
          </a:custGeom>
          <a:solidFill>
            <a:srgbClr val="008789">
              <a:alpha val="40000"/>
            </a:srgbClr>
          </a:solidFill>
          <a:ln>
            <a:noFill/>
          </a:ln>
        </p:spPr>
        <p:txBody>
          <a:bodyPr anchorCtr="0" anchor="t" bIns="32975" lIns="65950" spcFirstLastPara="1" rIns="65950" wrap="square" tIns="329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99"/>
              <a:buFont typeface="Arial"/>
              <a:buNone/>
            </a:pPr>
            <a:r>
              <a:t/>
            </a:r>
            <a:endParaRPr b="0" i="0" sz="129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9"/>
          <p:cNvSpPr/>
          <p:nvPr/>
        </p:nvSpPr>
        <p:spPr>
          <a:xfrm>
            <a:off x="8338182" y="3721206"/>
            <a:ext cx="338990" cy="391676"/>
          </a:xfrm>
          <a:custGeom>
            <a:rect b="b" l="l" r="r" t="t"/>
            <a:pathLst>
              <a:path extrusionOk="0" h="158" w="137">
                <a:moveTo>
                  <a:pt x="122" y="79"/>
                </a:moveTo>
                <a:cubicBezTo>
                  <a:pt x="122" y="51"/>
                  <a:pt x="127" y="25"/>
                  <a:pt x="137" y="0"/>
                </a:cubicBezTo>
                <a:cubicBezTo>
                  <a:pt x="93" y="32"/>
                  <a:pt x="44" y="32"/>
                  <a:pt x="0" y="0"/>
                </a:cubicBezTo>
                <a:cubicBezTo>
                  <a:pt x="9" y="25"/>
                  <a:pt x="14" y="51"/>
                  <a:pt x="14" y="79"/>
                </a:cubicBezTo>
                <a:cubicBezTo>
                  <a:pt x="14" y="107"/>
                  <a:pt x="9" y="133"/>
                  <a:pt x="0" y="158"/>
                </a:cubicBezTo>
                <a:cubicBezTo>
                  <a:pt x="44" y="126"/>
                  <a:pt x="93" y="126"/>
                  <a:pt x="137" y="158"/>
                </a:cubicBezTo>
                <a:cubicBezTo>
                  <a:pt x="127" y="133"/>
                  <a:pt x="122" y="107"/>
                  <a:pt x="122" y="79"/>
                </a:cubicBezTo>
                <a:close/>
              </a:path>
            </a:pathLst>
          </a:custGeom>
          <a:solidFill>
            <a:srgbClr val="008789">
              <a:alpha val="40000"/>
            </a:srgbClr>
          </a:solidFill>
          <a:ln>
            <a:noFill/>
          </a:ln>
        </p:spPr>
        <p:txBody>
          <a:bodyPr anchorCtr="0" anchor="t" bIns="32975" lIns="65950" spcFirstLastPara="1" rIns="65950" wrap="square" tIns="329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99"/>
              <a:buFont typeface="Arial"/>
              <a:buNone/>
            </a:pPr>
            <a:r>
              <a:t/>
            </a:r>
            <a:endParaRPr b="0" i="0" sz="129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9"/>
          <p:cNvSpPr/>
          <p:nvPr/>
        </p:nvSpPr>
        <p:spPr>
          <a:xfrm>
            <a:off x="9711322" y="3721206"/>
            <a:ext cx="340135" cy="391676"/>
          </a:xfrm>
          <a:custGeom>
            <a:rect b="b" l="l" r="r" t="t"/>
            <a:pathLst>
              <a:path extrusionOk="0" h="158" w="137">
                <a:moveTo>
                  <a:pt x="122" y="79"/>
                </a:moveTo>
                <a:cubicBezTo>
                  <a:pt x="122" y="51"/>
                  <a:pt x="127" y="25"/>
                  <a:pt x="137" y="0"/>
                </a:cubicBezTo>
                <a:cubicBezTo>
                  <a:pt x="93" y="32"/>
                  <a:pt x="43" y="32"/>
                  <a:pt x="0" y="0"/>
                </a:cubicBezTo>
                <a:cubicBezTo>
                  <a:pt x="9" y="25"/>
                  <a:pt x="14" y="51"/>
                  <a:pt x="14" y="79"/>
                </a:cubicBezTo>
                <a:cubicBezTo>
                  <a:pt x="14" y="107"/>
                  <a:pt x="9" y="133"/>
                  <a:pt x="0" y="158"/>
                </a:cubicBezTo>
                <a:cubicBezTo>
                  <a:pt x="43" y="126"/>
                  <a:pt x="93" y="126"/>
                  <a:pt x="137" y="158"/>
                </a:cubicBezTo>
                <a:cubicBezTo>
                  <a:pt x="127" y="133"/>
                  <a:pt x="122" y="107"/>
                  <a:pt x="122" y="79"/>
                </a:cubicBezTo>
                <a:close/>
              </a:path>
            </a:pathLst>
          </a:custGeom>
          <a:solidFill>
            <a:srgbClr val="008789">
              <a:alpha val="40000"/>
            </a:srgbClr>
          </a:solidFill>
          <a:ln>
            <a:noFill/>
          </a:ln>
        </p:spPr>
        <p:txBody>
          <a:bodyPr anchorCtr="0" anchor="t" bIns="32975" lIns="65950" spcFirstLastPara="1" rIns="65950" wrap="square" tIns="329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99"/>
              <a:buFont typeface="Arial"/>
              <a:buNone/>
            </a:pPr>
            <a:r>
              <a:t/>
            </a:r>
            <a:endParaRPr b="0" i="0" sz="129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9"/>
          <p:cNvSpPr/>
          <p:nvPr/>
        </p:nvSpPr>
        <p:spPr>
          <a:xfrm>
            <a:off x="6201169" y="3681122"/>
            <a:ext cx="532536" cy="444357"/>
          </a:xfrm>
          <a:custGeom>
            <a:rect b="b" l="l" r="r" t="t"/>
            <a:pathLst>
              <a:path extrusionOk="0" h="179" w="215">
                <a:moveTo>
                  <a:pt x="29" y="146"/>
                </a:moveTo>
                <a:cubicBezTo>
                  <a:pt x="29" y="97"/>
                  <a:pt x="29" y="97"/>
                  <a:pt x="29" y="97"/>
                </a:cubicBezTo>
                <a:cubicBezTo>
                  <a:pt x="29" y="93"/>
                  <a:pt x="32" y="90"/>
                  <a:pt x="36" y="90"/>
                </a:cubicBezTo>
                <a:cubicBezTo>
                  <a:pt x="48" y="90"/>
                  <a:pt x="48" y="90"/>
                  <a:pt x="48" y="90"/>
                </a:cubicBezTo>
                <a:cubicBezTo>
                  <a:pt x="52" y="90"/>
                  <a:pt x="55" y="93"/>
                  <a:pt x="55" y="97"/>
                </a:cubicBezTo>
                <a:cubicBezTo>
                  <a:pt x="55" y="146"/>
                  <a:pt x="55" y="146"/>
                  <a:pt x="55" y="146"/>
                </a:cubicBezTo>
                <a:cubicBezTo>
                  <a:pt x="55" y="149"/>
                  <a:pt x="52" y="153"/>
                  <a:pt x="48" y="153"/>
                </a:cubicBezTo>
                <a:cubicBezTo>
                  <a:pt x="36" y="153"/>
                  <a:pt x="36" y="153"/>
                  <a:pt x="36" y="153"/>
                </a:cubicBezTo>
                <a:cubicBezTo>
                  <a:pt x="32" y="153"/>
                  <a:pt x="29" y="149"/>
                  <a:pt x="29" y="146"/>
                </a:cubicBezTo>
                <a:close/>
                <a:moveTo>
                  <a:pt x="79" y="73"/>
                </a:moveTo>
                <a:cubicBezTo>
                  <a:pt x="75" y="73"/>
                  <a:pt x="72" y="76"/>
                  <a:pt x="72" y="80"/>
                </a:cubicBezTo>
                <a:cubicBezTo>
                  <a:pt x="72" y="146"/>
                  <a:pt x="72" y="146"/>
                  <a:pt x="72" y="146"/>
                </a:cubicBezTo>
                <a:cubicBezTo>
                  <a:pt x="72" y="149"/>
                  <a:pt x="75" y="153"/>
                  <a:pt x="79" y="153"/>
                </a:cubicBezTo>
                <a:cubicBezTo>
                  <a:pt x="91" y="153"/>
                  <a:pt x="91" y="153"/>
                  <a:pt x="91" y="153"/>
                </a:cubicBezTo>
                <a:cubicBezTo>
                  <a:pt x="95" y="153"/>
                  <a:pt x="98" y="149"/>
                  <a:pt x="98" y="146"/>
                </a:cubicBezTo>
                <a:cubicBezTo>
                  <a:pt x="98" y="80"/>
                  <a:pt x="98" y="80"/>
                  <a:pt x="98" y="80"/>
                </a:cubicBezTo>
                <a:cubicBezTo>
                  <a:pt x="98" y="76"/>
                  <a:pt x="95" y="73"/>
                  <a:pt x="91" y="73"/>
                </a:cubicBezTo>
                <a:lnTo>
                  <a:pt x="79" y="73"/>
                </a:lnTo>
                <a:close/>
                <a:moveTo>
                  <a:pt x="122" y="58"/>
                </a:moveTo>
                <a:cubicBezTo>
                  <a:pt x="118" y="58"/>
                  <a:pt x="115" y="61"/>
                  <a:pt x="115" y="65"/>
                </a:cubicBezTo>
                <a:cubicBezTo>
                  <a:pt x="115" y="146"/>
                  <a:pt x="115" y="146"/>
                  <a:pt x="115" y="146"/>
                </a:cubicBezTo>
                <a:cubicBezTo>
                  <a:pt x="115" y="149"/>
                  <a:pt x="118" y="153"/>
                  <a:pt x="122" y="153"/>
                </a:cubicBezTo>
                <a:cubicBezTo>
                  <a:pt x="134" y="153"/>
                  <a:pt x="134" y="153"/>
                  <a:pt x="134" y="153"/>
                </a:cubicBezTo>
                <a:cubicBezTo>
                  <a:pt x="138" y="153"/>
                  <a:pt x="141" y="149"/>
                  <a:pt x="141" y="146"/>
                </a:cubicBezTo>
                <a:cubicBezTo>
                  <a:pt x="141" y="65"/>
                  <a:pt x="141" y="65"/>
                  <a:pt x="141" y="65"/>
                </a:cubicBezTo>
                <a:cubicBezTo>
                  <a:pt x="141" y="61"/>
                  <a:pt x="138" y="58"/>
                  <a:pt x="134" y="58"/>
                </a:cubicBezTo>
                <a:lnTo>
                  <a:pt x="122" y="58"/>
                </a:lnTo>
                <a:close/>
                <a:moveTo>
                  <a:pt x="165" y="43"/>
                </a:moveTo>
                <a:cubicBezTo>
                  <a:pt x="161" y="43"/>
                  <a:pt x="158" y="46"/>
                  <a:pt x="158" y="50"/>
                </a:cubicBezTo>
                <a:cubicBezTo>
                  <a:pt x="158" y="146"/>
                  <a:pt x="158" y="146"/>
                  <a:pt x="158" y="146"/>
                </a:cubicBezTo>
                <a:cubicBezTo>
                  <a:pt x="158" y="149"/>
                  <a:pt x="161" y="153"/>
                  <a:pt x="165" y="153"/>
                </a:cubicBezTo>
                <a:cubicBezTo>
                  <a:pt x="177" y="153"/>
                  <a:pt x="177" y="153"/>
                  <a:pt x="177" y="153"/>
                </a:cubicBezTo>
                <a:cubicBezTo>
                  <a:pt x="181" y="153"/>
                  <a:pt x="184" y="149"/>
                  <a:pt x="184" y="146"/>
                </a:cubicBezTo>
                <a:cubicBezTo>
                  <a:pt x="184" y="50"/>
                  <a:pt x="184" y="50"/>
                  <a:pt x="184" y="50"/>
                </a:cubicBezTo>
                <a:cubicBezTo>
                  <a:pt x="184" y="46"/>
                  <a:pt x="181" y="43"/>
                  <a:pt x="177" y="43"/>
                </a:cubicBezTo>
                <a:lnTo>
                  <a:pt x="165" y="43"/>
                </a:lnTo>
                <a:close/>
                <a:moveTo>
                  <a:pt x="33" y="71"/>
                </a:moveTo>
                <a:cubicBezTo>
                  <a:pt x="78" y="63"/>
                  <a:pt x="121" y="47"/>
                  <a:pt x="160" y="24"/>
                </a:cubicBezTo>
                <a:cubicBezTo>
                  <a:pt x="163" y="30"/>
                  <a:pt x="163" y="30"/>
                  <a:pt x="163" y="30"/>
                </a:cubicBezTo>
                <a:cubicBezTo>
                  <a:pt x="177" y="9"/>
                  <a:pt x="177" y="9"/>
                  <a:pt x="177" y="9"/>
                </a:cubicBezTo>
                <a:cubicBezTo>
                  <a:pt x="151" y="8"/>
                  <a:pt x="151" y="8"/>
                  <a:pt x="151" y="8"/>
                </a:cubicBezTo>
                <a:cubicBezTo>
                  <a:pt x="155" y="15"/>
                  <a:pt x="155" y="15"/>
                  <a:pt x="155" y="15"/>
                </a:cubicBezTo>
                <a:cubicBezTo>
                  <a:pt x="118" y="38"/>
                  <a:pt x="76" y="54"/>
                  <a:pt x="31" y="62"/>
                </a:cubicBezTo>
                <a:lnTo>
                  <a:pt x="33" y="71"/>
                </a:lnTo>
                <a:close/>
                <a:moveTo>
                  <a:pt x="215" y="166"/>
                </a:moveTo>
                <a:cubicBezTo>
                  <a:pt x="193" y="154"/>
                  <a:pt x="193" y="154"/>
                  <a:pt x="193" y="154"/>
                </a:cubicBezTo>
                <a:cubicBezTo>
                  <a:pt x="193" y="161"/>
                  <a:pt x="193" y="161"/>
                  <a:pt x="193" y="161"/>
                </a:cubicBezTo>
                <a:cubicBezTo>
                  <a:pt x="18" y="161"/>
                  <a:pt x="18" y="161"/>
                  <a:pt x="18" y="161"/>
                </a:cubicBezTo>
                <a:cubicBezTo>
                  <a:pt x="18" y="22"/>
                  <a:pt x="18" y="22"/>
                  <a:pt x="18" y="22"/>
                </a:cubicBezTo>
                <a:cubicBezTo>
                  <a:pt x="26" y="22"/>
                  <a:pt x="26" y="22"/>
                  <a:pt x="26" y="22"/>
                </a:cubicBezTo>
                <a:cubicBezTo>
                  <a:pt x="13" y="0"/>
                  <a:pt x="13" y="0"/>
                  <a:pt x="13" y="0"/>
                </a:cubicBezTo>
                <a:cubicBezTo>
                  <a:pt x="0" y="22"/>
                  <a:pt x="0" y="22"/>
                  <a:pt x="0" y="22"/>
                </a:cubicBezTo>
                <a:cubicBezTo>
                  <a:pt x="8" y="22"/>
                  <a:pt x="8" y="22"/>
                  <a:pt x="8" y="22"/>
                </a:cubicBezTo>
                <a:cubicBezTo>
                  <a:pt x="8" y="161"/>
                  <a:pt x="8" y="161"/>
                  <a:pt x="8" y="161"/>
                </a:cubicBezTo>
                <a:cubicBezTo>
                  <a:pt x="8" y="166"/>
                  <a:pt x="8" y="166"/>
                  <a:pt x="8" y="166"/>
                </a:cubicBezTo>
                <a:cubicBezTo>
                  <a:pt x="8" y="171"/>
                  <a:pt x="8" y="171"/>
                  <a:pt x="8" y="171"/>
                </a:cubicBezTo>
                <a:cubicBezTo>
                  <a:pt x="193" y="171"/>
                  <a:pt x="193" y="171"/>
                  <a:pt x="193" y="171"/>
                </a:cubicBezTo>
                <a:cubicBezTo>
                  <a:pt x="193" y="179"/>
                  <a:pt x="193" y="179"/>
                  <a:pt x="193" y="179"/>
                </a:cubicBezTo>
                <a:lnTo>
                  <a:pt x="215" y="16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32975" lIns="65950" spcFirstLastPara="1" rIns="65950" wrap="square" tIns="329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99"/>
              <a:buFont typeface="Arial"/>
              <a:buNone/>
            </a:pPr>
            <a:r>
              <a:t/>
            </a:r>
            <a:endParaRPr b="0" i="0" sz="129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9"/>
          <p:cNvSpPr/>
          <p:nvPr/>
        </p:nvSpPr>
        <p:spPr>
          <a:xfrm>
            <a:off x="3444583" y="3671960"/>
            <a:ext cx="515356" cy="463826"/>
          </a:xfrm>
          <a:custGeom>
            <a:rect b="b" l="l" r="r" t="t"/>
            <a:pathLst>
              <a:path extrusionOk="0" h="187" w="208">
                <a:moveTo>
                  <a:pt x="141" y="25"/>
                </a:moveTo>
                <a:cubicBezTo>
                  <a:pt x="129" y="25"/>
                  <a:pt x="129" y="25"/>
                  <a:pt x="129" y="25"/>
                </a:cubicBezTo>
                <a:cubicBezTo>
                  <a:pt x="128" y="17"/>
                  <a:pt x="122" y="11"/>
                  <a:pt x="116" y="11"/>
                </a:cubicBezTo>
                <a:cubicBezTo>
                  <a:pt x="92" y="11"/>
                  <a:pt x="92" y="11"/>
                  <a:pt x="92" y="11"/>
                </a:cubicBezTo>
                <a:cubicBezTo>
                  <a:pt x="85" y="11"/>
                  <a:pt x="80" y="17"/>
                  <a:pt x="79" y="25"/>
                </a:cubicBezTo>
                <a:cubicBezTo>
                  <a:pt x="66" y="25"/>
                  <a:pt x="66" y="25"/>
                  <a:pt x="66" y="25"/>
                </a:cubicBezTo>
                <a:cubicBezTo>
                  <a:pt x="67" y="11"/>
                  <a:pt x="77" y="0"/>
                  <a:pt x="89" y="0"/>
                </a:cubicBezTo>
                <a:cubicBezTo>
                  <a:pt x="119" y="0"/>
                  <a:pt x="119" y="0"/>
                  <a:pt x="119" y="0"/>
                </a:cubicBezTo>
                <a:cubicBezTo>
                  <a:pt x="131" y="0"/>
                  <a:pt x="141" y="11"/>
                  <a:pt x="141" y="25"/>
                </a:cubicBezTo>
                <a:close/>
                <a:moveTo>
                  <a:pt x="31" y="104"/>
                </a:moveTo>
                <a:cubicBezTo>
                  <a:pt x="84" y="104"/>
                  <a:pt x="84" y="104"/>
                  <a:pt x="84" y="104"/>
                </a:cubicBezTo>
                <a:cubicBezTo>
                  <a:pt x="84" y="96"/>
                  <a:pt x="84" y="96"/>
                  <a:pt x="84" y="96"/>
                </a:cubicBezTo>
                <a:cubicBezTo>
                  <a:pt x="84" y="91"/>
                  <a:pt x="88" y="86"/>
                  <a:pt x="94" y="86"/>
                </a:cubicBezTo>
                <a:cubicBezTo>
                  <a:pt x="114" y="86"/>
                  <a:pt x="114" y="86"/>
                  <a:pt x="114" y="86"/>
                </a:cubicBezTo>
                <a:cubicBezTo>
                  <a:pt x="120" y="86"/>
                  <a:pt x="124" y="91"/>
                  <a:pt x="124" y="96"/>
                </a:cubicBezTo>
                <a:cubicBezTo>
                  <a:pt x="124" y="104"/>
                  <a:pt x="124" y="104"/>
                  <a:pt x="124" y="104"/>
                </a:cubicBezTo>
                <a:cubicBezTo>
                  <a:pt x="177" y="104"/>
                  <a:pt x="177" y="104"/>
                  <a:pt x="177" y="104"/>
                </a:cubicBezTo>
                <a:cubicBezTo>
                  <a:pt x="192" y="104"/>
                  <a:pt x="205" y="91"/>
                  <a:pt x="208" y="74"/>
                </a:cubicBezTo>
                <a:cubicBezTo>
                  <a:pt x="208" y="58"/>
                  <a:pt x="208" y="58"/>
                  <a:pt x="208" y="58"/>
                </a:cubicBezTo>
                <a:cubicBezTo>
                  <a:pt x="208" y="42"/>
                  <a:pt x="197" y="30"/>
                  <a:pt x="184" y="30"/>
                </a:cubicBezTo>
                <a:cubicBezTo>
                  <a:pt x="172" y="30"/>
                  <a:pt x="172" y="30"/>
                  <a:pt x="172" y="30"/>
                </a:cubicBezTo>
                <a:cubicBezTo>
                  <a:pt x="167" y="30"/>
                  <a:pt x="167" y="30"/>
                  <a:pt x="167" y="30"/>
                </a:cubicBezTo>
                <a:cubicBezTo>
                  <a:pt x="158" y="30"/>
                  <a:pt x="158" y="30"/>
                  <a:pt x="158" y="30"/>
                </a:cubicBezTo>
                <a:cubicBezTo>
                  <a:pt x="149" y="30"/>
                  <a:pt x="149" y="30"/>
                  <a:pt x="149" y="30"/>
                </a:cubicBezTo>
                <a:cubicBezTo>
                  <a:pt x="143" y="30"/>
                  <a:pt x="143" y="30"/>
                  <a:pt x="143" y="30"/>
                </a:cubicBezTo>
                <a:cubicBezTo>
                  <a:pt x="128" y="30"/>
                  <a:pt x="128" y="30"/>
                  <a:pt x="128" y="30"/>
                </a:cubicBezTo>
                <a:cubicBezTo>
                  <a:pt x="80" y="30"/>
                  <a:pt x="80" y="30"/>
                  <a:pt x="80" y="30"/>
                </a:cubicBezTo>
                <a:cubicBezTo>
                  <a:pt x="65" y="30"/>
                  <a:pt x="65" y="30"/>
                  <a:pt x="65" y="30"/>
                </a:cubicBezTo>
                <a:cubicBezTo>
                  <a:pt x="48" y="30"/>
                  <a:pt x="48" y="30"/>
                  <a:pt x="48" y="30"/>
                </a:cubicBezTo>
                <a:cubicBezTo>
                  <a:pt x="40" y="30"/>
                  <a:pt x="40" y="30"/>
                  <a:pt x="40" y="30"/>
                </a:cubicBezTo>
                <a:cubicBezTo>
                  <a:pt x="32" y="30"/>
                  <a:pt x="32" y="30"/>
                  <a:pt x="32" y="30"/>
                </a:cubicBezTo>
                <a:cubicBezTo>
                  <a:pt x="24" y="30"/>
                  <a:pt x="24" y="30"/>
                  <a:pt x="24" y="30"/>
                </a:cubicBezTo>
                <a:cubicBezTo>
                  <a:pt x="11" y="30"/>
                  <a:pt x="0" y="42"/>
                  <a:pt x="0" y="58"/>
                </a:cubicBezTo>
                <a:cubicBezTo>
                  <a:pt x="0" y="74"/>
                  <a:pt x="0" y="74"/>
                  <a:pt x="0" y="74"/>
                </a:cubicBezTo>
                <a:cubicBezTo>
                  <a:pt x="2" y="91"/>
                  <a:pt x="16" y="104"/>
                  <a:pt x="31" y="104"/>
                </a:cubicBezTo>
                <a:close/>
                <a:moveTo>
                  <a:pt x="177" y="112"/>
                </a:moveTo>
                <a:cubicBezTo>
                  <a:pt x="124" y="112"/>
                  <a:pt x="124" y="112"/>
                  <a:pt x="124" y="112"/>
                </a:cubicBezTo>
                <a:cubicBezTo>
                  <a:pt x="124" y="120"/>
                  <a:pt x="124" y="120"/>
                  <a:pt x="124" y="120"/>
                </a:cubicBezTo>
                <a:cubicBezTo>
                  <a:pt x="124" y="125"/>
                  <a:pt x="120" y="130"/>
                  <a:pt x="114" y="130"/>
                </a:cubicBezTo>
                <a:cubicBezTo>
                  <a:pt x="94" y="130"/>
                  <a:pt x="94" y="130"/>
                  <a:pt x="94" y="130"/>
                </a:cubicBezTo>
                <a:cubicBezTo>
                  <a:pt x="88" y="130"/>
                  <a:pt x="84" y="125"/>
                  <a:pt x="84" y="120"/>
                </a:cubicBezTo>
                <a:cubicBezTo>
                  <a:pt x="84" y="112"/>
                  <a:pt x="84" y="112"/>
                  <a:pt x="84" y="112"/>
                </a:cubicBezTo>
                <a:cubicBezTo>
                  <a:pt x="31" y="112"/>
                  <a:pt x="31" y="112"/>
                  <a:pt x="31" y="112"/>
                </a:cubicBezTo>
                <a:cubicBezTo>
                  <a:pt x="18" y="112"/>
                  <a:pt x="7" y="105"/>
                  <a:pt x="0" y="94"/>
                </a:cubicBezTo>
                <a:cubicBezTo>
                  <a:pt x="0" y="159"/>
                  <a:pt x="0" y="159"/>
                  <a:pt x="0" y="159"/>
                </a:cubicBezTo>
                <a:cubicBezTo>
                  <a:pt x="0" y="174"/>
                  <a:pt x="11" y="187"/>
                  <a:pt x="24" y="187"/>
                </a:cubicBezTo>
                <a:cubicBezTo>
                  <a:pt x="32" y="187"/>
                  <a:pt x="32" y="187"/>
                  <a:pt x="32" y="187"/>
                </a:cubicBezTo>
                <a:cubicBezTo>
                  <a:pt x="40" y="187"/>
                  <a:pt x="40" y="187"/>
                  <a:pt x="40" y="187"/>
                </a:cubicBezTo>
                <a:cubicBezTo>
                  <a:pt x="48" y="187"/>
                  <a:pt x="48" y="187"/>
                  <a:pt x="48" y="187"/>
                </a:cubicBezTo>
                <a:cubicBezTo>
                  <a:pt x="158" y="187"/>
                  <a:pt x="158" y="187"/>
                  <a:pt x="158" y="187"/>
                </a:cubicBezTo>
                <a:cubicBezTo>
                  <a:pt x="167" y="187"/>
                  <a:pt x="167" y="187"/>
                  <a:pt x="167" y="187"/>
                </a:cubicBezTo>
                <a:cubicBezTo>
                  <a:pt x="172" y="187"/>
                  <a:pt x="172" y="187"/>
                  <a:pt x="172" y="187"/>
                </a:cubicBezTo>
                <a:cubicBezTo>
                  <a:pt x="184" y="187"/>
                  <a:pt x="184" y="187"/>
                  <a:pt x="184" y="187"/>
                </a:cubicBezTo>
                <a:cubicBezTo>
                  <a:pt x="197" y="187"/>
                  <a:pt x="208" y="174"/>
                  <a:pt x="208" y="159"/>
                </a:cubicBezTo>
                <a:cubicBezTo>
                  <a:pt x="208" y="94"/>
                  <a:pt x="208" y="94"/>
                  <a:pt x="208" y="94"/>
                </a:cubicBezTo>
                <a:cubicBezTo>
                  <a:pt x="201" y="105"/>
                  <a:pt x="190" y="112"/>
                  <a:pt x="177" y="112"/>
                </a:cubicBezTo>
                <a:close/>
                <a:moveTo>
                  <a:pt x="114" y="94"/>
                </a:moveTo>
                <a:cubicBezTo>
                  <a:pt x="94" y="94"/>
                  <a:pt x="94" y="94"/>
                  <a:pt x="94" y="94"/>
                </a:cubicBezTo>
                <a:cubicBezTo>
                  <a:pt x="92" y="94"/>
                  <a:pt x="91" y="95"/>
                  <a:pt x="91" y="98"/>
                </a:cubicBezTo>
                <a:cubicBezTo>
                  <a:pt x="91" y="102"/>
                  <a:pt x="91" y="102"/>
                  <a:pt x="91" y="102"/>
                </a:cubicBezTo>
                <a:cubicBezTo>
                  <a:pt x="91" y="105"/>
                  <a:pt x="91" y="105"/>
                  <a:pt x="91" y="105"/>
                </a:cubicBezTo>
                <a:cubicBezTo>
                  <a:pt x="91" y="111"/>
                  <a:pt x="91" y="111"/>
                  <a:pt x="91" y="111"/>
                </a:cubicBezTo>
                <a:cubicBezTo>
                  <a:pt x="91" y="114"/>
                  <a:pt x="91" y="114"/>
                  <a:pt x="91" y="114"/>
                </a:cubicBezTo>
                <a:cubicBezTo>
                  <a:pt x="91" y="119"/>
                  <a:pt x="91" y="119"/>
                  <a:pt x="91" y="119"/>
                </a:cubicBezTo>
                <a:cubicBezTo>
                  <a:pt x="91" y="121"/>
                  <a:pt x="92" y="123"/>
                  <a:pt x="94" y="123"/>
                </a:cubicBezTo>
                <a:cubicBezTo>
                  <a:pt x="114" y="123"/>
                  <a:pt x="114" y="123"/>
                  <a:pt x="114" y="123"/>
                </a:cubicBezTo>
                <a:cubicBezTo>
                  <a:pt x="116" y="123"/>
                  <a:pt x="117" y="121"/>
                  <a:pt x="117" y="119"/>
                </a:cubicBezTo>
                <a:cubicBezTo>
                  <a:pt x="117" y="114"/>
                  <a:pt x="117" y="114"/>
                  <a:pt x="117" y="114"/>
                </a:cubicBezTo>
                <a:cubicBezTo>
                  <a:pt x="117" y="111"/>
                  <a:pt x="117" y="111"/>
                  <a:pt x="117" y="111"/>
                </a:cubicBezTo>
                <a:cubicBezTo>
                  <a:pt x="117" y="105"/>
                  <a:pt x="117" y="105"/>
                  <a:pt x="117" y="105"/>
                </a:cubicBezTo>
                <a:cubicBezTo>
                  <a:pt x="117" y="102"/>
                  <a:pt x="117" y="102"/>
                  <a:pt x="117" y="102"/>
                </a:cubicBezTo>
                <a:cubicBezTo>
                  <a:pt x="117" y="98"/>
                  <a:pt x="117" y="98"/>
                  <a:pt x="117" y="98"/>
                </a:cubicBezTo>
                <a:cubicBezTo>
                  <a:pt x="117" y="95"/>
                  <a:pt x="116" y="94"/>
                  <a:pt x="114" y="9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32975" lIns="65950" spcFirstLastPara="1" rIns="65950" wrap="square" tIns="329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99"/>
              <a:buFont typeface="Arial"/>
              <a:buNone/>
            </a:pPr>
            <a:r>
              <a:t/>
            </a:r>
            <a:endParaRPr b="0" i="0" sz="129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9"/>
          <p:cNvSpPr/>
          <p:nvPr/>
        </p:nvSpPr>
        <p:spPr>
          <a:xfrm>
            <a:off x="8915381" y="3746401"/>
            <a:ext cx="555440" cy="342430"/>
          </a:xfrm>
          <a:custGeom>
            <a:rect b="b" l="l" r="r" t="t"/>
            <a:pathLst>
              <a:path extrusionOk="0" h="138" w="224">
                <a:moveTo>
                  <a:pt x="200" y="0"/>
                </a:moveTo>
                <a:cubicBezTo>
                  <a:pt x="25" y="0"/>
                  <a:pt x="25" y="0"/>
                  <a:pt x="25" y="0"/>
                </a:cubicBezTo>
                <a:cubicBezTo>
                  <a:pt x="11" y="0"/>
                  <a:pt x="0" y="11"/>
                  <a:pt x="0" y="25"/>
                </a:cubicBezTo>
                <a:cubicBezTo>
                  <a:pt x="0" y="113"/>
                  <a:pt x="0" y="113"/>
                  <a:pt x="0" y="113"/>
                </a:cubicBezTo>
                <a:cubicBezTo>
                  <a:pt x="0" y="127"/>
                  <a:pt x="11" y="138"/>
                  <a:pt x="25" y="138"/>
                </a:cubicBezTo>
                <a:cubicBezTo>
                  <a:pt x="200" y="138"/>
                  <a:pt x="200" y="138"/>
                  <a:pt x="200" y="138"/>
                </a:cubicBezTo>
                <a:cubicBezTo>
                  <a:pt x="213" y="138"/>
                  <a:pt x="224" y="127"/>
                  <a:pt x="224" y="113"/>
                </a:cubicBezTo>
                <a:cubicBezTo>
                  <a:pt x="224" y="25"/>
                  <a:pt x="224" y="25"/>
                  <a:pt x="224" y="25"/>
                </a:cubicBezTo>
                <a:cubicBezTo>
                  <a:pt x="224" y="11"/>
                  <a:pt x="213" y="0"/>
                  <a:pt x="200" y="0"/>
                </a:cubicBezTo>
                <a:close/>
                <a:moveTo>
                  <a:pt x="213" y="122"/>
                </a:moveTo>
                <a:cubicBezTo>
                  <a:pt x="211" y="123"/>
                  <a:pt x="211" y="123"/>
                  <a:pt x="211" y="123"/>
                </a:cubicBezTo>
                <a:cubicBezTo>
                  <a:pt x="210" y="125"/>
                  <a:pt x="208" y="125"/>
                  <a:pt x="206" y="124"/>
                </a:cubicBezTo>
                <a:cubicBezTo>
                  <a:pt x="147" y="75"/>
                  <a:pt x="147" y="75"/>
                  <a:pt x="147" y="75"/>
                </a:cubicBezTo>
                <a:cubicBezTo>
                  <a:pt x="116" y="99"/>
                  <a:pt x="116" y="99"/>
                  <a:pt x="116" y="99"/>
                </a:cubicBezTo>
                <a:cubicBezTo>
                  <a:pt x="115" y="100"/>
                  <a:pt x="114" y="101"/>
                  <a:pt x="112" y="101"/>
                </a:cubicBezTo>
                <a:cubicBezTo>
                  <a:pt x="112" y="101"/>
                  <a:pt x="112" y="101"/>
                  <a:pt x="112" y="101"/>
                </a:cubicBezTo>
                <a:cubicBezTo>
                  <a:pt x="112" y="101"/>
                  <a:pt x="112" y="101"/>
                  <a:pt x="111" y="101"/>
                </a:cubicBezTo>
                <a:cubicBezTo>
                  <a:pt x="110" y="101"/>
                  <a:pt x="109" y="100"/>
                  <a:pt x="108" y="99"/>
                </a:cubicBezTo>
                <a:cubicBezTo>
                  <a:pt x="77" y="75"/>
                  <a:pt x="77" y="75"/>
                  <a:pt x="77" y="75"/>
                </a:cubicBezTo>
                <a:cubicBezTo>
                  <a:pt x="18" y="124"/>
                  <a:pt x="18" y="124"/>
                  <a:pt x="18" y="124"/>
                </a:cubicBezTo>
                <a:cubicBezTo>
                  <a:pt x="16" y="125"/>
                  <a:pt x="14" y="125"/>
                  <a:pt x="13" y="123"/>
                </a:cubicBezTo>
                <a:cubicBezTo>
                  <a:pt x="11" y="122"/>
                  <a:pt x="11" y="122"/>
                  <a:pt x="11" y="122"/>
                </a:cubicBezTo>
                <a:cubicBezTo>
                  <a:pt x="10" y="120"/>
                  <a:pt x="10" y="118"/>
                  <a:pt x="12" y="117"/>
                </a:cubicBezTo>
                <a:cubicBezTo>
                  <a:pt x="69" y="69"/>
                  <a:pt x="69" y="69"/>
                  <a:pt x="69" y="69"/>
                </a:cubicBezTo>
                <a:cubicBezTo>
                  <a:pt x="15" y="27"/>
                  <a:pt x="15" y="27"/>
                  <a:pt x="15" y="27"/>
                </a:cubicBezTo>
                <a:cubicBezTo>
                  <a:pt x="13" y="25"/>
                  <a:pt x="12" y="22"/>
                  <a:pt x="13" y="20"/>
                </a:cubicBezTo>
                <a:cubicBezTo>
                  <a:pt x="14" y="19"/>
                  <a:pt x="14" y="19"/>
                  <a:pt x="14" y="19"/>
                </a:cubicBezTo>
                <a:cubicBezTo>
                  <a:pt x="16" y="17"/>
                  <a:pt x="19" y="17"/>
                  <a:pt x="21" y="19"/>
                </a:cubicBezTo>
                <a:cubicBezTo>
                  <a:pt x="112" y="90"/>
                  <a:pt x="112" y="90"/>
                  <a:pt x="112" y="90"/>
                </a:cubicBezTo>
                <a:cubicBezTo>
                  <a:pt x="203" y="19"/>
                  <a:pt x="203" y="19"/>
                  <a:pt x="203" y="19"/>
                </a:cubicBezTo>
                <a:cubicBezTo>
                  <a:pt x="205" y="17"/>
                  <a:pt x="208" y="17"/>
                  <a:pt x="210" y="19"/>
                </a:cubicBezTo>
                <a:cubicBezTo>
                  <a:pt x="211" y="20"/>
                  <a:pt x="211" y="20"/>
                  <a:pt x="211" y="20"/>
                </a:cubicBezTo>
                <a:cubicBezTo>
                  <a:pt x="212" y="22"/>
                  <a:pt x="211" y="25"/>
                  <a:pt x="209" y="27"/>
                </a:cubicBezTo>
                <a:cubicBezTo>
                  <a:pt x="155" y="69"/>
                  <a:pt x="155" y="69"/>
                  <a:pt x="155" y="69"/>
                </a:cubicBezTo>
                <a:cubicBezTo>
                  <a:pt x="212" y="117"/>
                  <a:pt x="212" y="117"/>
                  <a:pt x="212" y="117"/>
                </a:cubicBezTo>
                <a:cubicBezTo>
                  <a:pt x="214" y="118"/>
                  <a:pt x="214" y="120"/>
                  <a:pt x="213" y="122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32975" lIns="65950" spcFirstLastPara="1" rIns="65950" wrap="square" tIns="329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99"/>
              <a:buFont typeface="Arial"/>
              <a:buNone/>
            </a:pPr>
            <a:r>
              <a:t/>
            </a:r>
            <a:endParaRPr b="0" i="0" sz="129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9"/>
          <p:cNvSpPr/>
          <p:nvPr/>
        </p:nvSpPr>
        <p:spPr>
          <a:xfrm>
            <a:off x="4828030" y="3683413"/>
            <a:ext cx="485581" cy="482150"/>
          </a:xfrm>
          <a:custGeom>
            <a:rect b="b" l="l" r="r" t="t"/>
            <a:pathLst>
              <a:path extrusionOk="0" h="194" w="196">
                <a:moveTo>
                  <a:pt x="4" y="121"/>
                </a:moveTo>
                <a:cubicBezTo>
                  <a:pt x="3" y="118"/>
                  <a:pt x="2" y="116"/>
                  <a:pt x="2" y="113"/>
                </a:cubicBezTo>
                <a:cubicBezTo>
                  <a:pt x="0" y="100"/>
                  <a:pt x="0" y="87"/>
                  <a:pt x="3" y="74"/>
                </a:cubicBezTo>
                <a:cubicBezTo>
                  <a:pt x="6" y="62"/>
                  <a:pt x="12" y="51"/>
                  <a:pt x="19" y="40"/>
                </a:cubicBezTo>
                <a:cubicBezTo>
                  <a:pt x="26" y="30"/>
                  <a:pt x="35" y="22"/>
                  <a:pt x="46" y="15"/>
                </a:cubicBezTo>
                <a:cubicBezTo>
                  <a:pt x="57" y="8"/>
                  <a:pt x="69" y="3"/>
                  <a:pt x="82" y="1"/>
                </a:cubicBezTo>
                <a:cubicBezTo>
                  <a:pt x="86" y="1"/>
                  <a:pt x="89" y="0"/>
                  <a:pt x="93" y="0"/>
                </a:cubicBezTo>
                <a:cubicBezTo>
                  <a:pt x="113" y="24"/>
                  <a:pt x="113" y="24"/>
                  <a:pt x="113" y="24"/>
                </a:cubicBezTo>
                <a:cubicBezTo>
                  <a:pt x="93" y="45"/>
                  <a:pt x="93" y="45"/>
                  <a:pt x="93" y="45"/>
                </a:cubicBezTo>
                <a:cubicBezTo>
                  <a:pt x="92" y="45"/>
                  <a:pt x="91" y="45"/>
                  <a:pt x="89" y="46"/>
                </a:cubicBezTo>
                <a:cubicBezTo>
                  <a:pt x="61" y="50"/>
                  <a:pt x="42" y="77"/>
                  <a:pt x="46" y="106"/>
                </a:cubicBezTo>
                <a:cubicBezTo>
                  <a:pt x="47" y="108"/>
                  <a:pt x="47" y="110"/>
                  <a:pt x="48" y="113"/>
                </a:cubicBezTo>
                <a:cubicBezTo>
                  <a:pt x="48" y="113"/>
                  <a:pt x="48" y="113"/>
                  <a:pt x="48" y="113"/>
                </a:cubicBezTo>
                <a:cubicBezTo>
                  <a:pt x="29" y="109"/>
                  <a:pt x="29" y="109"/>
                  <a:pt x="29" y="109"/>
                </a:cubicBezTo>
                <a:cubicBezTo>
                  <a:pt x="19" y="106"/>
                  <a:pt x="19" y="106"/>
                  <a:pt x="19" y="106"/>
                </a:cubicBezTo>
                <a:cubicBezTo>
                  <a:pt x="15" y="117"/>
                  <a:pt x="15" y="117"/>
                  <a:pt x="15" y="117"/>
                </a:cubicBezTo>
                <a:cubicBezTo>
                  <a:pt x="9" y="135"/>
                  <a:pt x="9" y="135"/>
                  <a:pt x="9" y="135"/>
                </a:cubicBezTo>
                <a:cubicBezTo>
                  <a:pt x="8" y="133"/>
                  <a:pt x="7" y="131"/>
                  <a:pt x="6" y="129"/>
                </a:cubicBezTo>
                <a:cubicBezTo>
                  <a:pt x="6" y="128"/>
                  <a:pt x="6" y="127"/>
                  <a:pt x="5" y="127"/>
                </a:cubicBezTo>
                <a:cubicBezTo>
                  <a:pt x="5" y="125"/>
                  <a:pt x="4" y="123"/>
                  <a:pt x="4" y="121"/>
                </a:cubicBezTo>
                <a:close/>
                <a:moveTo>
                  <a:pt x="156" y="159"/>
                </a:moveTo>
                <a:cubicBezTo>
                  <a:pt x="145" y="161"/>
                  <a:pt x="145" y="161"/>
                  <a:pt x="145" y="161"/>
                </a:cubicBezTo>
                <a:cubicBezTo>
                  <a:pt x="142" y="151"/>
                  <a:pt x="142" y="151"/>
                  <a:pt x="142" y="151"/>
                </a:cubicBezTo>
                <a:cubicBezTo>
                  <a:pt x="137" y="132"/>
                  <a:pt x="137" y="132"/>
                  <a:pt x="137" y="132"/>
                </a:cubicBezTo>
                <a:cubicBezTo>
                  <a:pt x="136" y="133"/>
                  <a:pt x="135" y="133"/>
                  <a:pt x="135" y="134"/>
                </a:cubicBezTo>
                <a:cubicBezTo>
                  <a:pt x="134" y="134"/>
                  <a:pt x="134" y="134"/>
                  <a:pt x="134" y="134"/>
                </a:cubicBezTo>
                <a:cubicBezTo>
                  <a:pt x="133" y="135"/>
                  <a:pt x="132" y="136"/>
                  <a:pt x="131" y="137"/>
                </a:cubicBezTo>
                <a:cubicBezTo>
                  <a:pt x="131" y="138"/>
                  <a:pt x="130" y="138"/>
                  <a:pt x="130" y="138"/>
                </a:cubicBezTo>
                <a:cubicBezTo>
                  <a:pt x="129" y="139"/>
                  <a:pt x="128" y="140"/>
                  <a:pt x="127" y="141"/>
                </a:cubicBezTo>
                <a:cubicBezTo>
                  <a:pt x="126" y="141"/>
                  <a:pt x="126" y="141"/>
                  <a:pt x="125" y="141"/>
                </a:cubicBezTo>
                <a:cubicBezTo>
                  <a:pt x="124" y="142"/>
                  <a:pt x="123" y="143"/>
                  <a:pt x="122" y="143"/>
                </a:cubicBezTo>
                <a:cubicBezTo>
                  <a:pt x="121" y="144"/>
                  <a:pt x="121" y="144"/>
                  <a:pt x="120" y="144"/>
                </a:cubicBezTo>
                <a:cubicBezTo>
                  <a:pt x="119" y="145"/>
                  <a:pt x="118" y="145"/>
                  <a:pt x="117" y="146"/>
                </a:cubicBezTo>
                <a:cubicBezTo>
                  <a:pt x="116" y="146"/>
                  <a:pt x="115" y="146"/>
                  <a:pt x="114" y="147"/>
                </a:cubicBezTo>
                <a:cubicBezTo>
                  <a:pt x="113" y="147"/>
                  <a:pt x="113" y="147"/>
                  <a:pt x="112" y="147"/>
                </a:cubicBezTo>
                <a:cubicBezTo>
                  <a:pt x="110" y="148"/>
                  <a:pt x="108" y="148"/>
                  <a:pt x="106" y="149"/>
                </a:cubicBezTo>
                <a:cubicBezTo>
                  <a:pt x="104" y="149"/>
                  <a:pt x="102" y="149"/>
                  <a:pt x="99" y="149"/>
                </a:cubicBezTo>
                <a:cubicBezTo>
                  <a:pt x="99" y="149"/>
                  <a:pt x="99" y="149"/>
                  <a:pt x="98" y="149"/>
                </a:cubicBezTo>
                <a:cubicBezTo>
                  <a:pt x="98" y="149"/>
                  <a:pt x="98" y="149"/>
                  <a:pt x="98" y="149"/>
                </a:cubicBezTo>
                <a:cubicBezTo>
                  <a:pt x="96" y="149"/>
                  <a:pt x="93" y="149"/>
                  <a:pt x="91" y="149"/>
                </a:cubicBezTo>
                <a:cubicBezTo>
                  <a:pt x="91" y="149"/>
                  <a:pt x="91" y="149"/>
                  <a:pt x="91" y="149"/>
                </a:cubicBezTo>
                <a:cubicBezTo>
                  <a:pt x="89" y="148"/>
                  <a:pt x="87" y="148"/>
                  <a:pt x="85" y="148"/>
                </a:cubicBezTo>
                <a:cubicBezTo>
                  <a:pt x="84" y="147"/>
                  <a:pt x="83" y="147"/>
                  <a:pt x="82" y="147"/>
                </a:cubicBezTo>
                <a:cubicBezTo>
                  <a:pt x="81" y="146"/>
                  <a:pt x="80" y="146"/>
                  <a:pt x="78" y="145"/>
                </a:cubicBezTo>
                <a:cubicBezTo>
                  <a:pt x="77" y="145"/>
                  <a:pt x="77" y="145"/>
                  <a:pt x="76" y="144"/>
                </a:cubicBezTo>
                <a:cubicBezTo>
                  <a:pt x="75" y="144"/>
                  <a:pt x="73" y="143"/>
                  <a:pt x="72" y="142"/>
                </a:cubicBezTo>
                <a:cubicBezTo>
                  <a:pt x="71" y="142"/>
                  <a:pt x="71" y="142"/>
                  <a:pt x="70" y="141"/>
                </a:cubicBezTo>
                <a:cubicBezTo>
                  <a:pt x="69" y="140"/>
                  <a:pt x="68" y="140"/>
                  <a:pt x="66" y="139"/>
                </a:cubicBezTo>
                <a:cubicBezTo>
                  <a:pt x="66" y="138"/>
                  <a:pt x="65" y="138"/>
                  <a:pt x="64" y="137"/>
                </a:cubicBezTo>
                <a:cubicBezTo>
                  <a:pt x="63" y="136"/>
                  <a:pt x="62" y="135"/>
                  <a:pt x="61" y="134"/>
                </a:cubicBezTo>
                <a:cubicBezTo>
                  <a:pt x="60" y="134"/>
                  <a:pt x="60" y="133"/>
                  <a:pt x="59" y="133"/>
                </a:cubicBezTo>
                <a:cubicBezTo>
                  <a:pt x="58" y="131"/>
                  <a:pt x="57" y="129"/>
                  <a:pt x="55" y="127"/>
                </a:cubicBezTo>
                <a:cubicBezTo>
                  <a:pt x="26" y="120"/>
                  <a:pt x="26" y="120"/>
                  <a:pt x="26" y="120"/>
                </a:cubicBezTo>
                <a:cubicBezTo>
                  <a:pt x="16" y="150"/>
                  <a:pt x="16" y="150"/>
                  <a:pt x="16" y="150"/>
                </a:cubicBezTo>
                <a:cubicBezTo>
                  <a:pt x="23" y="160"/>
                  <a:pt x="31" y="169"/>
                  <a:pt x="41" y="176"/>
                </a:cubicBezTo>
                <a:cubicBezTo>
                  <a:pt x="51" y="183"/>
                  <a:pt x="63" y="189"/>
                  <a:pt x="75" y="192"/>
                </a:cubicBezTo>
                <a:cubicBezTo>
                  <a:pt x="78" y="192"/>
                  <a:pt x="82" y="193"/>
                  <a:pt x="85" y="193"/>
                </a:cubicBezTo>
                <a:cubicBezTo>
                  <a:pt x="87" y="194"/>
                  <a:pt x="88" y="194"/>
                  <a:pt x="89" y="194"/>
                </a:cubicBezTo>
                <a:cubicBezTo>
                  <a:pt x="91" y="194"/>
                  <a:pt x="94" y="194"/>
                  <a:pt x="96" y="194"/>
                </a:cubicBezTo>
                <a:cubicBezTo>
                  <a:pt x="98" y="194"/>
                  <a:pt x="100" y="194"/>
                  <a:pt x="102" y="194"/>
                </a:cubicBezTo>
                <a:cubicBezTo>
                  <a:pt x="103" y="194"/>
                  <a:pt x="104" y="194"/>
                  <a:pt x="105" y="194"/>
                </a:cubicBezTo>
                <a:cubicBezTo>
                  <a:pt x="108" y="194"/>
                  <a:pt x="110" y="193"/>
                  <a:pt x="113" y="193"/>
                </a:cubicBezTo>
                <a:cubicBezTo>
                  <a:pt x="126" y="191"/>
                  <a:pt x="139" y="186"/>
                  <a:pt x="150" y="179"/>
                </a:cubicBezTo>
                <a:cubicBezTo>
                  <a:pt x="160" y="173"/>
                  <a:pt x="168" y="165"/>
                  <a:pt x="176" y="155"/>
                </a:cubicBezTo>
                <a:lnTo>
                  <a:pt x="156" y="159"/>
                </a:lnTo>
                <a:close/>
                <a:moveTo>
                  <a:pt x="194" y="81"/>
                </a:moveTo>
                <a:cubicBezTo>
                  <a:pt x="191" y="68"/>
                  <a:pt x="187" y="56"/>
                  <a:pt x="180" y="45"/>
                </a:cubicBezTo>
                <a:cubicBezTo>
                  <a:pt x="173" y="35"/>
                  <a:pt x="165" y="26"/>
                  <a:pt x="154" y="18"/>
                </a:cubicBezTo>
                <a:cubicBezTo>
                  <a:pt x="144" y="11"/>
                  <a:pt x="133" y="6"/>
                  <a:pt x="121" y="3"/>
                </a:cubicBezTo>
                <a:cubicBezTo>
                  <a:pt x="117" y="2"/>
                  <a:pt x="113" y="1"/>
                  <a:pt x="110" y="1"/>
                </a:cubicBezTo>
                <a:cubicBezTo>
                  <a:pt x="109" y="1"/>
                  <a:pt x="109" y="1"/>
                  <a:pt x="109" y="1"/>
                </a:cubicBezTo>
                <a:cubicBezTo>
                  <a:pt x="109" y="1"/>
                  <a:pt x="109" y="1"/>
                  <a:pt x="109" y="1"/>
                </a:cubicBezTo>
                <a:cubicBezTo>
                  <a:pt x="122" y="16"/>
                  <a:pt x="122" y="16"/>
                  <a:pt x="122" y="16"/>
                </a:cubicBezTo>
                <a:cubicBezTo>
                  <a:pt x="130" y="24"/>
                  <a:pt x="130" y="24"/>
                  <a:pt x="130" y="24"/>
                </a:cubicBezTo>
                <a:cubicBezTo>
                  <a:pt x="122" y="32"/>
                  <a:pt x="122" y="32"/>
                  <a:pt x="122" y="32"/>
                </a:cubicBezTo>
                <a:cubicBezTo>
                  <a:pt x="108" y="46"/>
                  <a:pt x="108" y="46"/>
                  <a:pt x="108" y="46"/>
                </a:cubicBezTo>
                <a:cubicBezTo>
                  <a:pt x="129" y="50"/>
                  <a:pt x="146" y="67"/>
                  <a:pt x="149" y="89"/>
                </a:cubicBezTo>
                <a:cubicBezTo>
                  <a:pt x="151" y="99"/>
                  <a:pt x="149" y="110"/>
                  <a:pt x="145" y="119"/>
                </a:cubicBezTo>
                <a:cubicBezTo>
                  <a:pt x="154" y="147"/>
                  <a:pt x="154" y="147"/>
                  <a:pt x="154" y="147"/>
                </a:cubicBezTo>
                <a:cubicBezTo>
                  <a:pt x="184" y="141"/>
                  <a:pt x="184" y="141"/>
                  <a:pt x="184" y="141"/>
                </a:cubicBezTo>
                <a:cubicBezTo>
                  <a:pt x="188" y="134"/>
                  <a:pt x="190" y="127"/>
                  <a:pt x="192" y="120"/>
                </a:cubicBezTo>
                <a:cubicBezTo>
                  <a:pt x="195" y="107"/>
                  <a:pt x="196" y="94"/>
                  <a:pt x="194" y="8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32975" lIns="65950" spcFirstLastPara="1" rIns="65950" wrap="square" tIns="329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99"/>
              <a:buFont typeface="Arial"/>
              <a:buNone/>
            </a:pPr>
            <a:r>
              <a:t/>
            </a:r>
            <a:endParaRPr b="0" i="0" sz="129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9"/>
          <p:cNvSpPr/>
          <p:nvPr/>
        </p:nvSpPr>
        <p:spPr>
          <a:xfrm>
            <a:off x="7586906" y="3676541"/>
            <a:ext cx="481000" cy="481005"/>
          </a:xfrm>
          <a:custGeom>
            <a:rect b="b" l="l" r="r" t="t"/>
            <a:pathLst>
              <a:path extrusionOk="0" h="194" w="194">
                <a:moveTo>
                  <a:pt x="91" y="103"/>
                </a:moveTo>
                <a:cubicBezTo>
                  <a:pt x="183" y="103"/>
                  <a:pt x="183" y="103"/>
                  <a:pt x="183" y="103"/>
                </a:cubicBezTo>
                <a:cubicBezTo>
                  <a:pt x="183" y="153"/>
                  <a:pt x="142" y="194"/>
                  <a:pt x="91" y="194"/>
                </a:cubicBezTo>
                <a:cubicBezTo>
                  <a:pt x="41" y="194"/>
                  <a:pt x="0" y="153"/>
                  <a:pt x="0" y="103"/>
                </a:cubicBezTo>
                <a:cubicBezTo>
                  <a:pt x="0" y="52"/>
                  <a:pt x="41" y="11"/>
                  <a:pt x="91" y="11"/>
                </a:cubicBezTo>
                <a:lnTo>
                  <a:pt x="91" y="103"/>
                </a:lnTo>
                <a:close/>
                <a:moveTo>
                  <a:pt x="102" y="0"/>
                </a:moveTo>
                <a:cubicBezTo>
                  <a:pt x="102" y="92"/>
                  <a:pt x="102" y="92"/>
                  <a:pt x="102" y="92"/>
                </a:cubicBezTo>
                <a:cubicBezTo>
                  <a:pt x="194" y="92"/>
                  <a:pt x="194" y="92"/>
                  <a:pt x="194" y="92"/>
                </a:cubicBezTo>
                <a:cubicBezTo>
                  <a:pt x="194" y="41"/>
                  <a:pt x="153" y="0"/>
                  <a:pt x="102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32975" lIns="65950" spcFirstLastPara="1" rIns="65950" wrap="square" tIns="329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99"/>
              <a:buFont typeface="Arial"/>
              <a:buNone/>
            </a:pPr>
            <a:r>
              <a:t/>
            </a:r>
            <a:endParaRPr b="0" i="0" sz="129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9"/>
          <p:cNvSpPr/>
          <p:nvPr/>
        </p:nvSpPr>
        <p:spPr>
          <a:xfrm>
            <a:off x="10313716" y="3663943"/>
            <a:ext cx="506195" cy="506200"/>
          </a:xfrm>
          <a:custGeom>
            <a:rect b="b" l="l" r="r" t="t"/>
            <a:pathLst>
              <a:path extrusionOk="0" h="204" w="204">
                <a:moveTo>
                  <a:pt x="200" y="87"/>
                </a:moveTo>
                <a:cubicBezTo>
                  <a:pt x="175" y="83"/>
                  <a:pt x="175" y="83"/>
                  <a:pt x="175" y="83"/>
                </a:cubicBezTo>
                <a:cubicBezTo>
                  <a:pt x="173" y="76"/>
                  <a:pt x="170" y="70"/>
                  <a:pt x="166" y="64"/>
                </a:cubicBezTo>
                <a:cubicBezTo>
                  <a:pt x="182" y="43"/>
                  <a:pt x="182" y="43"/>
                  <a:pt x="182" y="43"/>
                </a:cubicBezTo>
                <a:cubicBezTo>
                  <a:pt x="183" y="41"/>
                  <a:pt x="183" y="39"/>
                  <a:pt x="181" y="37"/>
                </a:cubicBezTo>
                <a:cubicBezTo>
                  <a:pt x="166" y="23"/>
                  <a:pt x="166" y="23"/>
                  <a:pt x="166" y="23"/>
                </a:cubicBezTo>
                <a:cubicBezTo>
                  <a:pt x="165" y="21"/>
                  <a:pt x="163" y="21"/>
                  <a:pt x="161" y="22"/>
                </a:cubicBezTo>
                <a:cubicBezTo>
                  <a:pt x="140" y="38"/>
                  <a:pt x="140" y="38"/>
                  <a:pt x="140" y="38"/>
                </a:cubicBezTo>
                <a:cubicBezTo>
                  <a:pt x="134" y="34"/>
                  <a:pt x="128" y="31"/>
                  <a:pt x="121" y="29"/>
                </a:cubicBezTo>
                <a:cubicBezTo>
                  <a:pt x="117" y="4"/>
                  <a:pt x="117" y="4"/>
                  <a:pt x="117" y="4"/>
                </a:cubicBezTo>
                <a:cubicBezTo>
                  <a:pt x="116" y="2"/>
                  <a:pt x="114" y="0"/>
                  <a:pt x="112" y="0"/>
                </a:cubicBezTo>
                <a:cubicBezTo>
                  <a:pt x="92" y="0"/>
                  <a:pt x="92" y="0"/>
                  <a:pt x="92" y="0"/>
                </a:cubicBezTo>
                <a:cubicBezTo>
                  <a:pt x="90" y="0"/>
                  <a:pt x="88" y="2"/>
                  <a:pt x="87" y="4"/>
                </a:cubicBezTo>
                <a:cubicBezTo>
                  <a:pt x="83" y="29"/>
                  <a:pt x="83" y="29"/>
                  <a:pt x="83" y="29"/>
                </a:cubicBezTo>
                <a:cubicBezTo>
                  <a:pt x="76" y="31"/>
                  <a:pt x="70" y="34"/>
                  <a:pt x="64" y="38"/>
                </a:cubicBezTo>
                <a:cubicBezTo>
                  <a:pt x="43" y="22"/>
                  <a:pt x="43" y="22"/>
                  <a:pt x="43" y="22"/>
                </a:cubicBezTo>
                <a:cubicBezTo>
                  <a:pt x="42" y="21"/>
                  <a:pt x="39" y="21"/>
                  <a:pt x="38" y="23"/>
                </a:cubicBezTo>
                <a:cubicBezTo>
                  <a:pt x="23" y="37"/>
                  <a:pt x="23" y="37"/>
                  <a:pt x="23" y="37"/>
                </a:cubicBezTo>
                <a:cubicBezTo>
                  <a:pt x="21" y="39"/>
                  <a:pt x="21" y="41"/>
                  <a:pt x="22" y="43"/>
                </a:cubicBezTo>
                <a:cubicBezTo>
                  <a:pt x="38" y="64"/>
                  <a:pt x="38" y="64"/>
                  <a:pt x="38" y="64"/>
                </a:cubicBezTo>
                <a:cubicBezTo>
                  <a:pt x="34" y="70"/>
                  <a:pt x="31" y="76"/>
                  <a:pt x="29" y="83"/>
                </a:cubicBezTo>
                <a:cubicBezTo>
                  <a:pt x="4" y="87"/>
                  <a:pt x="4" y="87"/>
                  <a:pt x="4" y="87"/>
                </a:cubicBezTo>
                <a:cubicBezTo>
                  <a:pt x="2" y="88"/>
                  <a:pt x="0" y="90"/>
                  <a:pt x="0" y="92"/>
                </a:cubicBezTo>
                <a:cubicBezTo>
                  <a:pt x="0" y="112"/>
                  <a:pt x="0" y="112"/>
                  <a:pt x="0" y="112"/>
                </a:cubicBezTo>
                <a:cubicBezTo>
                  <a:pt x="0" y="114"/>
                  <a:pt x="2" y="116"/>
                  <a:pt x="4" y="117"/>
                </a:cubicBezTo>
                <a:cubicBezTo>
                  <a:pt x="29" y="121"/>
                  <a:pt x="29" y="121"/>
                  <a:pt x="29" y="121"/>
                </a:cubicBezTo>
                <a:cubicBezTo>
                  <a:pt x="31" y="128"/>
                  <a:pt x="34" y="134"/>
                  <a:pt x="38" y="140"/>
                </a:cubicBezTo>
                <a:cubicBezTo>
                  <a:pt x="22" y="161"/>
                  <a:pt x="22" y="161"/>
                  <a:pt x="22" y="161"/>
                </a:cubicBezTo>
                <a:cubicBezTo>
                  <a:pt x="21" y="162"/>
                  <a:pt x="21" y="165"/>
                  <a:pt x="23" y="166"/>
                </a:cubicBezTo>
                <a:cubicBezTo>
                  <a:pt x="38" y="181"/>
                  <a:pt x="38" y="181"/>
                  <a:pt x="38" y="181"/>
                </a:cubicBezTo>
                <a:cubicBezTo>
                  <a:pt x="39" y="183"/>
                  <a:pt x="42" y="183"/>
                  <a:pt x="43" y="182"/>
                </a:cubicBezTo>
                <a:cubicBezTo>
                  <a:pt x="64" y="166"/>
                  <a:pt x="64" y="166"/>
                  <a:pt x="64" y="166"/>
                </a:cubicBezTo>
                <a:cubicBezTo>
                  <a:pt x="70" y="170"/>
                  <a:pt x="76" y="173"/>
                  <a:pt x="83" y="175"/>
                </a:cubicBezTo>
                <a:cubicBezTo>
                  <a:pt x="87" y="200"/>
                  <a:pt x="87" y="200"/>
                  <a:pt x="87" y="200"/>
                </a:cubicBezTo>
                <a:cubicBezTo>
                  <a:pt x="88" y="202"/>
                  <a:pt x="90" y="204"/>
                  <a:pt x="92" y="204"/>
                </a:cubicBezTo>
                <a:cubicBezTo>
                  <a:pt x="112" y="204"/>
                  <a:pt x="112" y="204"/>
                  <a:pt x="112" y="204"/>
                </a:cubicBezTo>
                <a:cubicBezTo>
                  <a:pt x="114" y="204"/>
                  <a:pt x="116" y="202"/>
                  <a:pt x="117" y="200"/>
                </a:cubicBezTo>
                <a:cubicBezTo>
                  <a:pt x="121" y="175"/>
                  <a:pt x="121" y="175"/>
                  <a:pt x="121" y="175"/>
                </a:cubicBezTo>
                <a:cubicBezTo>
                  <a:pt x="128" y="173"/>
                  <a:pt x="134" y="170"/>
                  <a:pt x="140" y="166"/>
                </a:cubicBezTo>
                <a:cubicBezTo>
                  <a:pt x="161" y="182"/>
                  <a:pt x="161" y="182"/>
                  <a:pt x="161" y="182"/>
                </a:cubicBezTo>
                <a:cubicBezTo>
                  <a:pt x="163" y="183"/>
                  <a:pt x="165" y="183"/>
                  <a:pt x="167" y="181"/>
                </a:cubicBezTo>
                <a:cubicBezTo>
                  <a:pt x="181" y="166"/>
                  <a:pt x="181" y="166"/>
                  <a:pt x="181" y="166"/>
                </a:cubicBezTo>
                <a:cubicBezTo>
                  <a:pt x="183" y="165"/>
                  <a:pt x="183" y="162"/>
                  <a:pt x="182" y="161"/>
                </a:cubicBezTo>
                <a:cubicBezTo>
                  <a:pt x="166" y="140"/>
                  <a:pt x="166" y="140"/>
                  <a:pt x="166" y="140"/>
                </a:cubicBezTo>
                <a:cubicBezTo>
                  <a:pt x="170" y="134"/>
                  <a:pt x="173" y="128"/>
                  <a:pt x="175" y="121"/>
                </a:cubicBezTo>
                <a:cubicBezTo>
                  <a:pt x="200" y="117"/>
                  <a:pt x="200" y="117"/>
                  <a:pt x="200" y="117"/>
                </a:cubicBezTo>
                <a:cubicBezTo>
                  <a:pt x="202" y="116"/>
                  <a:pt x="204" y="114"/>
                  <a:pt x="204" y="112"/>
                </a:cubicBezTo>
                <a:cubicBezTo>
                  <a:pt x="204" y="92"/>
                  <a:pt x="204" y="92"/>
                  <a:pt x="204" y="92"/>
                </a:cubicBezTo>
                <a:cubicBezTo>
                  <a:pt x="204" y="90"/>
                  <a:pt x="202" y="88"/>
                  <a:pt x="200" y="87"/>
                </a:cubicBezTo>
                <a:close/>
                <a:moveTo>
                  <a:pt x="102" y="139"/>
                </a:moveTo>
                <a:cubicBezTo>
                  <a:pt x="81" y="139"/>
                  <a:pt x="65" y="123"/>
                  <a:pt x="65" y="102"/>
                </a:cubicBezTo>
                <a:cubicBezTo>
                  <a:pt x="65" y="81"/>
                  <a:pt x="81" y="65"/>
                  <a:pt x="102" y="65"/>
                </a:cubicBezTo>
                <a:cubicBezTo>
                  <a:pt x="123" y="65"/>
                  <a:pt x="139" y="81"/>
                  <a:pt x="139" y="102"/>
                </a:cubicBezTo>
                <a:cubicBezTo>
                  <a:pt x="139" y="123"/>
                  <a:pt x="123" y="139"/>
                  <a:pt x="102" y="139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32975" lIns="65950" spcFirstLastPara="1" rIns="65950" wrap="square" tIns="329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99"/>
              <a:buFont typeface="Arial"/>
              <a:buNone/>
            </a:pPr>
            <a:r>
              <a:t/>
            </a:r>
            <a:endParaRPr b="0" i="0" sz="129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9"/>
          <p:cNvSpPr/>
          <p:nvPr/>
        </p:nvSpPr>
        <p:spPr>
          <a:xfrm>
            <a:off x="3191485" y="2349125"/>
            <a:ext cx="204900" cy="24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87"/>
              <a:buFont typeface="Arial"/>
              <a:buNone/>
            </a:pPr>
            <a:r>
              <a:rPr b="1" i="0" lang="en-US" sz="158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</a:t>
            </a:r>
            <a:endParaRPr b="0" i="0" sz="129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9"/>
          <p:cNvSpPr/>
          <p:nvPr/>
        </p:nvSpPr>
        <p:spPr>
          <a:xfrm>
            <a:off x="3355250" y="2349125"/>
            <a:ext cx="1041600" cy="28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87"/>
              <a:buFont typeface="Arial"/>
              <a:buNone/>
            </a:pPr>
            <a:r>
              <a:rPr b="1" lang="en-US" sz="1587">
                <a:latin typeface="Calibri"/>
                <a:ea typeface="Calibri"/>
                <a:cs typeface="Calibri"/>
                <a:sym typeface="Calibri"/>
              </a:rPr>
              <a:t>PURPOSE</a:t>
            </a:r>
            <a:endParaRPr b="0" i="0" sz="129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9"/>
          <p:cNvSpPr/>
          <p:nvPr/>
        </p:nvSpPr>
        <p:spPr>
          <a:xfrm>
            <a:off x="5937764" y="2349125"/>
            <a:ext cx="195900" cy="24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87"/>
              <a:buFont typeface="Arial"/>
              <a:buNone/>
            </a:pPr>
            <a:r>
              <a:rPr b="1" i="0" lang="en-US" sz="158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3.</a:t>
            </a:r>
            <a:endParaRPr b="0" i="0" sz="129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9"/>
          <p:cNvSpPr/>
          <p:nvPr/>
        </p:nvSpPr>
        <p:spPr>
          <a:xfrm>
            <a:off x="6101516" y="2349125"/>
            <a:ext cx="2004000" cy="24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87"/>
              <a:buFont typeface="Arial"/>
              <a:buNone/>
            </a:pPr>
            <a:r>
              <a:rPr b="1" lang="en-US" sz="1587">
                <a:latin typeface="Calibri"/>
                <a:ea typeface="Calibri"/>
                <a:cs typeface="Calibri"/>
                <a:sym typeface="Calibri"/>
              </a:rPr>
              <a:t>BOUNDARY</a:t>
            </a:r>
            <a:endParaRPr b="0" i="0" sz="129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9"/>
          <p:cNvSpPr/>
          <p:nvPr/>
        </p:nvSpPr>
        <p:spPr>
          <a:xfrm>
            <a:off x="8680608" y="2349125"/>
            <a:ext cx="234900" cy="24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87"/>
              <a:buFont typeface="Arial"/>
              <a:buNone/>
            </a:pPr>
            <a:r>
              <a:rPr b="1" i="0" lang="en-US" sz="158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5.</a:t>
            </a:r>
            <a:endParaRPr b="0" i="0" sz="129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9"/>
          <p:cNvSpPr/>
          <p:nvPr/>
        </p:nvSpPr>
        <p:spPr>
          <a:xfrm>
            <a:off x="8846673" y="2349125"/>
            <a:ext cx="1704900" cy="24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87"/>
              <a:buFont typeface="Arial"/>
              <a:buNone/>
            </a:pPr>
            <a:r>
              <a:rPr b="1" lang="en-US" sz="1587">
                <a:latin typeface="Calibri"/>
                <a:ea typeface="Calibri"/>
                <a:cs typeface="Calibri"/>
                <a:sym typeface="Calibri"/>
              </a:rPr>
              <a:t>INTEREALTIONSHIP</a:t>
            </a:r>
            <a:endParaRPr b="0" i="0" sz="129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9"/>
          <p:cNvSpPr/>
          <p:nvPr/>
        </p:nvSpPr>
        <p:spPr>
          <a:xfrm>
            <a:off x="9964419" y="4766968"/>
            <a:ext cx="204900" cy="24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87"/>
              <a:buFont typeface="Arial"/>
              <a:buNone/>
            </a:pPr>
            <a:r>
              <a:rPr b="1" i="0" lang="en-US" sz="158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6.</a:t>
            </a:r>
            <a:endParaRPr b="0" i="0" sz="129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9"/>
          <p:cNvSpPr/>
          <p:nvPr/>
        </p:nvSpPr>
        <p:spPr>
          <a:xfrm>
            <a:off x="10130478" y="4766968"/>
            <a:ext cx="1034100" cy="24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87"/>
              <a:buFont typeface="Arial"/>
              <a:buNone/>
            </a:pPr>
            <a:r>
              <a:rPr b="1" lang="en-US" sz="1587">
                <a:latin typeface="Calibri"/>
                <a:ea typeface="Calibri"/>
                <a:cs typeface="Calibri"/>
                <a:sym typeface="Calibri"/>
              </a:rPr>
              <a:t>FEEDBACK</a:t>
            </a:r>
            <a:endParaRPr b="0" i="0" sz="129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9"/>
          <p:cNvSpPr/>
          <p:nvPr/>
        </p:nvSpPr>
        <p:spPr>
          <a:xfrm>
            <a:off x="7289144" y="4766968"/>
            <a:ext cx="204900" cy="24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87"/>
              <a:buFont typeface="Arial"/>
              <a:buNone/>
            </a:pPr>
            <a:r>
              <a:rPr b="1" i="0" lang="en-US" sz="158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4.</a:t>
            </a:r>
            <a:endParaRPr b="0" i="0" sz="129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9"/>
          <p:cNvSpPr/>
          <p:nvPr/>
        </p:nvSpPr>
        <p:spPr>
          <a:xfrm>
            <a:off x="7452934" y="4766975"/>
            <a:ext cx="1704900" cy="24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87"/>
              <a:buFont typeface="Arial"/>
              <a:buNone/>
            </a:pPr>
            <a:r>
              <a:rPr b="1" lang="en-US" sz="1587">
                <a:latin typeface="Calibri"/>
                <a:ea typeface="Calibri"/>
                <a:cs typeface="Calibri"/>
                <a:sym typeface="Calibri"/>
              </a:rPr>
              <a:t>INPUT and OUTPUT</a:t>
            </a:r>
            <a:endParaRPr b="0" i="0" sz="129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9"/>
          <p:cNvSpPr/>
          <p:nvPr/>
        </p:nvSpPr>
        <p:spPr>
          <a:xfrm>
            <a:off x="4795963" y="4766968"/>
            <a:ext cx="204900" cy="24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87"/>
              <a:buFont typeface="Arial"/>
              <a:buNone/>
            </a:pPr>
            <a:r>
              <a:rPr b="1" i="0" lang="en-US" sz="158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2.</a:t>
            </a:r>
            <a:endParaRPr b="0" i="0" sz="129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9"/>
          <p:cNvSpPr/>
          <p:nvPr/>
        </p:nvSpPr>
        <p:spPr>
          <a:xfrm>
            <a:off x="4962025" y="4766975"/>
            <a:ext cx="1351500" cy="28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87"/>
              <a:buFont typeface="Arial"/>
              <a:buNone/>
            </a:pPr>
            <a:r>
              <a:rPr b="1" lang="en-US" sz="1587">
                <a:latin typeface="Calibri"/>
                <a:ea typeface="Calibri"/>
                <a:cs typeface="Calibri"/>
                <a:sym typeface="Calibri"/>
              </a:rPr>
              <a:t>ELEMENTS</a:t>
            </a:r>
            <a:endParaRPr b="0" i="0" sz="129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9"/>
          <p:cNvSpPr txBox="1"/>
          <p:nvPr/>
        </p:nvSpPr>
        <p:spPr>
          <a:xfrm>
            <a:off x="5864475" y="2565575"/>
            <a:ext cx="1281900" cy="499800"/>
          </a:xfrm>
          <a:prstGeom prst="rect">
            <a:avLst/>
          </a:prstGeom>
          <a:noFill/>
          <a:ln>
            <a:noFill/>
          </a:ln>
        </p:spPr>
        <p:txBody>
          <a:bodyPr anchorCtr="0" anchor="t" bIns="32975" lIns="65950" spcFirstLastPara="1" rIns="65950" wrap="square" tIns="329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38"/>
              <a:buFont typeface="Arial"/>
              <a:buNone/>
            </a:pPr>
            <a:r>
              <a:rPr lang="en-US" sz="938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Menentukan sejauh mana sistem beroperasi.</a:t>
            </a:r>
            <a:endParaRPr b="0" i="0" sz="93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9"/>
          <p:cNvSpPr txBox="1"/>
          <p:nvPr/>
        </p:nvSpPr>
        <p:spPr>
          <a:xfrm>
            <a:off x="8617628" y="2565575"/>
            <a:ext cx="1822200" cy="3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32975" lIns="65950" spcFirstLastPara="1" rIns="65950" wrap="square" tIns="329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38"/>
              <a:buFont typeface="Arial"/>
              <a:buNone/>
            </a:pPr>
            <a:r>
              <a:rPr lang="en-US" sz="938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Semua bagian sistem berfungsi secara sinergis.</a:t>
            </a:r>
            <a:endParaRPr b="0" i="0" sz="938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89" name="Google Shape;189;p9"/>
          <p:cNvSpPr txBox="1"/>
          <p:nvPr/>
        </p:nvSpPr>
        <p:spPr>
          <a:xfrm>
            <a:off x="4795975" y="5058000"/>
            <a:ext cx="1068600" cy="499800"/>
          </a:xfrm>
          <a:prstGeom prst="rect">
            <a:avLst/>
          </a:prstGeom>
          <a:noFill/>
          <a:ln>
            <a:noFill/>
          </a:ln>
        </p:spPr>
        <p:txBody>
          <a:bodyPr anchorCtr="0" anchor="t" bIns="32975" lIns="65950" spcFirstLastPara="1" rIns="65950" wrap="square" tIns="3297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38"/>
              <a:buFont typeface="Arial"/>
              <a:buNone/>
            </a:pPr>
            <a:r>
              <a:rPr lang="en-US" sz="938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Terdiri dari bagian-bagian yang saling terkait.</a:t>
            </a:r>
            <a:endParaRPr b="0" i="0" sz="93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9"/>
          <p:cNvSpPr txBox="1"/>
          <p:nvPr/>
        </p:nvSpPr>
        <p:spPr>
          <a:xfrm>
            <a:off x="7224994" y="4985700"/>
            <a:ext cx="1822200" cy="3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32975" lIns="65950" spcFirstLastPara="1" rIns="65950" wrap="square" tIns="3297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38"/>
              <a:buFont typeface="Arial"/>
              <a:buNone/>
            </a:pPr>
            <a:r>
              <a:rPr lang="en-US" sz="938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Input masuk ke sistem, diolah, dan menghasilkan output.</a:t>
            </a:r>
            <a:endParaRPr b="0" i="0" sz="93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9"/>
          <p:cNvSpPr txBox="1"/>
          <p:nvPr/>
        </p:nvSpPr>
        <p:spPr>
          <a:xfrm>
            <a:off x="9979307" y="4985710"/>
            <a:ext cx="1204800" cy="499800"/>
          </a:xfrm>
          <a:prstGeom prst="rect">
            <a:avLst/>
          </a:prstGeom>
          <a:noFill/>
          <a:ln>
            <a:noFill/>
          </a:ln>
        </p:spPr>
        <p:txBody>
          <a:bodyPr anchorCtr="0" anchor="t" bIns="32975" lIns="65950" spcFirstLastPara="1" rIns="65950" wrap="square" tIns="3297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38"/>
              <a:buFont typeface="Arial"/>
              <a:buNone/>
            </a:pPr>
            <a:r>
              <a:rPr lang="en-US" sz="938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Untuk menjaga sistem tetap berjalan dengan baik.</a:t>
            </a:r>
            <a:endParaRPr b="0" i="0" sz="93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9"/>
          <p:cNvSpPr txBox="1"/>
          <p:nvPr/>
        </p:nvSpPr>
        <p:spPr>
          <a:xfrm>
            <a:off x="491574" y="6224700"/>
            <a:ext cx="5100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i="1"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Konsep Sistem Informasi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9"/>
          <p:cNvSpPr txBox="1"/>
          <p:nvPr/>
        </p:nvSpPr>
        <p:spPr>
          <a:xfrm>
            <a:off x="356098" y="1347175"/>
            <a:ext cx="51114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lang="en-US" sz="4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Karakteristik Sistem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9"/>
          <p:cNvSpPr/>
          <p:nvPr/>
        </p:nvSpPr>
        <p:spPr>
          <a:xfrm>
            <a:off x="356109" y="2265735"/>
            <a:ext cx="1041600" cy="83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Text&#10;&#10;Description automatically generated" id="199" name="Google Shape;199;g38ee74f45bd_0_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6109" y="209804"/>
            <a:ext cx="2923537" cy="748241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g38ee74f45bd_0_34"/>
          <p:cNvSpPr/>
          <p:nvPr/>
        </p:nvSpPr>
        <p:spPr>
          <a:xfrm>
            <a:off x="356108" y="6182975"/>
            <a:ext cx="10794600" cy="465300"/>
          </a:xfrm>
          <a:prstGeom prst="rect">
            <a:avLst/>
          </a:prstGeom>
          <a:solidFill>
            <a:srgbClr val="02CCC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g38ee74f45bd_0_34"/>
          <p:cNvSpPr/>
          <p:nvPr/>
        </p:nvSpPr>
        <p:spPr>
          <a:xfrm>
            <a:off x="11245515" y="6176749"/>
            <a:ext cx="590400" cy="465300"/>
          </a:xfrm>
          <a:prstGeom prst="rect">
            <a:avLst/>
          </a:prstGeom>
          <a:solidFill>
            <a:srgbClr val="1B356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g38ee74f45bd_0_34"/>
          <p:cNvSpPr txBox="1"/>
          <p:nvPr/>
        </p:nvSpPr>
        <p:spPr>
          <a:xfrm>
            <a:off x="491576" y="6224693"/>
            <a:ext cx="2262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1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Makul Title Goes Here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g38ee74f45bd_0_34"/>
          <p:cNvSpPr txBox="1"/>
          <p:nvPr>
            <p:ph idx="12" type="sldNum"/>
          </p:nvPr>
        </p:nvSpPr>
        <p:spPr>
          <a:xfrm>
            <a:off x="8957224" y="6224693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US" sz="1800">
                <a:solidFill>
                  <a:schemeClr val="lt1"/>
                </a:solidFill>
              </a:rPr>
              <a:t>‹#›</a:t>
            </a:fld>
            <a:endParaRPr sz="1800">
              <a:solidFill>
                <a:schemeClr val="lt1"/>
              </a:solidFill>
            </a:endParaRPr>
          </a:p>
        </p:txBody>
      </p:sp>
      <p:sp>
        <p:nvSpPr>
          <p:cNvPr id="204" name="Google Shape;204;g38ee74f45bd_0_34"/>
          <p:cNvSpPr txBox="1"/>
          <p:nvPr/>
        </p:nvSpPr>
        <p:spPr>
          <a:xfrm>
            <a:off x="363543" y="4351907"/>
            <a:ext cx="1461900" cy="747300"/>
          </a:xfrm>
          <a:prstGeom prst="rect">
            <a:avLst/>
          </a:prstGeom>
          <a:noFill/>
          <a:ln>
            <a:noFill/>
          </a:ln>
        </p:spPr>
        <p:txBody>
          <a:bodyPr anchorCtr="0" anchor="t" bIns="35775" lIns="71600" spcFirstLastPara="1" rIns="71600" wrap="square" tIns="357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96"/>
              <a:buFont typeface="Arial"/>
              <a:buNone/>
            </a:pPr>
            <a:r>
              <a:rPr lang="en-US" sz="1096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Berinteraksi dengan lingkungan luar (contoh: sistem organisasi kampus).</a:t>
            </a:r>
            <a:endParaRPr b="0" i="0" sz="109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g38ee74f45bd_0_34"/>
          <p:cNvSpPr/>
          <p:nvPr/>
        </p:nvSpPr>
        <p:spPr>
          <a:xfrm>
            <a:off x="649456" y="2694416"/>
            <a:ext cx="890100" cy="891300"/>
          </a:xfrm>
          <a:prstGeom prst="ellipse">
            <a:avLst/>
          </a:prstGeom>
          <a:noFill/>
          <a:ln cap="flat" cmpd="sng" w="26100">
            <a:solidFill>
              <a:srgbClr val="02CCC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35775" lIns="71600" spcFirstLastPara="1" rIns="71600" wrap="square" tIns="357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10"/>
              <a:buFont typeface="Arial"/>
              <a:buNone/>
            </a:pPr>
            <a:r>
              <a:t/>
            </a:r>
            <a:endParaRPr b="0" i="0" sz="141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g38ee74f45bd_0_34"/>
          <p:cNvSpPr/>
          <p:nvPr/>
        </p:nvSpPr>
        <p:spPr>
          <a:xfrm>
            <a:off x="2900708" y="2694416"/>
            <a:ext cx="888900" cy="891300"/>
          </a:xfrm>
          <a:prstGeom prst="ellipse">
            <a:avLst/>
          </a:prstGeom>
          <a:noFill/>
          <a:ln cap="flat" cmpd="sng" w="26100">
            <a:solidFill>
              <a:srgbClr val="1B356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35775" lIns="71600" spcFirstLastPara="1" rIns="71600" wrap="square" tIns="357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10"/>
              <a:buFont typeface="Arial"/>
              <a:buNone/>
            </a:pPr>
            <a:r>
              <a:t/>
            </a:r>
            <a:endParaRPr b="0" i="0" sz="141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g38ee74f45bd_0_34"/>
          <p:cNvSpPr/>
          <p:nvPr/>
        </p:nvSpPr>
        <p:spPr>
          <a:xfrm>
            <a:off x="4949335" y="2694416"/>
            <a:ext cx="890100" cy="891300"/>
          </a:xfrm>
          <a:prstGeom prst="ellipse">
            <a:avLst/>
          </a:prstGeom>
          <a:noFill/>
          <a:ln cap="flat" cmpd="sng" w="26100">
            <a:solidFill>
              <a:srgbClr val="019C9E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35775" lIns="71600" spcFirstLastPara="1" rIns="71600" wrap="square" tIns="357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10"/>
              <a:buFont typeface="Arial"/>
              <a:buNone/>
            </a:pPr>
            <a:r>
              <a:t/>
            </a:r>
            <a:endParaRPr b="0" i="0" sz="141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g38ee74f45bd_0_34"/>
          <p:cNvSpPr/>
          <p:nvPr/>
        </p:nvSpPr>
        <p:spPr>
          <a:xfrm>
            <a:off x="6999205" y="2694416"/>
            <a:ext cx="890100" cy="891300"/>
          </a:xfrm>
          <a:prstGeom prst="ellipse">
            <a:avLst/>
          </a:prstGeom>
          <a:noFill/>
          <a:ln cap="flat" cmpd="sng" w="26100">
            <a:solidFill>
              <a:srgbClr val="10223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35775" lIns="71600" spcFirstLastPara="1" rIns="71600" wrap="square" tIns="357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10"/>
              <a:buFont typeface="Arial"/>
              <a:buNone/>
            </a:pPr>
            <a:r>
              <a:t/>
            </a:r>
            <a:endParaRPr b="0" i="0" sz="141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g38ee74f45bd_0_34"/>
          <p:cNvSpPr/>
          <p:nvPr/>
        </p:nvSpPr>
        <p:spPr>
          <a:xfrm>
            <a:off x="276418" y="3711269"/>
            <a:ext cx="1799700" cy="51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1"/>
              <a:buFont typeface="Arial"/>
              <a:buNone/>
            </a:pPr>
            <a:r>
              <a:rPr b="1" lang="en-US" sz="180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Sistem terbuka (Open System)</a:t>
            </a:r>
            <a:endParaRPr b="0" i="0" sz="141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g38ee74f45bd_0_34"/>
          <p:cNvSpPr txBox="1"/>
          <p:nvPr/>
        </p:nvSpPr>
        <p:spPr>
          <a:xfrm>
            <a:off x="356098" y="1347175"/>
            <a:ext cx="51114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lang="en-US" sz="4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Klasifikasi Sistem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g38ee74f45bd_0_34"/>
          <p:cNvSpPr/>
          <p:nvPr/>
        </p:nvSpPr>
        <p:spPr>
          <a:xfrm>
            <a:off x="356109" y="2265735"/>
            <a:ext cx="1041600" cy="83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g38ee74f45bd_0_34"/>
          <p:cNvSpPr txBox="1"/>
          <p:nvPr/>
        </p:nvSpPr>
        <p:spPr>
          <a:xfrm>
            <a:off x="2532443" y="4351907"/>
            <a:ext cx="1461900" cy="747300"/>
          </a:xfrm>
          <a:prstGeom prst="rect">
            <a:avLst/>
          </a:prstGeom>
          <a:noFill/>
          <a:ln>
            <a:noFill/>
          </a:ln>
        </p:spPr>
        <p:txBody>
          <a:bodyPr anchorCtr="0" anchor="t" bIns="35775" lIns="71600" spcFirstLastPara="1" rIns="71600" wrap="square" tIns="357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96"/>
              <a:buFont typeface="Arial"/>
              <a:buNone/>
            </a:pPr>
            <a:r>
              <a:rPr lang="en-US" sz="1096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Tidak berinteraksi dengan lingkungan luar (jarang dalam dunia nyata).</a:t>
            </a:r>
            <a:endParaRPr b="0" i="0" sz="109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g38ee74f45bd_0_34"/>
          <p:cNvSpPr/>
          <p:nvPr/>
        </p:nvSpPr>
        <p:spPr>
          <a:xfrm>
            <a:off x="2445318" y="3711269"/>
            <a:ext cx="1799700" cy="51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1"/>
              <a:buFont typeface="Arial"/>
              <a:buNone/>
            </a:pPr>
            <a:r>
              <a:rPr b="1" lang="en-US" sz="180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Sistem tertutup (Closed System)</a:t>
            </a:r>
            <a:endParaRPr b="0" i="0" sz="141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g38ee74f45bd_0_34"/>
          <p:cNvSpPr txBox="1"/>
          <p:nvPr/>
        </p:nvSpPr>
        <p:spPr>
          <a:xfrm>
            <a:off x="4644743" y="4351907"/>
            <a:ext cx="1461900" cy="409800"/>
          </a:xfrm>
          <a:prstGeom prst="rect">
            <a:avLst/>
          </a:prstGeom>
          <a:noFill/>
          <a:ln>
            <a:noFill/>
          </a:ln>
        </p:spPr>
        <p:txBody>
          <a:bodyPr anchorCtr="0" anchor="t" bIns="35775" lIns="71600" spcFirstLastPara="1" rIns="71600" wrap="square" tIns="357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96"/>
              <a:buFont typeface="Arial"/>
              <a:buNone/>
            </a:pPr>
            <a:r>
              <a:rPr lang="en-US" sz="1096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Diciptakan oleh alam, seperti sistem ekologi.</a:t>
            </a:r>
            <a:endParaRPr b="0" i="0" sz="109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g38ee74f45bd_0_34"/>
          <p:cNvSpPr/>
          <p:nvPr/>
        </p:nvSpPr>
        <p:spPr>
          <a:xfrm>
            <a:off x="4557618" y="3711269"/>
            <a:ext cx="1799700" cy="51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1"/>
              <a:buFont typeface="Arial"/>
              <a:buNone/>
            </a:pPr>
            <a:r>
              <a:rPr b="1" lang="en-US" sz="180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Sistem alamiah (Natural System)</a:t>
            </a:r>
            <a:endParaRPr b="0" i="0" sz="141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g38ee74f45bd_0_34"/>
          <p:cNvSpPr txBox="1"/>
          <p:nvPr/>
        </p:nvSpPr>
        <p:spPr>
          <a:xfrm>
            <a:off x="6631518" y="4924098"/>
            <a:ext cx="1461900" cy="747300"/>
          </a:xfrm>
          <a:prstGeom prst="rect">
            <a:avLst/>
          </a:prstGeom>
          <a:noFill/>
          <a:ln>
            <a:noFill/>
          </a:ln>
        </p:spPr>
        <p:txBody>
          <a:bodyPr anchorCtr="0" anchor="t" bIns="35775" lIns="71600" spcFirstLastPara="1" rIns="71600" wrap="square" tIns="357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96"/>
              <a:buFont typeface="Arial"/>
              <a:buNone/>
            </a:pPr>
            <a:r>
              <a:rPr lang="en-US" sz="1096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Diciptakan oleh manusia, seperti sistem informasi atau sistem lalu lintas.</a:t>
            </a:r>
            <a:endParaRPr b="0" i="0" sz="109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g38ee74f45bd_0_34"/>
          <p:cNvSpPr/>
          <p:nvPr/>
        </p:nvSpPr>
        <p:spPr>
          <a:xfrm>
            <a:off x="6544393" y="3711269"/>
            <a:ext cx="1799700" cy="51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1"/>
              <a:buFont typeface="Arial"/>
              <a:buNone/>
            </a:pPr>
            <a:r>
              <a:rPr b="1" lang="en-US" sz="180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Sistem buatan manusia (Human-Made System)</a:t>
            </a:r>
            <a:endParaRPr b="0" i="0" sz="141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g38ee74f45bd_0_34"/>
          <p:cNvSpPr/>
          <p:nvPr/>
        </p:nvSpPr>
        <p:spPr>
          <a:xfrm>
            <a:off x="8922885" y="2694416"/>
            <a:ext cx="890100" cy="891300"/>
          </a:xfrm>
          <a:prstGeom prst="ellipse">
            <a:avLst/>
          </a:prstGeom>
          <a:noFill/>
          <a:ln cap="flat" cmpd="sng" w="26100">
            <a:solidFill>
              <a:srgbClr val="019C9E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35775" lIns="71600" spcFirstLastPara="1" rIns="71600" wrap="square" tIns="357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10"/>
              <a:buFont typeface="Arial"/>
              <a:buNone/>
            </a:pPr>
            <a:r>
              <a:t/>
            </a:r>
            <a:endParaRPr b="0" i="0" sz="141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g38ee74f45bd_0_34"/>
          <p:cNvSpPr txBox="1"/>
          <p:nvPr/>
        </p:nvSpPr>
        <p:spPr>
          <a:xfrm>
            <a:off x="8618293" y="4351907"/>
            <a:ext cx="1461900" cy="747300"/>
          </a:xfrm>
          <a:prstGeom prst="rect">
            <a:avLst/>
          </a:prstGeom>
          <a:noFill/>
          <a:ln>
            <a:noFill/>
          </a:ln>
        </p:spPr>
        <p:txBody>
          <a:bodyPr anchorCtr="0" anchor="t" bIns="35775" lIns="71600" spcFirstLastPara="1" rIns="71600" wrap="square" tIns="357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96"/>
              <a:buFont typeface="Arial"/>
              <a:buNone/>
            </a:pPr>
            <a:r>
              <a:rPr lang="en-US" sz="1096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Output dapat diprediksi dengan pasti (misal: sistem komputer).</a:t>
            </a:r>
            <a:endParaRPr b="0" i="0" sz="109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g38ee74f45bd_0_34"/>
          <p:cNvSpPr/>
          <p:nvPr/>
        </p:nvSpPr>
        <p:spPr>
          <a:xfrm>
            <a:off x="8531168" y="3711269"/>
            <a:ext cx="1799700" cy="51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1"/>
              <a:buFont typeface="Arial"/>
              <a:buNone/>
            </a:pPr>
            <a:r>
              <a:rPr b="1" lang="en-US" sz="180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Sistem deterministik</a:t>
            </a:r>
            <a:endParaRPr b="0" i="0" sz="141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g38ee74f45bd_0_34"/>
          <p:cNvSpPr/>
          <p:nvPr/>
        </p:nvSpPr>
        <p:spPr>
          <a:xfrm>
            <a:off x="10786258" y="2694416"/>
            <a:ext cx="888900" cy="891300"/>
          </a:xfrm>
          <a:prstGeom prst="ellipse">
            <a:avLst/>
          </a:prstGeom>
          <a:noFill/>
          <a:ln cap="flat" cmpd="sng" w="26100">
            <a:solidFill>
              <a:srgbClr val="1B356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35775" lIns="71600" spcFirstLastPara="1" rIns="71600" wrap="square" tIns="357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10"/>
              <a:buFont typeface="Arial"/>
              <a:buNone/>
            </a:pPr>
            <a:r>
              <a:t/>
            </a:r>
            <a:endParaRPr b="0" i="0" sz="141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g38ee74f45bd_0_34"/>
          <p:cNvSpPr txBox="1"/>
          <p:nvPr/>
        </p:nvSpPr>
        <p:spPr>
          <a:xfrm>
            <a:off x="10417993" y="4351907"/>
            <a:ext cx="1461900" cy="747300"/>
          </a:xfrm>
          <a:prstGeom prst="rect">
            <a:avLst/>
          </a:prstGeom>
          <a:noFill/>
          <a:ln>
            <a:noFill/>
          </a:ln>
        </p:spPr>
        <p:txBody>
          <a:bodyPr anchorCtr="0" anchor="t" bIns="35775" lIns="71600" spcFirstLastPara="1" rIns="71600" wrap="square" tIns="357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96"/>
              <a:buFont typeface="Arial"/>
              <a:buNone/>
            </a:pPr>
            <a:r>
              <a:rPr lang="en-US" sz="1096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Output tidak pasti, tergantung kondisi (misal: sistem ekonomi).</a:t>
            </a:r>
            <a:endParaRPr b="0" i="0" sz="109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g38ee74f45bd_0_34"/>
          <p:cNvSpPr/>
          <p:nvPr/>
        </p:nvSpPr>
        <p:spPr>
          <a:xfrm>
            <a:off x="10330868" y="3711269"/>
            <a:ext cx="1799700" cy="51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1"/>
              <a:buFont typeface="Arial"/>
              <a:buNone/>
            </a:pPr>
            <a:r>
              <a:rPr b="1" lang="en-US" sz="180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Sistem probabilistik</a:t>
            </a:r>
            <a:endParaRPr b="0" i="0" sz="141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Text&#10;&#10;Description automatically generated" id="228" name="Google Shape;228;g38ee74f45bd_0_10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6109" y="209804"/>
            <a:ext cx="2923537" cy="748241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g38ee74f45bd_0_102"/>
          <p:cNvSpPr/>
          <p:nvPr/>
        </p:nvSpPr>
        <p:spPr>
          <a:xfrm>
            <a:off x="356108" y="6182975"/>
            <a:ext cx="10794600" cy="465300"/>
          </a:xfrm>
          <a:prstGeom prst="rect">
            <a:avLst/>
          </a:prstGeom>
          <a:solidFill>
            <a:srgbClr val="02CCC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g38ee74f45bd_0_102"/>
          <p:cNvSpPr/>
          <p:nvPr/>
        </p:nvSpPr>
        <p:spPr>
          <a:xfrm>
            <a:off x="11245515" y="6176749"/>
            <a:ext cx="590400" cy="465300"/>
          </a:xfrm>
          <a:prstGeom prst="rect">
            <a:avLst/>
          </a:prstGeom>
          <a:solidFill>
            <a:srgbClr val="1B356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g38ee74f45bd_0_102"/>
          <p:cNvSpPr txBox="1"/>
          <p:nvPr>
            <p:ph idx="12" type="sldNum"/>
          </p:nvPr>
        </p:nvSpPr>
        <p:spPr>
          <a:xfrm>
            <a:off x="8957224" y="6224693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US" sz="1800">
                <a:solidFill>
                  <a:schemeClr val="lt1"/>
                </a:solidFill>
              </a:rPr>
              <a:t>‹#›</a:t>
            </a:fld>
            <a:endParaRPr sz="1800">
              <a:solidFill>
                <a:schemeClr val="lt1"/>
              </a:solidFill>
            </a:endParaRPr>
          </a:p>
        </p:txBody>
      </p:sp>
      <p:sp>
        <p:nvSpPr>
          <p:cNvPr id="232" name="Google Shape;232;g38ee74f45bd_0_102"/>
          <p:cNvSpPr txBox="1"/>
          <p:nvPr/>
        </p:nvSpPr>
        <p:spPr>
          <a:xfrm>
            <a:off x="356100" y="1561288"/>
            <a:ext cx="58827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3200">
                <a:solidFill>
                  <a:schemeClr val="dk1"/>
                </a:solidFill>
              </a:rPr>
              <a:t>Konsep Sistem Informasi (SI)</a:t>
            </a:r>
            <a:endParaRPr b="1" sz="5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g38ee74f45bd_0_102"/>
          <p:cNvSpPr/>
          <p:nvPr/>
        </p:nvSpPr>
        <p:spPr>
          <a:xfrm>
            <a:off x="356109" y="2265735"/>
            <a:ext cx="1041600" cy="83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g38ee74f45bd_0_102"/>
          <p:cNvSpPr txBox="1"/>
          <p:nvPr/>
        </p:nvSpPr>
        <p:spPr>
          <a:xfrm>
            <a:off x="356100" y="2749525"/>
            <a:ext cx="11272800" cy="332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200">
                <a:solidFill>
                  <a:schemeClr val="dk1"/>
                </a:solidFill>
              </a:rPr>
              <a:t>Definisi</a:t>
            </a:r>
            <a:endParaRPr b="1" sz="2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solidFill>
                  <a:schemeClr val="dk1"/>
                </a:solidFill>
              </a:rPr>
              <a:t>Menurut </a:t>
            </a:r>
            <a:r>
              <a:rPr i="1" lang="en-US" sz="2000">
                <a:solidFill>
                  <a:schemeClr val="dk1"/>
                </a:solidFill>
              </a:rPr>
              <a:t>Laudon &amp; Laudon (2022)</a:t>
            </a:r>
            <a:r>
              <a:rPr lang="en-US" sz="2000">
                <a:solidFill>
                  <a:schemeClr val="dk1"/>
                </a:solidFill>
              </a:rPr>
              <a:t>:</a:t>
            </a:r>
            <a:endParaRPr sz="2000">
              <a:solidFill>
                <a:schemeClr val="dk1"/>
              </a:solidFill>
            </a:endParaRPr>
          </a:p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-US" sz="2000">
                <a:solidFill>
                  <a:schemeClr val="dk1"/>
                </a:solidFill>
              </a:rPr>
              <a:t>“Information System is a set of interrelated components that collect, process, store, and distribute information to support decision making, coordination, and control.”</a:t>
            </a:r>
            <a:endParaRPr i="1"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solidFill>
                  <a:schemeClr val="dk1"/>
                </a:solidFill>
              </a:rPr>
              <a:t>Jadi, </a:t>
            </a:r>
            <a:r>
              <a:rPr b="1" lang="en-US" sz="2000">
                <a:solidFill>
                  <a:schemeClr val="dk1"/>
                </a:solidFill>
              </a:rPr>
              <a:t>Sistem Informasi (SI)</a:t>
            </a:r>
            <a:r>
              <a:rPr lang="en-US" sz="2000">
                <a:solidFill>
                  <a:schemeClr val="dk1"/>
                </a:solidFill>
              </a:rPr>
              <a:t> adalah kombinasi dari </a:t>
            </a:r>
            <a:r>
              <a:rPr b="1" lang="en-US" sz="2000">
                <a:solidFill>
                  <a:schemeClr val="dk1"/>
                </a:solidFill>
              </a:rPr>
              <a:t>manusia, perangkat keras, perangkat lunak, data, dan prosedur</a:t>
            </a:r>
            <a:r>
              <a:rPr lang="en-US" sz="2000">
                <a:solidFill>
                  <a:schemeClr val="dk1"/>
                </a:solidFill>
              </a:rPr>
              <a:t> yang bekerja sama untuk mengelola informasi yang berguna bagi organisasi.</a:t>
            </a:r>
            <a:endParaRPr sz="2000">
              <a:solidFill>
                <a:schemeClr val="dk1"/>
              </a:solidFill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sz="3000">
              <a:solidFill>
                <a:schemeClr val="dk1"/>
              </a:solidFill>
            </a:endParaRPr>
          </a:p>
        </p:txBody>
      </p:sp>
      <p:sp>
        <p:nvSpPr>
          <p:cNvPr id="235" name="Google Shape;235;g38ee74f45bd_0_102"/>
          <p:cNvSpPr txBox="1"/>
          <p:nvPr/>
        </p:nvSpPr>
        <p:spPr>
          <a:xfrm>
            <a:off x="6313996" y="1347171"/>
            <a:ext cx="5521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g38ee74f45bd_0_102"/>
          <p:cNvSpPr txBox="1"/>
          <p:nvPr/>
        </p:nvSpPr>
        <p:spPr>
          <a:xfrm>
            <a:off x="491574" y="6224700"/>
            <a:ext cx="5100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i="1"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Konsep Sistem Informasi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Text&#10;&#10;Description automatically generated" id="241" name="Google Shape;241;g38ee74f45bd_0_1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6109" y="209804"/>
            <a:ext cx="2923537" cy="748241"/>
          </a:xfrm>
          <a:prstGeom prst="rect">
            <a:avLst/>
          </a:prstGeom>
          <a:noFill/>
          <a:ln>
            <a:noFill/>
          </a:ln>
        </p:spPr>
      </p:pic>
      <p:sp>
        <p:nvSpPr>
          <p:cNvPr id="242" name="Google Shape;242;g38ee74f45bd_0_118"/>
          <p:cNvSpPr/>
          <p:nvPr/>
        </p:nvSpPr>
        <p:spPr>
          <a:xfrm>
            <a:off x="356108" y="6182975"/>
            <a:ext cx="10794600" cy="465300"/>
          </a:xfrm>
          <a:prstGeom prst="rect">
            <a:avLst/>
          </a:prstGeom>
          <a:solidFill>
            <a:srgbClr val="02CCC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g38ee74f45bd_0_118"/>
          <p:cNvSpPr/>
          <p:nvPr/>
        </p:nvSpPr>
        <p:spPr>
          <a:xfrm>
            <a:off x="11245515" y="6176749"/>
            <a:ext cx="590400" cy="465300"/>
          </a:xfrm>
          <a:prstGeom prst="rect">
            <a:avLst/>
          </a:prstGeom>
          <a:solidFill>
            <a:srgbClr val="1B356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g38ee74f45bd_0_118"/>
          <p:cNvSpPr txBox="1"/>
          <p:nvPr/>
        </p:nvSpPr>
        <p:spPr>
          <a:xfrm>
            <a:off x="491576" y="6224693"/>
            <a:ext cx="2262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1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Makul Title Goes Here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Google Shape;245;g38ee74f45bd_0_118"/>
          <p:cNvSpPr txBox="1"/>
          <p:nvPr>
            <p:ph idx="12" type="sldNum"/>
          </p:nvPr>
        </p:nvSpPr>
        <p:spPr>
          <a:xfrm>
            <a:off x="8957224" y="6224693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US" sz="1800">
                <a:solidFill>
                  <a:schemeClr val="lt1"/>
                </a:solidFill>
              </a:rPr>
              <a:t>‹#›</a:t>
            </a:fld>
            <a:endParaRPr sz="1800">
              <a:solidFill>
                <a:schemeClr val="lt1"/>
              </a:solidFill>
            </a:endParaRPr>
          </a:p>
        </p:txBody>
      </p:sp>
      <p:sp>
        <p:nvSpPr>
          <p:cNvPr id="246" name="Google Shape;246;g38ee74f45bd_0_118"/>
          <p:cNvSpPr/>
          <p:nvPr/>
        </p:nvSpPr>
        <p:spPr>
          <a:xfrm>
            <a:off x="491575" y="4443249"/>
            <a:ext cx="2306101" cy="527103"/>
          </a:xfrm>
          <a:custGeom>
            <a:rect b="b" l="l" r="r" t="t"/>
            <a:pathLst>
              <a:path extrusionOk="0" h="173" w="758">
                <a:moveTo>
                  <a:pt x="674" y="173"/>
                </a:moveTo>
                <a:cubicBezTo>
                  <a:pt x="8" y="173"/>
                  <a:pt x="8" y="173"/>
                  <a:pt x="8" y="173"/>
                </a:cubicBezTo>
                <a:cubicBezTo>
                  <a:pt x="4" y="173"/>
                  <a:pt x="0" y="170"/>
                  <a:pt x="0" y="167"/>
                </a:cubicBezTo>
                <a:cubicBezTo>
                  <a:pt x="0" y="5"/>
                  <a:pt x="0" y="5"/>
                  <a:pt x="0" y="5"/>
                </a:cubicBezTo>
                <a:cubicBezTo>
                  <a:pt x="0" y="2"/>
                  <a:pt x="4" y="0"/>
                  <a:pt x="8" y="0"/>
                </a:cubicBezTo>
                <a:cubicBezTo>
                  <a:pt x="674" y="0"/>
                  <a:pt x="674" y="0"/>
                  <a:pt x="674" y="0"/>
                </a:cubicBezTo>
                <a:cubicBezTo>
                  <a:pt x="677" y="0"/>
                  <a:pt x="679" y="1"/>
                  <a:pt x="680" y="2"/>
                </a:cubicBezTo>
                <a:cubicBezTo>
                  <a:pt x="756" y="83"/>
                  <a:pt x="756" y="83"/>
                  <a:pt x="756" y="83"/>
                </a:cubicBezTo>
                <a:cubicBezTo>
                  <a:pt x="758" y="85"/>
                  <a:pt x="758" y="87"/>
                  <a:pt x="756" y="89"/>
                </a:cubicBezTo>
                <a:cubicBezTo>
                  <a:pt x="680" y="170"/>
                  <a:pt x="680" y="170"/>
                  <a:pt x="680" y="170"/>
                </a:cubicBezTo>
                <a:cubicBezTo>
                  <a:pt x="679" y="172"/>
                  <a:pt x="677" y="173"/>
                  <a:pt x="674" y="173"/>
                </a:cubicBezTo>
                <a:close/>
              </a:path>
            </a:pathLst>
          </a:custGeom>
          <a:solidFill>
            <a:srgbClr val="02CCCD"/>
          </a:solidFill>
          <a:ln>
            <a:noFill/>
          </a:ln>
        </p:spPr>
        <p:txBody>
          <a:bodyPr anchorCtr="0" anchor="t" bIns="37925" lIns="75900" spcFirstLastPara="1" rIns="75900" wrap="square" tIns="379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94"/>
              <a:buFont typeface="Arial"/>
              <a:buNone/>
            </a:pPr>
            <a:r>
              <a:t/>
            </a:r>
            <a:endParaRPr b="0" i="0" sz="149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g38ee74f45bd_0_118"/>
          <p:cNvSpPr/>
          <p:nvPr/>
        </p:nvSpPr>
        <p:spPr>
          <a:xfrm>
            <a:off x="2679076" y="4443249"/>
            <a:ext cx="2291607" cy="527103"/>
          </a:xfrm>
          <a:custGeom>
            <a:rect b="b" l="l" r="r" t="t"/>
            <a:pathLst>
              <a:path extrusionOk="0" h="173" w="753">
                <a:moveTo>
                  <a:pt x="669" y="173"/>
                </a:moveTo>
                <a:cubicBezTo>
                  <a:pt x="10" y="173"/>
                  <a:pt x="10" y="173"/>
                  <a:pt x="10" y="173"/>
                </a:cubicBezTo>
                <a:cubicBezTo>
                  <a:pt x="3" y="173"/>
                  <a:pt x="0" y="168"/>
                  <a:pt x="3" y="164"/>
                </a:cubicBezTo>
                <a:cubicBezTo>
                  <a:pt x="73" y="89"/>
                  <a:pt x="73" y="89"/>
                  <a:pt x="73" y="89"/>
                </a:cubicBezTo>
                <a:cubicBezTo>
                  <a:pt x="75" y="87"/>
                  <a:pt x="75" y="85"/>
                  <a:pt x="73" y="83"/>
                </a:cubicBezTo>
                <a:cubicBezTo>
                  <a:pt x="3" y="8"/>
                  <a:pt x="3" y="8"/>
                  <a:pt x="3" y="8"/>
                </a:cubicBezTo>
                <a:cubicBezTo>
                  <a:pt x="0" y="4"/>
                  <a:pt x="3" y="0"/>
                  <a:pt x="10" y="0"/>
                </a:cubicBezTo>
                <a:cubicBezTo>
                  <a:pt x="669" y="0"/>
                  <a:pt x="669" y="0"/>
                  <a:pt x="669" y="0"/>
                </a:cubicBezTo>
                <a:cubicBezTo>
                  <a:pt x="671" y="0"/>
                  <a:pt x="674" y="1"/>
                  <a:pt x="675" y="2"/>
                </a:cubicBezTo>
                <a:cubicBezTo>
                  <a:pt x="751" y="83"/>
                  <a:pt x="751" y="83"/>
                  <a:pt x="751" y="83"/>
                </a:cubicBezTo>
                <a:cubicBezTo>
                  <a:pt x="753" y="85"/>
                  <a:pt x="753" y="87"/>
                  <a:pt x="751" y="89"/>
                </a:cubicBezTo>
                <a:cubicBezTo>
                  <a:pt x="675" y="170"/>
                  <a:pt x="675" y="170"/>
                  <a:pt x="675" y="170"/>
                </a:cubicBezTo>
                <a:cubicBezTo>
                  <a:pt x="674" y="172"/>
                  <a:pt x="671" y="173"/>
                  <a:pt x="669" y="173"/>
                </a:cubicBezTo>
                <a:close/>
              </a:path>
            </a:pathLst>
          </a:custGeom>
          <a:solidFill>
            <a:srgbClr val="1B3564"/>
          </a:solidFill>
          <a:ln>
            <a:noFill/>
          </a:ln>
        </p:spPr>
        <p:txBody>
          <a:bodyPr anchorCtr="0" anchor="t" bIns="37925" lIns="75900" spcFirstLastPara="1" rIns="75900" wrap="square" tIns="379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94"/>
              <a:buFont typeface="Arial"/>
              <a:buNone/>
            </a:pPr>
            <a:r>
              <a:t/>
            </a:r>
            <a:endParaRPr b="0" i="0" sz="149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g38ee74f45bd_0_118"/>
          <p:cNvSpPr/>
          <p:nvPr/>
        </p:nvSpPr>
        <p:spPr>
          <a:xfrm>
            <a:off x="4852082" y="4443249"/>
            <a:ext cx="2291605" cy="527103"/>
          </a:xfrm>
          <a:custGeom>
            <a:rect b="b" l="l" r="r" t="t"/>
            <a:pathLst>
              <a:path extrusionOk="0" h="173" w="753">
                <a:moveTo>
                  <a:pt x="669" y="173"/>
                </a:moveTo>
                <a:cubicBezTo>
                  <a:pt x="9" y="173"/>
                  <a:pt x="9" y="173"/>
                  <a:pt x="9" y="173"/>
                </a:cubicBezTo>
                <a:cubicBezTo>
                  <a:pt x="3" y="173"/>
                  <a:pt x="0" y="168"/>
                  <a:pt x="3" y="164"/>
                </a:cubicBezTo>
                <a:cubicBezTo>
                  <a:pt x="73" y="89"/>
                  <a:pt x="73" y="89"/>
                  <a:pt x="73" y="89"/>
                </a:cubicBezTo>
                <a:cubicBezTo>
                  <a:pt x="75" y="87"/>
                  <a:pt x="75" y="85"/>
                  <a:pt x="73" y="83"/>
                </a:cubicBezTo>
                <a:cubicBezTo>
                  <a:pt x="3" y="8"/>
                  <a:pt x="3" y="8"/>
                  <a:pt x="3" y="8"/>
                </a:cubicBezTo>
                <a:cubicBezTo>
                  <a:pt x="0" y="4"/>
                  <a:pt x="3" y="0"/>
                  <a:pt x="9" y="0"/>
                </a:cubicBezTo>
                <a:cubicBezTo>
                  <a:pt x="669" y="0"/>
                  <a:pt x="669" y="0"/>
                  <a:pt x="669" y="0"/>
                </a:cubicBezTo>
                <a:cubicBezTo>
                  <a:pt x="671" y="0"/>
                  <a:pt x="674" y="1"/>
                  <a:pt x="675" y="2"/>
                </a:cubicBezTo>
                <a:cubicBezTo>
                  <a:pt x="751" y="83"/>
                  <a:pt x="751" y="83"/>
                  <a:pt x="751" y="83"/>
                </a:cubicBezTo>
                <a:cubicBezTo>
                  <a:pt x="753" y="85"/>
                  <a:pt x="753" y="87"/>
                  <a:pt x="751" y="89"/>
                </a:cubicBezTo>
                <a:cubicBezTo>
                  <a:pt x="675" y="170"/>
                  <a:pt x="675" y="170"/>
                  <a:pt x="675" y="170"/>
                </a:cubicBezTo>
                <a:cubicBezTo>
                  <a:pt x="674" y="172"/>
                  <a:pt x="671" y="173"/>
                  <a:pt x="669" y="173"/>
                </a:cubicBezTo>
                <a:close/>
              </a:path>
            </a:pathLst>
          </a:custGeom>
          <a:solidFill>
            <a:srgbClr val="019C9E"/>
          </a:solidFill>
          <a:ln>
            <a:noFill/>
          </a:ln>
        </p:spPr>
        <p:txBody>
          <a:bodyPr anchorCtr="0" anchor="t" bIns="37925" lIns="75900" spcFirstLastPara="1" rIns="75900" wrap="square" tIns="379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94"/>
              <a:buFont typeface="Arial"/>
              <a:buNone/>
            </a:pPr>
            <a:r>
              <a:t/>
            </a:r>
            <a:endParaRPr b="0" i="0" sz="149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g38ee74f45bd_0_118"/>
          <p:cNvSpPr/>
          <p:nvPr/>
        </p:nvSpPr>
        <p:spPr>
          <a:xfrm>
            <a:off x="7025088" y="4443249"/>
            <a:ext cx="2290287" cy="527103"/>
          </a:xfrm>
          <a:custGeom>
            <a:rect b="b" l="l" r="r" t="t"/>
            <a:pathLst>
              <a:path extrusionOk="0" h="173" w="753">
                <a:moveTo>
                  <a:pt x="669" y="173"/>
                </a:moveTo>
                <a:cubicBezTo>
                  <a:pt x="9" y="173"/>
                  <a:pt x="9" y="173"/>
                  <a:pt x="9" y="173"/>
                </a:cubicBezTo>
                <a:cubicBezTo>
                  <a:pt x="3" y="173"/>
                  <a:pt x="0" y="168"/>
                  <a:pt x="3" y="164"/>
                </a:cubicBezTo>
                <a:cubicBezTo>
                  <a:pt x="73" y="89"/>
                  <a:pt x="73" y="89"/>
                  <a:pt x="73" y="89"/>
                </a:cubicBezTo>
                <a:cubicBezTo>
                  <a:pt x="75" y="87"/>
                  <a:pt x="75" y="85"/>
                  <a:pt x="73" y="83"/>
                </a:cubicBezTo>
                <a:cubicBezTo>
                  <a:pt x="3" y="8"/>
                  <a:pt x="3" y="8"/>
                  <a:pt x="3" y="8"/>
                </a:cubicBezTo>
                <a:cubicBezTo>
                  <a:pt x="0" y="4"/>
                  <a:pt x="3" y="0"/>
                  <a:pt x="9" y="0"/>
                </a:cubicBezTo>
                <a:cubicBezTo>
                  <a:pt x="669" y="0"/>
                  <a:pt x="669" y="0"/>
                  <a:pt x="669" y="0"/>
                </a:cubicBezTo>
                <a:cubicBezTo>
                  <a:pt x="671" y="0"/>
                  <a:pt x="674" y="1"/>
                  <a:pt x="675" y="2"/>
                </a:cubicBezTo>
                <a:cubicBezTo>
                  <a:pt x="751" y="83"/>
                  <a:pt x="751" y="83"/>
                  <a:pt x="751" y="83"/>
                </a:cubicBezTo>
                <a:cubicBezTo>
                  <a:pt x="753" y="85"/>
                  <a:pt x="753" y="87"/>
                  <a:pt x="751" y="89"/>
                </a:cubicBezTo>
                <a:cubicBezTo>
                  <a:pt x="675" y="170"/>
                  <a:pt x="675" y="170"/>
                  <a:pt x="675" y="170"/>
                </a:cubicBezTo>
                <a:cubicBezTo>
                  <a:pt x="674" y="172"/>
                  <a:pt x="671" y="173"/>
                  <a:pt x="669" y="173"/>
                </a:cubicBezTo>
                <a:close/>
              </a:path>
            </a:pathLst>
          </a:custGeom>
          <a:solidFill>
            <a:srgbClr val="10223F"/>
          </a:solidFill>
          <a:ln>
            <a:noFill/>
          </a:ln>
        </p:spPr>
        <p:txBody>
          <a:bodyPr anchorCtr="0" anchor="t" bIns="37925" lIns="75900" spcFirstLastPara="1" rIns="75900" wrap="square" tIns="379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94"/>
              <a:buFont typeface="Arial"/>
              <a:buNone/>
            </a:pPr>
            <a:r>
              <a:t/>
            </a:r>
            <a:endParaRPr b="0" i="0" sz="149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g38ee74f45bd_0_118"/>
          <p:cNvSpPr/>
          <p:nvPr/>
        </p:nvSpPr>
        <p:spPr>
          <a:xfrm>
            <a:off x="491575" y="3167800"/>
            <a:ext cx="2057100" cy="102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33"/>
              <a:buFont typeface="Arial"/>
              <a:buNone/>
            </a:pPr>
            <a:r>
              <a:rPr b="1" lang="en-US" sz="1633">
                <a:solidFill>
                  <a:srgbClr val="02CCCD"/>
                </a:solidFill>
                <a:latin typeface="Calibri"/>
                <a:ea typeface="Calibri"/>
                <a:cs typeface="Calibri"/>
                <a:sym typeface="Calibri"/>
              </a:rPr>
              <a:t>MENDUKUNG OPERASI HARIAN </a:t>
            </a:r>
            <a:r>
              <a:rPr b="1" lang="en-US" sz="1633">
                <a:solidFill>
                  <a:srgbClr val="02CCCD"/>
                </a:solidFill>
                <a:latin typeface="Calibri"/>
                <a:ea typeface="Calibri"/>
                <a:cs typeface="Calibri"/>
                <a:sym typeface="Calibri"/>
              </a:rPr>
              <a:t>(transaksi, komunikasi, dokumentasi).</a:t>
            </a:r>
            <a:endParaRPr sz="100">
              <a:solidFill>
                <a:srgbClr val="02CCC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33"/>
              <a:buFont typeface="Arial"/>
              <a:buNone/>
            </a:pPr>
            <a:r>
              <a:t/>
            </a:r>
            <a:endParaRPr b="1" sz="1633">
              <a:solidFill>
                <a:srgbClr val="02CCC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g38ee74f45bd_0_118"/>
          <p:cNvSpPr/>
          <p:nvPr/>
        </p:nvSpPr>
        <p:spPr>
          <a:xfrm>
            <a:off x="2688775" y="3167800"/>
            <a:ext cx="2057100" cy="102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33"/>
              <a:buFont typeface="Arial"/>
              <a:buNone/>
            </a:pPr>
            <a:r>
              <a:rPr b="1" lang="en-US" sz="1633">
                <a:solidFill>
                  <a:srgbClr val="2F526B"/>
                </a:solidFill>
                <a:latin typeface="Calibri"/>
                <a:ea typeface="Calibri"/>
                <a:cs typeface="Calibri"/>
                <a:sym typeface="Calibri"/>
              </a:rPr>
              <a:t>MENDUKUNG PENGAMBILAN KEPUTUSAN MANAJERIAL</a:t>
            </a:r>
            <a:endParaRPr b="1" i="0" sz="1494" u="none" cap="none" strike="noStrike">
              <a:solidFill>
                <a:srgbClr val="2F526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g38ee74f45bd_0_118"/>
          <p:cNvSpPr/>
          <p:nvPr/>
        </p:nvSpPr>
        <p:spPr>
          <a:xfrm>
            <a:off x="9198082" y="4443249"/>
            <a:ext cx="2291605" cy="527103"/>
          </a:xfrm>
          <a:custGeom>
            <a:rect b="b" l="l" r="r" t="t"/>
            <a:pathLst>
              <a:path extrusionOk="0" h="173" w="753">
                <a:moveTo>
                  <a:pt x="669" y="173"/>
                </a:moveTo>
                <a:cubicBezTo>
                  <a:pt x="9" y="173"/>
                  <a:pt x="9" y="173"/>
                  <a:pt x="9" y="173"/>
                </a:cubicBezTo>
                <a:cubicBezTo>
                  <a:pt x="3" y="173"/>
                  <a:pt x="0" y="168"/>
                  <a:pt x="3" y="164"/>
                </a:cubicBezTo>
                <a:cubicBezTo>
                  <a:pt x="73" y="89"/>
                  <a:pt x="73" y="89"/>
                  <a:pt x="73" y="89"/>
                </a:cubicBezTo>
                <a:cubicBezTo>
                  <a:pt x="75" y="87"/>
                  <a:pt x="75" y="85"/>
                  <a:pt x="73" y="83"/>
                </a:cubicBezTo>
                <a:cubicBezTo>
                  <a:pt x="3" y="8"/>
                  <a:pt x="3" y="8"/>
                  <a:pt x="3" y="8"/>
                </a:cubicBezTo>
                <a:cubicBezTo>
                  <a:pt x="0" y="4"/>
                  <a:pt x="3" y="0"/>
                  <a:pt x="9" y="0"/>
                </a:cubicBezTo>
                <a:cubicBezTo>
                  <a:pt x="669" y="0"/>
                  <a:pt x="669" y="0"/>
                  <a:pt x="669" y="0"/>
                </a:cubicBezTo>
                <a:cubicBezTo>
                  <a:pt x="671" y="0"/>
                  <a:pt x="674" y="1"/>
                  <a:pt x="675" y="2"/>
                </a:cubicBezTo>
                <a:cubicBezTo>
                  <a:pt x="751" y="83"/>
                  <a:pt x="751" y="83"/>
                  <a:pt x="751" y="83"/>
                </a:cubicBezTo>
                <a:cubicBezTo>
                  <a:pt x="753" y="85"/>
                  <a:pt x="753" y="87"/>
                  <a:pt x="751" y="89"/>
                </a:cubicBezTo>
                <a:cubicBezTo>
                  <a:pt x="675" y="170"/>
                  <a:pt x="675" y="170"/>
                  <a:pt x="675" y="170"/>
                </a:cubicBezTo>
                <a:cubicBezTo>
                  <a:pt x="674" y="172"/>
                  <a:pt x="671" y="173"/>
                  <a:pt x="669" y="173"/>
                </a:cubicBezTo>
                <a:close/>
              </a:path>
            </a:pathLst>
          </a:custGeom>
          <a:solidFill>
            <a:srgbClr val="019C9E"/>
          </a:solidFill>
          <a:ln>
            <a:noFill/>
          </a:ln>
        </p:spPr>
        <p:txBody>
          <a:bodyPr anchorCtr="0" anchor="t" bIns="37925" lIns="75900" spcFirstLastPara="1" rIns="75900" wrap="square" tIns="379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94"/>
              <a:buFont typeface="Arial"/>
              <a:buNone/>
            </a:pPr>
            <a:r>
              <a:t/>
            </a:r>
            <a:endParaRPr b="0" i="0" sz="149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g38ee74f45bd_0_118"/>
          <p:cNvSpPr/>
          <p:nvPr/>
        </p:nvSpPr>
        <p:spPr>
          <a:xfrm>
            <a:off x="9198076" y="3167800"/>
            <a:ext cx="2207100" cy="65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33"/>
              <a:buFont typeface="Arial"/>
              <a:buNone/>
            </a:pPr>
            <a:r>
              <a:rPr b="1" lang="en-US" sz="1633">
                <a:solidFill>
                  <a:srgbClr val="02CCCD"/>
                </a:solidFill>
                <a:latin typeface="Calibri"/>
                <a:ea typeface="Calibri"/>
                <a:cs typeface="Calibri"/>
                <a:sym typeface="Calibri"/>
              </a:rPr>
              <a:t>MENINGKATKAN PELAYANAN DAN KUALITAS KEPUTUSAN</a:t>
            </a:r>
            <a:endParaRPr b="1" sz="1633">
              <a:solidFill>
                <a:srgbClr val="02CCC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g38ee74f45bd_0_118"/>
          <p:cNvSpPr txBox="1"/>
          <p:nvPr/>
        </p:nvSpPr>
        <p:spPr>
          <a:xfrm>
            <a:off x="356100" y="1561288"/>
            <a:ext cx="58827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3200">
                <a:solidFill>
                  <a:schemeClr val="dk1"/>
                </a:solidFill>
              </a:rPr>
              <a:t>Tujuan Sistem Informasi</a:t>
            </a:r>
            <a:endParaRPr b="1" sz="5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g38ee74f45bd_0_118"/>
          <p:cNvSpPr/>
          <p:nvPr/>
        </p:nvSpPr>
        <p:spPr>
          <a:xfrm>
            <a:off x="356109" y="2265735"/>
            <a:ext cx="1041600" cy="83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g38ee74f45bd_0_118"/>
          <p:cNvSpPr txBox="1"/>
          <p:nvPr/>
        </p:nvSpPr>
        <p:spPr>
          <a:xfrm>
            <a:off x="6313996" y="1347171"/>
            <a:ext cx="5521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" name="Google Shape;257;g38ee74f45bd_0_118"/>
          <p:cNvSpPr/>
          <p:nvPr/>
        </p:nvSpPr>
        <p:spPr>
          <a:xfrm>
            <a:off x="4861100" y="3167800"/>
            <a:ext cx="2057100" cy="95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33"/>
              <a:buFont typeface="Arial"/>
              <a:buNone/>
            </a:pPr>
            <a:r>
              <a:rPr b="1" lang="en-US" sz="1633">
                <a:solidFill>
                  <a:srgbClr val="02CCCD"/>
                </a:solidFill>
                <a:latin typeface="Calibri"/>
                <a:ea typeface="Calibri"/>
                <a:cs typeface="Calibri"/>
                <a:sym typeface="Calibri"/>
              </a:rPr>
              <a:t>MENINGKATKAN EFISIENSI EFEKTIFITAS PROSES ORGANISASI</a:t>
            </a:r>
            <a:endParaRPr b="1" sz="1633">
              <a:solidFill>
                <a:srgbClr val="02CCC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g38ee74f45bd_0_118"/>
          <p:cNvSpPr/>
          <p:nvPr/>
        </p:nvSpPr>
        <p:spPr>
          <a:xfrm>
            <a:off x="7033425" y="3167800"/>
            <a:ext cx="2057100" cy="95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33"/>
              <a:buFont typeface="Arial"/>
              <a:buNone/>
            </a:pPr>
            <a:r>
              <a:rPr b="1" lang="en-US" sz="1633">
                <a:solidFill>
                  <a:srgbClr val="2F526B"/>
                </a:solidFill>
                <a:latin typeface="Calibri"/>
                <a:ea typeface="Calibri"/>
                <a:cs typeface="Calibri"/>
                <a:sym typeface="Calibri"/>
              </a:rPr>
              <a:t>MENDUKUNG INOVASI </a:t>
            </a:r>
            <a:r>
              <a:rPr b="1" lang="en-US" sz="1633">
                <a:solidFill>
                  <a:srgbClr val="2F526B"/>
                </a:solidFill>
                <a:latin typeface="Calibri"/>
                <a:ea typeface="Calibri"/>
                <a:cs typeface="Calibri"/>
                <a:sym typeface="Calibri"/>
              </a:rPr>
              <a:t>STRATEGI DAN </a:t>
            </a:r>
            <a:r>
              <a:rPr b="1" lang="en-US" sz="1633">
                <a:solidFill>
                  <a:srgbClr val="2F526B"/>
                </a:solidFill>
                <a:latin typeface="Calibri"/>
                <a:ea typeface="Calibri"/>
                <a:cs typeface="Calibri"/>
                <a:sym typeface="Calibri"/>
              </a:rPr>
              <a:t>BISNIS</a:t>
            </a:r>
            <a:endParaRPr b="1" i="0" sz="1494" u="none" cap="none" strike="noStrike">
              <a:solidFill>
                <a:srgbClr val="2F526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Text&#10;&#10;Description automatically generated" id="263" name="Google Shape;263;g38ee74f45bd_0_16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6109" y="209804"/>
            <a:ext cx="2923537" cy="748241"/>
          </a:xfrm>
          <a:prstGeom prst="rect">
            <a:avLst/>
          </a:prstGeom>
          <a:noFill/>
          <a:ln>
            <a:noFill/>
          </a:ln>
        </p:spPr>
      </p:pic>
      <p:sp>
        <p:nvSpPr>
          <p:cNvPr id="264" name="Google Shape;264;g38ee74f45bd_0_169"/>
          <p:cNvSpPr/>
          <p:nvPr/>
        </p:nvSpPr>
        <p:spPr>
          <a:xfrm>
            <a:off x="356108" y="6182975"/>
            <a:ext cx="10794600" cy="465300"/>
          </a:xfrm>
          <a:prstGeom prst="rect">
            <a:avLst/>
          </a:prstGeom>
          <a:solidFill>
            <a:srgbClr val="02CCC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g38ee74f45bd_0_169"/>
          <p:cNvSpPr/>
          <p:nvPr/>
        </p:nvSpPr>
        <p:spPr>
          <a:xfrm>
            <a:off x="11245515" y="6176749"/>
            <a:ext cx="590400" cy="465300"/>
          </a:xfrm>
          <a:prstGeom prst="rect">
            <a:avLst/>
          </a:prstGeom>
          <a:solidFill>
            <a:srgbClr val="1B356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g38ee74f45bd_0_169"/>
          <p:cNvSpPr txBox="1"/>
          <p:nvPr>
            <p:ph idx="12" type="sldNum"/>
          </p:nvPr>
        </p:nvSpPr>
        <p:spPr>
          <a:xfrm>
            <a:off x="8957224" y="6224693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US" sz="1800">
                <a:solidFill>
                  <a:schemeClr val="lt1"/>
                </a:solidFill>
              </a:rPr>
              <a:t>‹#›</a:t>
            </a:fld>
            <a:endParaRPr sz="1800">
              <a:solidFill>
                <a:schemeClr val="lt1"/>
              </a:solidFill>
            </a:endParaRPr>
          </a:p>
        </p:txBody>
      </p:sp>
      <p:sp>
        <p:nvSpPr>
          <p:cNvPr id="267" name="Google Shape;267;g38ee74f45bd_0_169"/>
          <p:cNvSpPr txBox="1"/>
          <p:nvPr/>
        </p:nvSpPr>
        <p:spPr>
          <a:xfrm>
            <a:off x="2913500" y="1075700"/>
            <a:ext cx="6294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lang="en-US" sz="3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Komponen Sistem Informasi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" name="Google Shape;268;g38ee74f45bd_0_169"/>
          <p:cNvSpPr/>
          <p:nvPr/>
        </p:nvSpPr>
        <p:spPr>
          <a:xfrm>
            <a:off x="5575244" y="1994272"/>
            <a:ext cx="1041600" cy="83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69" name="Google Shape;269;g38ee74f45bd_0_169"/>
          <p:cNvGraphicFramePr/>
          <p:nvPr/>
        </p:nvGraphicFramePr>
        <p:xfrm>
          <a:off x="1014475" y="24606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{8DCFD42B-64C6-463B-99EA-4EB7C79C726D}</a:tableStyleId>
              </a:tblPr>
              <a:tblGrid>
                <a:gridCol w="1325300"/>
                <a:gridCol w="5546025"/>
                <a:gridCol w="3687750"/>
              </a:tblGrid>
              <a:tr h="3791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/>
                        <a:t>Komponen</a:t>
                      </a:r>
                      <a:endParaRPr b="1" sz="1100"/>
                    </a:p>
                  </a:txBody>
                  <a:tcPr marT="91425" marB="91425" marR="91425" marL="91425">
                    <a:solidFill>
                      <a:srgbClr val="02CC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/>
                        <a:t>Deskripsi</a:t>
                      </a:r>
                      <a:endParaRPr b="1" sz="1100"/>
                    </a:p>
                  </a:txBody>
                  <a:tcPr marT="91425" marB="91425" marR="91425" marL="91425">
                    <a:solidFill>
                      <a:srgbClr val="02CC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/>
                        <a:t>Contoh</a:t>
                      </a:r>
                      <a:endParaRPr b="1" sz="1100"/>
                    </a:p>
                  </a:txBody>
                  <a:tcPr marT="91425" marB="91425" marR="91425" marL="91425">
                    <a:solidFill>
                      <a:srgbClr val="02CCCD"/>
                    </a:solidFill>
                  </a:tcPr>
                </a:tc>
              </a:tr>
              <a:tr h="3984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/>
                        <a:t>Hardware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Perangkat fisik yang digunakan untuk mengolah data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Komputer, server, printer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611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/>
                        <a:t>Software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Program dan aplikasi yang digunakan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Sistem akademik, Excel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984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/>
                        <a:t>Data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Fakta mentah yang akan diolah menjadi informasi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Data nilai, data mahasiswa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984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/>
                        <a:t>Prosedur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Langkah-langkah atau aturan dalam penggunaan SI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SOP input nilai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611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/>
                        <a:t>People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Pengguna sistem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Dosen, staf, mahasiswa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270" name="Google Shape;270;g38ee74f45bd_0_169"/>
          <p:cNvSpPr txBox="1"/>
          <p:nvPr/>
        </p:nvSpPr>
        <p:spPr>
          <a:xfrm>
            <a:off x="491574" y="6224700"/>
            <a:ext cx="5100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i="1"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Konsep Sistem Informasi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" name="Google Shape;271;g38ee74f45bd_0_169"/>
          <p:cNvSpPr txBox="1"/>
          <p:nvPr/>
        </p:nvSpPr>
        <p:spPr>
          <a:xfrm>
            <a:off x="939825" y="5335525"/>
            <a:ext cx="106338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dk1"/>
                </a:solidFill>
              </a:rPr>
              <a:t>Kelima komponen ini saling mendukung: tanpa manusia, SI tidak berjalan; tanpa data, SI tidak bermakna.</a:t>
            </a:r>
            <a:endParaRPr sz="26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Text&#10;&#10;Description automatically generated" id="276" name="Google Shape;276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6109" y="209804"/>
            <a:ext cx="2923540" cy="748241"/>
          </a:xfrm>
          <a:prstGeom prst="rect">
            <a:avLst/>
          </a:prstGeom>
          <a:noFill/>
          <a:ln>
            <a:noFill/>
          </a:ln>
        </p:spPr>
      </p:pic>
      <p:sp>
        <p:nvSpPr>
          <p:cNvPr id="277" name="Google Shape;277;p7"/>
          <p:cNvSpPr/>
          <p:nvPr/>
        </p:nvSpPr>
        <p:spPr>
          <a:xfrm>
            <a:off x="356108" y="6182975"/>
            <a:ext cx="10794491" cy="465221"/>
          </a:xfrm>
          <a:prstGeom prst="rect">
            <a:avLst/>
          </a:prstGeom>
          <a:solidFill>
            <a:srgbClr val="02CCC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7"/>
          <p:cNvSpPr/>
          <p:nvPr/>
        </p:nvSpPr>
        <p:spPr>
          <a:xfrm>
            <a:off x="11245515" y="6176749"/>
            <a:ext cx="590375" cy="465221"/>
          </a:xfrm>
          <a:prstGeom prst="rect">
            <a:avLst/>
          </a:prstGeom>
          <a:solidFill>
            <a:srgbClr val="1B356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7"/>
          <p:cNvSpPr txBox="1"/>
          <p:nvPr>
            <p:ph idx="12" type="sldNum"/>
          </p:nvPr>
        </p:nvSpPr>
        <p:spPr>
          <a:xfrm>
            <a:off x="8957224" y="6224693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US" sz="1800">
                <a:solidFill>
                  <a:schemeClr val="lt1"/>
                </a:solidFill>
              </a:rPr>
              <a:t>‹#›</a:t>
            </a:fld>
            <a:endParaRPr sz="1800">
              <a:solidFill>
                <a:schemeClr val="lt1"/>
              </a:solidFill>
            </a:endParaRPr>
          </a:p>
        </p:txBody>
      </p:sp>
      <p:sp>
        <p:nvSpPr>
          <p:cNvPr id="280" name="Google Shape;280;p7"/>
          <p:cNvSpPr txBox="1"/>
          <p:nvPr/>
        </p:nvSpPr>
        <p:spPr>
          <a:xfrm>
            <a:off x="3165300" y="958050"/>
            <a:ext cx="5861400" cy="9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500">
                <a:solidFill>
                  <a:schemeClr val="dk1"/>
                </a:solidFill>
              </a:rPr>
              <a:t>Fungsi Sistem Informasi dalam Organisasi</a:t>
            </a:r>
            <a:endParaRPr b="1" sz="4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7"/>
          <p:cNvSpPr/>
          <p:nvPr/>
        </p:nvSpPr>
        <p:spPr>
          <a:xfrm>
            <a:off x="5575244" y="1994272"/>
            <a:ext cx="1041512" cy="83456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7"/>
          <p:cNvSpPr txBox="1"/>
          <p:nvPr/>
        </p:nvSpPr>
        <p:spPr>
          <a:xfrm>
            <a:off x="724225" y="2770250"/>
            <a:ext cx="1907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en-US" sz="1800">
                <a:solidFill>
                  <a:srgbClr val="019C9E"/>
                </a:solidFill>
                <a:latin typeface="Calibri"/>
                <a:ea typeface="Calibri"/>
                <a:cs typeface="Calibri"/>
                <a:sym typeface="Calibri"/>
              </a:rPr>
              <a:t>Mengumpulkan data (Input)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3" name="Google Shape;283;p7"/>
          <p:cNvSpPr txBox="1"/>
          <p:nvPr/>
        </p:nvSpPr>
        <p:spPr>
          <a:xfrm>
            <a:off x="764418" y="3474808"/>
            <a:ext cx="18270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Mengambil data dari sumber internal &amp; eksternal.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Google Shape;284;p7"/>
          <p:cNvSpPr txBox="1"/>
          <p:nvPr/>
        </p:nvSpPr>
        <p:spPr>
          <a:xfrm>
            <a:off x="2796395" y="2770258"/>
            <a:ext cx="16455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en-US" sz="1800">
                <a:solidFill>
                  <a:srgbClr val="019C9E"/>
                </a:solidFill>
                <a:latin typeface="Calibri"/>
                <a:ea typeface="Calibri"/>
                <a:cs typeface="Calibri"/>
                <a:sym typeface="Calibri"/>
              </a:rPr>
              <a:t>Mengolah data (Processing)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" name="Google Shape;285;p7"/>
          <p:cNvSpPr txBox="1"/>
          <p:nvPr/>
        </p:nvSpPr>
        <p:spPr>
          <a:xfrm>
            <a:off x="2796395" y="3474808"/>
            <a:ext cx="1827000" cy="175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Mengubah data menjadi informasi (penghitungan, penyaringan, pengurutan).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p7"/>
          <p:cNvSpPr txBox="1"/>
          <p:nvPr/>
        </p:nvSpPr>
        <p:spPr>
          <a:xfrm>
            <a:off x="4880722" y="2770258"/>
            <a:ext cx="16455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en-US" sz="1800">
                <a:solidFill>
                  <a:srgbClr val="019C9E"/>
                </a:solidFill>
                <a:latin typeface="Calibri"/>
                <a:ea typeface="Calibri"/>
                <a:cs typeface="Calibri"/>
                <a:sym typeface="Calibri"/>
              </a:rPr>
              <a:t>Menyimpan data (Storage)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" name="Google Shape;287;p7"/>
          <p:cNvSpPr txBox="1"/>
          <p:nvPr/>
        </p:nvSpPr>
        <p:spPr>
          <a:xfrm>
            <a:off x="4880722" y="3474808"/>
            <a:ext cx="18270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Menyimpan data dan informasi agar dapat diakses kembali.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" name="Google Shape;288;p7"/>
          <p:cNvSpPr txBox="1"/>
          <p:nvPr/>
        </p:nvSpPr>
        <p:spPr>
          <a:xfrm>
            <a:off x="6965047" y="2770250"/>
            <a:ext cx="23406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en-US" sz="1800">
                <a:solidFill>
                  <a:srgbClr val="019C9E"/>
                </a:solidFill>
                <a:latin typeface="Calibri"/>
                <a:ea typeface="Calibri"/>
                <a:cs typeface="Calibri"/>
                <a:sym typeface="Calibri"/>
              </a:rPr>
              <a:t>Menyebarkan informasi (Output/Distribution)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" name="Google Shape;289;p7"/>
          <p:cNvSpPr txBox="1"/>
          <p:nvPr/>
        </p:nvSpPr>
        <p:spPr>
          <a:xfrm>
            <a:off x="6965057" y="3736908"/>
            <a:ext cx="18270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Menyampaikan laporan, grafik, dashboard kepada pengguna.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" name="Google Shape;290;p7"/>
          <p:cNvSpPr txBox="1"/>
          <p:nvPr/>
        </p:nvSpPr>
        <p:spPr>
          <a:xfrm>
            <a:off x="491574" y="6224700"/>
            <a:ext cx="5100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i="1"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Konsep Sistem Informasi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" name="Google Shape;291;p7"/>
          <p:cNvSpPr txBox="1"/>
          <p:nvPr/>
        </p:nvSpPr>
        <p:spPr>
          <a:xfrm>
            <a:off x="9495297" y="2770250"/>
            <a:ext cx="23406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en-US" sz="1800">
                <a:solidFill>
                  <a:srgbClr val="019C9E"/>
                </a:solidFill>
                <a:latin typeface="Calibri"/>
                <a:ea typeface="Calibri"/>
                <a:cs typeface="Calibri"/>
                <a:sym typeface="Calibri"/>
              </a:rPr>
              <a:t>Mengontrol dan mengamankan data (Control/Security)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2" name="Google Shape;292;p7"/>
          <p:cNvSpPr txBox="1"/>
          <p:nvPr/>
        </p:nvSpPr>
        <p:spPr>
          <a:xfrm>
            <a:off x="9495307" y="3736908"/>
            <a:ext cx="18270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Menjaga keandalan dan privasi informasi.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Text&#10;&#10;Description automatically generated" id="297" name="Google Shape;297;g38ee74f45bd_0_20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6109" y="209804"/>
            <a:ext cx="2923537" cy="748241"/>
          </a:xfrm>
          <a:prstGeom prst="rect">
            <a:avLst/>
          </a:prstGeom>
          <a:noFill/>
          <a:ln>
            <a:noFill/>
          </a:ln>
        </p:spPr>
      </p:pic>
      <p:sp>
        <p:nvSpPr>
          <p:cNvPr id="298" name="Google Shape;298;g38ee74f45bd_0_202"/>
          <p:cNvSpPr/>
          <p:nvPr/>
        </p:nvSpPr>
        <p:spPr>
          <a:xfrm>
            <a:off x="356108" y="6182975"/>
            <a:ext cx="10794600" cy="465300"/>
          </a:xfrm>
          <a:prstGeom prst="rect">
            <a:avLst/>
          </a:prstGeom>
          <a:solidFill>
            <a:srgbClr val="02CCC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g38ee74f45bd_0_202"/>
          <p:cNvSpPr/>
          <p:nvPr/>
        </p:nvSpPr>
        <p:spPr>
          <a:xfrm>
            <a:off x="11245515" y="6176749"/>
            <a:ext cx="590400" cy="465300"/>
          </a:xfrm>
          <a:prstGeom prst="rect">
            <a:avLst/>
          </a:prstGeom>
          <a:solidFill>
            <a:srgbClr val="1B356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g38ee74f45bd_0_202"/>
          <p:cNvSpPr txBox="1"/>
          <p:nvPr>
            <p:ph idx="12" type="sldNum"/>
          </p:nvPr>
        </p:nvSpPr>
        <p:spPr>
          <a:xfrm>
            <a:off x="8957224" y="6224693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US" sz="1800">
                <a:solidFill>
                  <a:schemeClr val="lt1"/>
                </a:solidFill>
              </a:rPr>
              <a:t>‹#›</a:t>
            </a:fld>
            <a:endParaRPr sz="1800">
              <a:solidFill>
                <a:schemeClr val="lt1"/>
              </a:solidFill>
            </a:endParaRPr>
          </a:p>
        </p:txBody>
      </p:sp>
      <p:sp>
        <p:nvSpPr>
          <p:cNvPr id="301" name="Google Shape;301;g38ee74f45bd_0_202"/>
          <p:cNvSpPr txBox="1"/>
          <p:nvPr/>
        </p:nvSpPr>
        <p:spPr>
          <a:xfrm>
            <a:off x="356100" y="1561300"/>
            <a:ext cx="6355500" cy="1151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3200">
                <a:solidFill>
                  <a:schemeClr val="dk1"/>
                </a:solidFill>
              </a:rPr>
              <a:t>Peran Sistem Informasi dalam Organisasi</a:t>
            </a:r>
            <a:endParaRPr b="1" sz="5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g38ee74f45bd_0_202"/>
          <p:cNvSpPr/>
          <p:nvPr/>
        </p:nvSpPr>
        <p:spPr>
          <a:xfrm>
            <a:off x="356109" y="2712710"/>
            <a:ext cx="1041600" cy="83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g38ee74f45bd_0_202"/>
          <p:cNvSpPr txBox="1"/>
          <p:nvPr/>
        </p:nvSpPr>
        <p:spPr>
          <a:xfrm>
            <a:off x="491574" y="6224700"/>
            <a:ext cx="5100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i="1"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Konsep Sistem Informasi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4" name="Google Shape;304;g38ee74f45bd_0_202"/>
          <p:cNvSpPr txBox="1"/>
          <p:nvPr/>
        </p:nvSpPr>
        <p:spPr>
          <a:xfrm>
            <a:off x="3940218" y="3299042"/>
            <a:ext cx="2223900" cy="632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750" lIns="69525" spcFirstLastPara="1" rIns="69525" wrap="square" tIns="3475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17"/>
              <a:buFont typeface="Arial"/>
              <a:buNone/>
            </a:pPr>
            <a:r>
              <a:rPr lang="en-US" sz="1217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mendukung kegiatan harian seperti transaksi penjualan, absensi, dan logistik.</a:t>
            </a:r>
            <a:endParaRPr b="0" i="0" sz="121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g38ee74f45bd_0_202"/>
          <p:cNvSpPr/>
          <p:nvPr/>
        </p:nvSpPr>
        <p:spPr>
          <a:xfrm>
            <a:off x="4157398" y="2962175"/>
            <a:ext cx="1918800" cy="33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CCCD"/>
              </a:buClr>
              <a:buSzPts val="2206"/>
              <a:buFont typeface="Arial"/>
              <a:buNone/>
            </a:pPr>
            <a:r>
              <a:rPr b="1" lang="en-US" sz="2206">
                <a:solidFill>
                  <a:srgbClr val="02CCCD"/>
                </a:solidFill>
                <a:latin typeface="Calibri"/>
                <a:ea typeface="Calibri"/>
                <a:cs typeface="Calibri"/>
                <a:sym typeface="Calibri"/>
              </a:rPr>
              <a:t>OPERASIONAL</a:t>
            </a:r>
            <a:endParaRPr b="0" i="0" sz="1369" u="none" cap="none" strike="noStrike">
              <a:solidFill>
                <a:srgbClr val="02CCC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g38ee74f45bd_0_202"/>
          <p:cNvSpPr/>
          <p:nvPr/>
        </p:nvSpPr>
        <p:spPr>
          <a:xfrm>
            <a:off x="4024678" y="4070848"/>
            <a:ext cx="2051700" cy="33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8789"/>
              </a:buClr>
              <a:buSzPts val="2206"/>
              <a:buFont typeface="Arial"/>
              <a:buNone/>
            </a:pPr>
            <a:r>
              <a:rPr b="1" lang="en-US" sz="2206">
                <a:solidFill>
                  <a:srgbClr val="008789"/>
                </a:solidFill>
                <a:latin typeface="Calibri"/>
                <a:ea typeface="Calibri"/>
                <a:cs typeface="Calibri"/>
                <a:sym typeface="Calibri"/>
              </a:rPr>
              <a:t>MANAJERIAL</a:t>
            </a:r>
            <a:endParaRPr b="0" i="0" sz="1369" u="none" cap="none" strike="noStrike">
              <a:solidFill>
                <a:srgbClr val="00878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g38ee74f45bd_0_202"/>
          <p:cNvSpPr/>
          <p:nvPr/>
        </p:nvSpPr>
        <p:spPr>
          <a:xfrm>
            <a:off x="4358847" y="5013903"/>
            <a:ext cx="1717200" cy="33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3564"/>
              </a:buClr>
              <a:buSzPts val="2206"/>
              <a:buFont typeface="Arial"/>
              <a:buNone/>
            </a:pPr>
            <a:r>
              <a:rPr b="1" lang="en-US" sz="2206">
                <a:solidFill>
                  <a:srgbClr val="1B3564"/>
                </a:solidFill>
                <a:latin typeface="Calibri"/>
                <a:ea typeface="Calibri"/>
                <a:cs typeface="Calibri"/>
                <a:sym typeface="Calibri"/>
              </a:rPr>
              <a:t>STRATTEGIS</a:t>
            </a:r>
            <a:endParaRPr b="0" i="0" sz="1369" u="none" cap="none" strike="noStrike">
              <a:solidFill>
                <a:srgbClr val="1B356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g38ee74f45bd_0_202"/>
          <p:cNvSpPr/>
          <p:nvPr/>
        </p:nvSpPr>
        <p:spPr>
          <a:xfrm>
            <a:off x="356099" y="3100250"/>
            <a:ext cx="1717110" cy="1496999"/>
          </a:xfrm>
          <a:custGeom>
            <a:rect b="b" l="l" r="r" t="t"/>
            <a:pathLst>
              <a:path extrusionOk="0" h="771" w="885">
                <a:moveTo>
                  <a:pt x="708" y="363"/>
                </a:moveTo>
                <a:cubicBezTo>
                  <a:pt x="699" y="358"/>
                  <a:pt x="687" y="357"/>
                  <a:pt x="677" y="361"/>
                </a:cubicBezTo>
                <a:cubicBezTo>
                  <a:pt x="662" y="366"/>
                  <a:pt x="649" y="378"/>
                  <a:pt x="640" y="395"/>
                </a:cubicBezTo>
                <a:cubicBezTo>
                  <a:pt x="630" y="411"/>
                  <a:pt x="626" y="429"/>
                  <a:pt x="629" y="444"/>
                </a:cubicBezTo>
                <a:cubicBezTo>
                  <a:pt x="631" y="455"/>
                  <a:pt x="637" y="464"/>
                  <a:pt x="646" y="470"/>
                </a:cubicBezTo>
                <a:cubicBezTo>
                  <a:pt x="655" y="475"/>
                  <a:pt x="667" y="476"/>
                  <a:pt x="677" y="471"/>
                </a:cubicBezTo>
                <a:cubicBezTo>
                  <a:pt x="551" y="690"/>
                  <a:pt x="551" y="690"/>
                  <a:pt x="551" y="690"/>
                </a:cubicBezTo>
                <a:cubicBezTo>
                  <a:pt x="548" y="696"/>
                  <a:pt x="542" y="699"/>
                  <a:pt x="536" y="699"/>
                </a:cubicBezTo>
                <a:cubicBezTo>
                  <a:pt x="365" y="699"/>
                  <a:pt x="365" y="699"/>
                  <a:pt x="365" y="699"/>
                </a:cubicBezTo>
                <a:cubicBezTo>
                  <a:pt x="362" y="700"/>
                  <a:pt x="359" y="703"/>
                  <a:pt x="359" y="706"/>
                </a:cubicBezTo>
                <a:cubicBezTo>
                  <a:pt x="358" y="713"/>
                  <a:pt x="358" y="720"/>
                  <a:pt x="365" y="724"/>
                </a:cubicBezTo>
                <a:cubicBezTo>
                  <a:pt x="368" y="726"/>
                  <a:pt x="372" y="728"/>
                  <a:pt x="376" y="730"/>
                </a:cubicBezTo>
                <a:cubicBezTo>
                  <a:pt x="387" y="737"/>
                  <a:pt x="388" y="751"/>
                  <a:pt x="378" y="759"/>
                </a:cubicBezTo>
                <a:cubicBezTo>
                  <a:pt x="368" y="767"/>
                  <a:pt x="354" y="771"/>
                  <a:pt x="341" y="770"/>
                </a:cubicBezTo>
                <a:cubicBezTo>
                  <a:pt x="328" y="771"/>
                  <a:pt x="314" y="768"/>
                  <a:pt x="304" y="759"/>
                </a:cubicBezTo>
                <a:cubicBezTo>
                  <a:pt x="294" y="751"/>
                  <a:pt x="295" y="737"/>
                  <a:pt x="306" y="730"/>
                </a:cubicBezTo>
                <a:cubicBezTo>
                  <a:pt x="310" y="728"/>
                  <a:pt x="314" y="726"/>
                  <a:pt x="317" y="724"/>
                </a:cubicBezTo>
                <a:cubicBezTo>
                  <a:pt x="323" y="720"/>
                  <a:pt x="323" y="713"/>
                  <a:pt x="323" y="706"/>
                </a:cubicBezTo>
                <a:cubicBezTo>
                  <a:pt x="323" y="703"/>
                  <a:pt x="320" y="700"/>
                  <a:pt x="317" y="699"/>
                </a:cubicBezTo>
                <a:cubicBezTo>
                  <a:pt x="115" y="699"/>
                  <a:pt x="115" y="699"/>
                  <a:pt x="115" y="699"/>
                </a:cubicBezTo>
                <a:cubicBezTo>
                  <a:pt x="112" y="699"/>
                  <a:pt x="109" y="697"/>
                  <a:pt x="108" y="694"/>
                </a:cubicBezTo>
                <a:cubicBezTo>
                  <a:pt x="108" y="694"/>
                  <a:pt x="108" y="694"/>
                  <a:pt x="108" y="694"/>
                </a:cubicBezTo>
                <a:cubicBezTo>
                  <a:pt x="58" y="592"/>
                  <a:pt x="0" y="246"/>
                  <a:pt x="247" y="121"/>
                </a:cubicBezTo>
                <a:cubicBezTo>
                  <a:pt x="487" y="0"/>
                  <a:pt x="726" y="23"/>
                  <a:pt x="852" y="89"/>
                </a:cubicBezTo>
                <a:cubicBezTo>
                  <a:pt x="862" y="94"/>
                  <a:pt x="871" y="99"/>
                  <a:pt x="879" y="104"/>
                </a:cubicBezTo>
                <a:cubicBezTo>
                  <a:pt x="883" y="107"/>
                  <a:pt x="885" y="112"/>
                  <a:pt x="882" y="116"/>
                </a:cubicBezTo>
                <a:cubicBezTo>
                  <a:pt x="725" y="389"/>
                  <a:pt x="725" y="389"/>
                  <a:pt x="725" y="389"/>
                </a:cubicBezTo>
                <a:cubicBezTo>
                  <a:pt x="723" y="378"/>
                  <a:pt x="717" y="368"/>
                  <a:pt x="708" y="363"/>
                </a:cubicBezTo>
                <a:close/>
              </a:path>
            </a:pathLst>
          </a:custGeom>
          <a:solidFill>
            <a:srgbClr val="02CCCD"/>
          </a:solidFill>
          <a:ln>
            <a:noFill/>
          </a:ln>
        </p:spPr>
        <p:txBody>
          <a:bodyPr anchorCtr="0" anchor="t" bIns="26475" lIns="52950" spcFirstLastPara="1" rIns="52950" wrap="square" tIns="264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43"/>
              <a:buFont typeface="Arial"/>
              <a:buNone/>
            </a:pPr>
            <a:r>
              <a:t/>
            </a:r>
            <a:endParaRPr b="0" i="0" sz="104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g38ee74f45bd_0_202"/>
          <p:cNvSpPr/>
          <p:nvPr/>
        </p:nvSpPr>
        <p:spPr>
          <a:xfrm>
            <a:off x="1450444" y="3336824"/>
            <a:ext cx="1269031" cy="2194189"/>
          </a:xfrm>
          <a:custGeom>
            <a:rect b="b" l="l" r="r" t="t"/>
            <a:pathLst>
              <a:path extrusionOk="0" h="1130" w="654">
                <a:moveTo>
                  <a:pt x="208" y="896"/>
                </a:moveTo>
                <a:cubicBezTo>
                  <a:pt x="217" y="891"/>
                  <a:pt x="224" y="882"/>
                  <a:pt x="225" y="871"/>
                </a:cubicBezTo>
                <a:cubicBezTo>
                  <a:pt x="228" y="856"/>
                  <a:pt x="224" y="838"/>
                  <a:pt x="214" y="822"/>
                </a:cubicBezTo>
                <a:cubicBezTo>
                  <a:pt x="205" y="805"/>
                  <a:pt x="192" y="793"/>
                  <a:pt x="177" y="787"/>
                </a:cubicBezTo>
                <a:cubicBezTo>
                  <a:pt x="167" y="784"/>
                  <a:pt x="156" y="784"/>
                  <a:pt x="147" y="790"/>
                </a:cubicBezTo>
                <a:cubicBezTo>
                  <a:pt x="137" y="795"/>
                  <a:pt x="131" y="805"/>
                  <a:pt x="130" y="816"/>
                </a:cubicBezTo>
                <a:cubicBezTo>
                  <a:pt x="3" y="597"/>
                  <a:pt x="3" y="597"/>
                  <a:pt x="3" y="597"/>
                </a:cubicBezTo>
                <a:cubicBezTo>
                  <a:pt x="0" y="591"/>
                  <a:pt x="0" y="585"/>
                  <a:pt x="3" y="579"/>
                </a:cubicBezTo>
                <a:cubicBezTo>
                  <a:pt x="142" y="339"/>
                  <a:pt x="142" y="339"/>
                  <a:pt x="142" y="339"/>
                </a:cubicBezTo>
                <a:cubicBezTo>
                  <a:pt x="142" y="336"/>
                  <a:pt x="142" y="332"/>
                  <a:pt x="139" y="330"/>
                </a:cubicBezTo>
                <a:cubicBezTo>
                  <a:pt x="133" y="326"/>
                  <a:pt x="127" y="323"/>
                  <a:pt x="121" y="326"/>
                </a:cubicBezTo>
                <a:cubicBezTo>
                  <a:pt x="117" y="328"/>
                  <a:pt x="113" y="331"/>
                  <a:pt x="110" y="333"/>
                </a:cubicBezTo>
                <a:cubicBezTo>
                  <a:pt x="98" y="339"/>
                  <a:pt x="85" y="333"/>
                  <a:pt x="83" y="320"/>
                </a:cubicBezTo>
                <a:cubicBezTo>
                  <a:pt x="81" y="307"/>
                  <a:pt x="85" y="294"/>
                  <a:pt x="92" y="282"/>
                </a:cubicBezTo>
                <a:cubicBezTo>
                  <a:pt x="99" y="271"/>
                  <a:pt x="108" y="260"/>
                  <a:pt x="120" y="256"/>
                </a:cubicBezTo>
                <a:cubicBezTo>
                  <a:pt x="132" y="251"/>
                  <a:pt x="144" y="259"/>
                  <a:pt x="144" y="272"/>
                </a:cubicBezTo>
                <a:cubicBezTo>
                  <a:pt x="145" y="276"/>
                  <a:pt x="144" y="281"/>
                  <a:pt x="144" y="285"/>
                </a:cubicBezTo>
                <a:cubicBezTo>
                  <a:pt x="145" y="293"/>
                  <a:pt x="150" y="296"/>
                  <a:pt x="157" y="299"/>
                </a:cubicBezTo>
                <a:cubicBezTo>
                  <a:pt x="160" y="301"/>
                  <a:pt x="163" y="299"/>
                  <a:pt x="166" y="297"/>
                </a:cubicBezTo>
                <a:cubicBezTo>
                  <a:pt x="334" y="6"/>
                  <a:pt x="334" y="6"/>
                  <a:pt x="334" y="6"/>
                </a:cubicBezTo>
                <a:cubicBezTo>
                  <a:pt x="337" y="2"/>
                  <a:pt x="343" y="0"/>
                  <a:pt x="347" y="3"/>
                </a:cubicBezTo>
                <a:cubicBezTo>
                  <a:pt x="480" y="102"/>
                  <a:pt x="524" y="251"/>
                  <a:pt x="535" y="353"/>
                </a:cubicBezTo>
                <a:cubicBezTo>
                  <a:pt x="542" y="405"/>
                  <a:pt x="507" y="442"/>
                  <a:pt x="511" y="473"/>
                </a:cubicBezTo>
                <a:cubicBezTo>
                  <a:pt x="518" y="532"/>
                  <a:pt x="648" y="625"/>
                  <a:pt x="651" y="690"/>
                </a:cubicBezTo>
                <a:cubicBezTo>
                  <a:pt x="654" y="734"/>
                  <a:pt x="565" y="752"/>
                  <a:pt x="550" y="781"/>
                </a:cubicBezTo>
                <a:cubicBezTo>
                  <a:pt x="543" y="794"/>
                  <a:pt x="562" y="823"/>
                  <a:pt x="560" y="841"/>
                </a:cubicBezTo>
                <a:cubicBezTo>
                  <a:pt x="559" y="857"/>
                  <a:pt x="515" y="874"/>
                  <a:pt x="515" y="874"/>
                </a:cubicBezTo>
                <a:cubicBezTo>
                  <a:pt x="515" y="874"/>
                  <a:pt x="546" y="903"/>
                  <a:pt x="548" y="916"/>
                </a:cubicBezTo>
                <a:cubicBezTo>
                  <a:pt x="549" y="932"/>
                  <a:pt x="520" y="957"/>
                  <a:pt x="519" y="973"/>
                </a:cubicBezTo>
                <a:cubicBezTo>
                  <a:pt x="519" y="989"/>
                  <a:pt x="545" y="1030"/>
                  <a:pt x="532" y="1073"/>
                </a:cubicBezTo>
                <a:cubicBezTo>
                  <a:pt x="515" y="1130"/>
                  <a:pt x="356" y="1091"/>
                  <a:pt x="288" y="1083"/>
                </a:cubicBezTo>
                <a:cubicBezTo>
                  <a:pt x="286" y="1083"/>
                  <a:pt x="283" y="1082"/>
                  <a:pt x="282" y="1079"/>
                </a:cubicBezTo>
                <a:cubicBezTo>
                  <a:pt x="177" y="898"/>
                  <a:pt x="177" y="898"/>
                  <a:pt x="177" y="898"/>
                </a:cubicBezTo>
                <a:cubicBezTo>
                  <a:pt x="188" y="902"/>
                  <a:pt x="199" y="902"/>
                  <a:pt x="208" y="896"/>
                </a:cubicBezTo>
                <a:close/>
              </a:path>
            </a:pathLst>
          </a:custGeom>
          <a:solidFill>
            <a:srgbClr val="008789"/>
          </a:solidFill>
          <a:ln>
            <a:noFill/>
          </a:ln>
        </p:spPr>
        <p:txBody>
          <a:bodyPr anchorCtr="0" anchor="t" bIns="26475" lIns="52950" spcFirstLastPara="1" rIns="52950" wrap="square" tIns="264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43"/>
              <a:buFont typeface="Arial"/>
              <a:buNone/>
            </a:pPr>
            <a:r>
              <a:t/>
            </a:r>
            <a:endParaRPr b="0" i="0" sz="104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g38ee74f45bd_0_202"/>
          <p:cNvSpPr/>
          <p:nvPr/>
        </p:nvSpPr>
        <p:spPr>
          <a:xfrm>
            <a:off x="595022" y="4496196"/>
            <a:ext cx="1366167" cy="1382629"/>
          </a:xfrm>
          <a:custGeom>
            <a:rect b="b" l="l" r="r" t="t"/>
            <a:pathLst>
              <a:path extrusionOk="0" h="712" w="704">
                <a:moveTo>
                  <a:pt x="11" y="0"/>
                </a:moveTo>
                <a:cubicBezTo>
                  <a:pt x="170" y="0"/>
                  <a:pt x="170" y="0"/>
                  <a:pt x="170" y="0"/>
                </a:cubicBezTo>
                <a:cubicBezTo>
                  <a:pt x="162" y="7"/>
                  <a:pt x="157" y="17"/>
                  <a:pt x="157" y="28"/>
                </a:cubicBezTo>
                <a:cubicBezTo>
                  <a:pt x="157" y="38"/>
                  <a:pt x="162" y="48"/>
                  <a:pt x="170" y="55"/>
                </a:cubicBezTo>
                <a:cubicBezTo>
                  <a:pt x="182" y="65"/>
                  <a:pt x="199" y="70"/>
                  <a:pt x="218" y="70"/>
                </a:cubicBezTo>
                <a:cubicBezTo>
                  <a:pt x="237" y="70"/>
                  <a:pt x="254" y="65"/>
                  <a:pt x="267" y="55"/>
                </a:cubicBezTo>
                <a:cubicBezTo>
                  <a:pt x="275" y="48"/>
                  <a:pt x="280" y="38"/>
                  <a:pt x="280" y="28"/>
                </a:cubicBezTo>
                <a:cubicBezTo>
                  <a:pt x="280" y="17"/>
                  <a:pt x="275" y="7"/>
                  <a:pt x="266" y="0"/>
                </a:cubicBezTo>
                <a:cubicBezTo>
                  <a:pt x="411" y="0"/>
                  <a:pt x="411" y="0"/>
                  <a:pt x="411" y="0"/>
                </a:cubicBezTo>
                <a:cubicBezTo>
                  <a:pt x="417" y="0"/>
                  <a:pt x="423" y="3"/>
                  <a:pt x="426" y="9"/>
                </a:cubicBezTo>
                <a:cubicBezTo>
                  <a:pt x="565" y="249"/>
                  <a:pt x="565" y="249"/>
                  <a:pt x="565" y="249"/>
                </a:cubicBezTo>
                <a:cubicBezTo>
                  <a:pt x="568" y="251"/>
                  <a:pt x="571" y="253"/>
                  <a:pt x="575" y="251"/>
                </a:cubicBezTo>
                <a:cubicBezTo>
                  <a:pt x="581" y="248"/>
                  <a:pt x="586" y="244"/>
                  <a:pt x="587" y="237"/>
                </a:cubicBezTo>
                <a:cubicBezTo>
                  <a:pt x="587" y="233"/>
                  <a:pt x="587" y="228"/>
                  <a:pt x="587" y="224"/>
                </a:cubicBezTo>
                <a:cubicBezTo>
                  <a:pt x="587" y="211"/>
                  <a:pt x="599" y="203"/>
                  <a:pt x="611" y="208"/>
                </a:cubicBezTo>
                <a:cubicBezTo>
                  <a:pt x="623" y="212"/>
                  <a:pt x="633" y="223"/>
                  <a:pt x="639" y="234"/>
                </a:cubicBezTo>
                <a:cubicBezTo>
                  <a:pt x="646" y="245"/>
                  <a:pt x="650" y="259"/>
                  <a:pt x="648" y="272"/>
                </a:cubicBezTo>
                <a:cubicBezTo>
                  <a:pt x="646" y="285"/>
                  <a:pt x="633" y="290"/>
                  <a:pt x="622" y="284"/>
                </a:cubicBezTo>
                <a:cubicBezTo>
                  <a:pt x="618" y="282"/>
                  <a:pt x="614" y="280"/>
                  <a:pt x="611" y="278"/>
                </a:cubicBezTo>
                <a:cubicBezTo>
                  <a:pt x="604" y="275"/>
                  <a:pt x="598" y="278"/>
                  <a:pt x="592" y="282"/>
                </a:cubicBezTo>
                <a:cubicBezTo>
                  <a:pt x="589" y="283"/>
                  <a:pt x="589" y="287"/>
                  <a:pt x="589" y="291"/>
                </a:cubicBezTo>
                <a:cubicBezTo>
                  <a:pt x="700" y="482"/>
                  <a:pt x="700" y="482"/>
                  <a:pt x="700" y="482"/>
                </a:cubicBezTo>
                <a:cubicBezTo>
                  <a:pt x="700" y="482"/>
                  <a:pt x="701" y="484"/>
                  <a:pt x="700" y="485"/>
                </a:cubicBezTo>
                <a:cubicBezTo>
                  <a:pt x="700" y="487"/>
                  <a:pt x="699" y="488"/>
                  <a:pt x="699" y="488"/>
                </a:cubicBezTo>
                <a:cubicBezTo>
                  <a:pt x="699" y="488"/>
                  <a:pt x="699" y="488"/>
                  <a:pt x="699" y="488"/>
                </a:cubicBezTo>
                <a:cubicBezTo>
                  <a:pt x="671" y="516"/>
                  <a:pt x="704" y="593"/>
                  <a:pt x="688" y="619"/>
                </a:cubicBezTo>
                <a:cubicBezTo>
                  <a:pt x="664" y="659"/>
                  <a:pt x="299" y="712"/>
                  <a:pt x="119" y="586"/>
                </a:cubicBezTo>
                <a:cubicBezTo>
                  <a:pt x="83" y="561"/>
                  <a:pt x="129" y="479"/>
                  <a:pt x="98" y="269"/>
                </a:cubicBezTo>
                <a:cubicBezTo>
                  <a:pt x="84" y="172"/>
                  <a:pt x="45" y="96"/>
                  <a:pt x="3" y="12"/>
                </a:cubicBezTo>
                <a:cubicBezTo>
                  <a:pt x="0" y="7"/>
                  <a:pt x="4" y="0"/>
                  <a:pt x="11" y="0"/>
                </a:cubicBezTo>
                <a:close/>
              </a:path>
            </a:pathLst>
          </a:custGeom>
          <a:solidFill>
            <a:srgbClr val="1B3564"/>
          </a:solidFill>
          <a:ln>
            <a:noFill/>
          </a:ln>
        </p:spPr>
        <p:txBody>
          <a:bodyPr anchorCtr="0" anchor="t" bIns="26475" lIns="52950" spcFirstLastPara="1" rIns="52950" wrap="square" tIns="264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43"/>
              <a:buFont typeface="Arial"/>
              <a:buNone/>
            </a:pPr>
            <a:r>
              <a:t/>
            </a:r>
            <a:endParaRPr b="0" i="0" sz="104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g38ee74f45bd_0_202"/>
          <p:cNvSpPr txBox="1"/>
          <p:nvPr/>
        </p:nvSpPr>
        <p:spPr>
          <a:xfrm>
            <a:off x="4397524" y="4413748"/>
            <a:ext cx="1717200" cy="444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750" lIns="69525" spcFirstLastPara="1" rIns="69525" wrap="square" tIns="3475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17"/>
              <a:buFont typeface="Arial"/>
              <a:buNone/>
            </a:pPr>
            <a:r>
              <a:rPr lang="en-US" sz="1217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mendukung laporan kinerja dan analisis.</a:t>
            </a:r>
            <a:endParaRPr b="0" i="0" sz="121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g38ee74f45bd_0_202"/>
          <p:cNvSpPr txBox="1"/>
          <p:nvPr/>
        </p:nvSpPr>
        <p:spPr>
          <a:xfrm>
            <a:off x="4314925" y="5372503"/>
            <a:ext cx="1838400" cy="632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750" lIns="69525" spcFirstLastPara="1" rIns="69525" wrap="square" tIns="3475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17"/>
              <a:buFont typeface="Arial"/>
              <a:buNone/>
            </a:pPr>
            <a:r>
              <a:rPr lang="en-US" sz="1217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membantu perencanaan jangka panjang dan keunggulan kompetitif.</a:t>
            </a:r>
            <a:endParaRPr b="0" i="0" sz="121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g38ee74f45bd_0_202"/>
          <p:cNvSpPr txBox="1"/>
          <p:nvPr/>
        </p:nvSpPr>
        <p:spPr>
          <a:xfrm>
            <a:off x="6818585" y="2965538"/>
            <a:ext cx="1645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en-US" sz="1800">
                <a:solidFill>
                  <a:srgbClr val="019C9E"/>
                </a:solidFill>
                <a:latin typeface="Calibri"/>
                <a:ea typeface="Calibri"/>
                <a:cs typeface="Calibri"/>
                <a:sym typeface="Calibri"/>
              </a:rPr>
              <a:t>CONTOH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" name="Google Shape;314;g38ee74f45bd_0_202"/>
          <p:cNvSpPr txBox="1"/>
          <p:nvPr/>
        </p:nvSpPr>
        <p:spPr>
          <a:xfrm>
            <a:off x="6818585" y="3310911"/>
            <a:ext cx="4843500" cy="211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Sistem akademik ITTS (SIAKAD) membantu efisiensi input nilai dan KRS.</a:t>
            </a:r>
            <a:b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3810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Sistem keuangan membantu rektorat dalam mengambil keputusan strategis.</a:t>
            </a:r>
            <a:b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Text&#10;&#10;Description automatically generated" id="319" name="Google Shape;319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6109" y="209804"/>
            <a:ext cx="2923540" cy="748241"/>
          </a:xfrm>
          <a:prstGeom prst="rect">
            <a:avLst/>
          </a:prstGeom>
          <a:noFill/>
          <a:ln>
            <a:noFill/>
          </a:ln>
        </p:spPr>
      </p:pic>
      <p:sp>
        <p:nvSpPr>
          <p:cNvPr id="320" name="Google Shape;320;p5"/>
          <p:cNvSpPr/>
          <p:nvPr/>
        </p:nvSpPr>
        <p:spPr>
          <a:xfrm>
            <a:off x="356108" y="6182975"/>
            <a:ext cx="10794491" cy="465221"/>
          </a:xfrm>
          <a:prstGeom prst="rect">
            <a:avLst/>
          </a:prstGeom>
          <a:solidFill>
            <a:srgbClr val="02CCC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5"/>
          <p:cNvSpPr/>
          <p:nvPr/>
        </p:nvSpPr>
        <p:spPr>
          <a:xfrm>
            <a:off x="11245515" y="6176749"/>
            <a:ext cx="590375" cy="465221"/>
          </a:xfrm>
          <a:prstGeom prst="rect">
            <a:avLst/>
          </a:prstGeom>
          <a:solidFill>
            <a:srgbClr val="1B356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5"/>
          <p:cNvSpPr txBox="1"/>
          <p:nvPr>
            <p:ph idx="12" type="sldNum"/>
          </p:nvPr>
        </p:nvSpPr>
        <p:spPr>
          <a:xfrm>
            <a:off x="8957224" y="6224693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US" sz="1800">
                <a:solidFill>
                  <a:schemeClr val="lt1"/>
                </a:solidFill>
              </a:rPr>
              <a:t>‹#›</a:t>
            </a:fld>
            <a:endParaRPr sz="1800">
              <a:solidFill>
                <a:schemeClr val="lt1"/>
              </a:solidFill>
            </a:endParaRPr>
          </a:p>
        </p:txBody>
      </p:sp>
      <p:sp>
        <p:nvSpPr>
          <p:cNvPr id="323" name="Google Shape;323;p5"/>
          <p:cNvSpPr txBox="1"/>
          <p:nvPr/>
        </p:nvSpPr>
        <p:spPr>
          <a:xfrm>
            <a:off x="3600000" y="886075"/>
            <a:ext cx="49920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lang="en-US" sz="3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Siklus Informasi dalam Sistem Informasi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" name="Google Shape;324;p5"/>
          <p:cNvSpPr/>
          <p:nvPr/>
        </p:nvSpPr>
        <p:spPr>
          <a:xfrm>
            <a:off x="5575244" y="1994272"/>
            <a:ext cx="1041512" cy="83456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5"/>
          <p:cNvSpPr txBox="1"/>
          <p:nvPr/>
        </p:nvSpPr>
        <p:spPr>
          <a:xfrm>
            <a:off x="491574" y="6224700"/>
            <a:ext cx="5100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i="1"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Konsep Sistem Informasi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6" name="Google Shape;326;p5"/>
          <p:cNvSpPr/>
          <p:nvPr/>
        </p:nvSpPr>
        <p:spPr>
          <a:xfrm>
            <a:off x="2347264" y="4823252"/>
            <a:ext cx="489025" cy="489022"/>
          </a:xfrm>
          <a:custGeom>
            <a:rect b="b" l="l" r="r" t="t"/>
            <a:pathLst>
              <a:path extrusionOk="0" h="183" w="183">
                <a:moveTo>
                  <a:pt x="87" y="8"/>
                </a:moveTo>
                <a:cubicBezTo>
                  <a:pt x="3" y="170"/>
                  <a:pt x="3" y="170"/>
                  <a:pt x="3" y="170"/>
                </a:cubicBezTo>
                <a:cubicBezTo>
                  <a:pt x="0" y="176"/>
                  <a:pt x="4" y="183"/>
                  <a:pt x="11" y="183"/>
                </a:cubicBezTo>
                <a:cubicBezTo>
                  <a:pt x="183" y="183"/>
                  <a:pt x="183" y="183"/>
                  <a:pt x="183" y="183"/>
                </a:cubicBezTo>
                <a:cubicBezTo>
                  <a:pt x="87" y="0"/>
                  <a:pt x="87" y="0"/>
                  <a:pt x="87" y="0"/>
                </a:cubicBezTo>
                <a:cubicBezTo>
                  <a:pt x="89" y="2"/>
                  <a:pt x="89" y="5"/>
                  <a:pt x="87" y="8"/>
                </a:cubicBezTo>
                <a:close/>
              </a:path>
            </a:pathLst>
          </a:custGeom>
          <a:solidFill>
            <a:srgbClr val="008789"/>
          </a:solidFill>
          <a:ln>
            <a:noFill/>
          </a:ln>
        </p:spPr>
        <p:txBody>
          <a:bodyPr anchorCtr="0" anchor="t" bIns="29025" lIns="58075" spcFirstLastPara="1" rIns="58075" wrap="square" tIns="290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43"/>
              <a:buFont typeface="Arial"/>
              <a:buNone/>
            </a:pPr>
            <a:r>
              <a:t/>
            </a:r>
            <a:endParaRPr b="0" i="0" sz="114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5"/>
          <p:cNvSpPr/>
          <p:nvPr/>
        </p:nvSpPr>
        <p:spPr>
          <a:xfrm>
            <a:off x="2347264" y="4352379"/>
            <a:ext cx="4132006" cy="959897"/>
          </a:xfrm>
          <a:custGeom>
            <a:rect b="b" l="l" r="r" t="t"/>
            <a:pathLst>
              <a:path extrusionOk="0" h="359" w="1547">
                <a:moveTo>
                  <a:pt x="1457" y="5"/>
                </a:moveTo>
                <a:cubicBezTo>
                  <a:pt x="1455" y="2"/>
                  <a:pt x="1452" y="0"/>
                  <a:pt x="1449" y="0"/>
                </a:cubicBezTo>
                <a:cubicBezTo>
                  <a:pt x="11" y="0"/>
                  <a:pt x="11" y="0"/>
                  <a:pt x="11" y="0"/>
                </a:cubicBezTo>
                <a:cubicBezTo>
                  <a:pt x="4" y="0"/>
                  <a:pt x="0" y="7"/>
                  <a:pt x="3" y="13"/>
                </a:cubicBezTo>
                <a:cubicBezTo>
                  <a:pt x="87" y="175"/>
                  <a:pt x="87" y="175"/>
                  <a:pt x="87" y="175"/>
                </a:cubicBezTo>
                <a:cubicBezTo>
                  <a:pt x="87" y="175"/>
                  <a:pt x="87" y="176"/>
                  <a:pt x="87" y="176"/>
                </a:cubicBezTo>
                <a:cubicBezTo>
                  <a:pt x="183" y="359"/>
                  <a:pt x="183" y="359"/>
                  <a:pt x="183" y="359"/>
                </a:cubicBezTo>
                <a:cubicBezTo>
                  <a:pt x="1449" y="359"/>
                  <a:pt x="1449" y="359"/>
                  <a:pt x="1449" y="359"/>
                </a:cubicBezTo>
                <a:cubicBezTo>
                  <a:pt x="1452" y="359"/>
                  <a:pt x="1455" y="357"/>
                  <a:pt x="1457" y="354"/>
                </a:cubicBezTo>
                <a:cubicBezTo>
                  <a:pt x="1546" y="184"/>
                  <a:pt x="1546" y="184"/>
                  <a:pt x="1546" y="184"/>
                </a:cubicBezTo>
                <a:cubicBezTo>
                  <a:pt x="1547" y="181"/>
                  <a:pt x="1547" y="178"/>
                  <a:pt x="1546" y="175"/>
                </a:cubicBezTo>
                <a:lnTo>
                  <a:pt x="1457" y="5"/>
                </a:lnTo>
                <a:close/>
              </a:path>
            </a:pathLst>
          </a:custGeom>
          <a:solidFill>
            <a:srgbClr val="019C9E"/>
          </a:solidFill>
          <a:ln>
            <a:noFill/>
          </a:ln>
        </p:spPr>
        <p:txBody>
          <a:bodyPr anchorCtr="0" anchor="t" bIns="29025" lIns="58075" spcFirstLastPara="1" rIns="58075" wrap="square" tIns="290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43"/>
              <a:buFont typeface="Arial"/>
              <a:buNone/>
            </a:pPr>
            <a:r>
              <a:t/>
            </a:r>
            <a:endParaRPr b="0" i="0" sz="114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5"/>
          <p:cNvSpPr/>
          <p:nvPr/>
        </p:nvSpPr>
        <p:spPr>
          <a:xfrm>
            <a:off x="3999069" y="3790759"/>
            <a:ext cx="489025" cy="489022"/>
          </a:xfrm>
          <a:custGeom>
            <a:rect b="b" l="l" r="r" t="t"/>
            <a:pathLst>
              <a:path extrusionOk="0" h="183" w="183">
                <a:moveTo>
                  <a:pt x="172" y="183"/>
                </a:moveTo>
                <a:cubicBezTo>
                  <a:pt x="179" y="183"/>
                  <a:pt x="183" y="176"/>
                  <a:pt x="180" y="170"/>
                </a:cubicBezTo>
                <a:cubicBezTo>
                  <a:pt x="96" y="8"/>
                  <a:pt x="96" y="8"/>
                  <a:pt x="96" y="8"/>
                </a:cubicBezTo>
                <a:cubicBezTo>
                  <a:pt x="94" y="5"/>
                  <a:pt x="94" y="3"/>
                  <a:pt x="95" y="0"/>
                </a:cubicBezTo>
                <a:cubicBezTo>
                  <a:pt x="0" y="183"/>
                  <a:pt x="0" y="183"/>
                  <a:pt x="0" y="183"/>
                </a:cubicBezTo>
                <a:lnTo>
                  <a:pt x="172" y="183"/>
                </a:lnTo>
                <a:close/>
              </a:path>
            </a:pathLst>
          </a:custGeom>
          <a:solidFill>
            <a:srgbClr val="10223F"/>
          </a:solidFill>
          <a:ln>
            <a:noFill/>
          </a:ln>
        </p:spPr>
        <p:txBody>
          <a:bodyPr anchorCtr="0" anchor="t" bIns="29025" lIns="58075" spcFirstLastPara="1" rIns="58075" wrap="square" tIns="290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43"/>
              <a:buFont typeface="Arial"/>
              <a:buNone/>
            </a:pPr>
            <a:r>
              <a:t/>
            </a:r>
            <a:endParaRPr b="0" i="0" sz="114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5"/>
          <p:cNvSpPr/>
          <p:nvPr/>
        </p:nvSpPr>
        <p:spPr>
          <a:xfrm>
            <a:off x="356088" y="3319885"/>
            <a:ext cx="4132006" cy="959897"/>
          </a:xfrm>
          <a:custGeom>
            <a:rect b="b" l="l" r="r" t="t"/>
            <a:pathLst>
              <a:path extrusionOk="0" h="359" w="1547">
                <a:moveTo>
                  <a:pt x="1459" y="176"/>
                </a:moveTo>
                <a:cubicBezTo>
                  <a:pt x="1459" y="176"/>
                  <a:pt x="1459" y="176"/>
                  <a:pt x="1460" y="175"/>
                </a:cubicBezTo>
                <a:cubicBezTo>
                  <a:pt x="1544" y="13"/>
                  <a:pt x="1544" y="13"/>
                  <a:pt x="1544" y="13"/>
                </a:cubicBezTo>
                <a:cubicBezTo>
                  <a:pt x="1547" y="7"/>
                  <a:pt x="1543" y="0"/>
                  <a:pt x="1536" y="0"/>
                </a:cubicBezTo>
                <a:cubicBezTo>
                  <a:pt x="98" y="0"/>
                  <a:pt x="98" y="0"/>
                  <a:pt x="98" y="0"/>
                </a:cubicBezTo>
                <a:cubicBezTo>
                  <a:pt x="94" y="0"/>
                  <a:pt x="91" y="2"/>
                  <a:pt x="90" y="5"/>
                </a:cubicBezTo>
                <a:cubicBezTo>
                  <a:pt x="1" y="175"/>
                  <a:pt x="1" y="175"/>
                  <a:pt x="1" y="175"/>
                </a:cubicBezTo>
                <a:cubicBezTo>
                  <a:pt x="0" y="178"/>
                  <a:pt x="0" y="181"/>
                  <a:pt x="1" y="184"/>
                </a:cubicBezTo>
                <a:cubicBezTo>
                  <a:pt x="90" y="354"/>
                  <a:pt x="90" y="354"/>
                  <a:pt x="90" y="354"/>
                </a:cubicBezTo>
                <a:cubicBezTo>
                  <a:pt x="91" y="357"/>
                  <a:pt x="94" y="359"/>
                  <a:pt x="98" y="359"/>
                </a:cubicBezTo>
                <a:cubicBezTo>
                  <a:pt x="1364" y="359"/>
                  <a:pt x="1364" y="359"/>
                  <a:pt x="1364" y="359"/>
                </a:cubicBezTo>
                <a:lnTo>
                  <a:pt x="1459" y="176"/>
                </a:lnTo>
                <a:close/>
              </a:path>
            </a:pathLst>
          </a:custGeom>
          <a:solidFill>
            <a:srgbClr val="1B3464"/>
          </a:solidFill>
          <a:ln>
            <a:noFill/>
          </a:ln>
        </p:spPr>
        <p:txBody>
          <a:bodyPr anchorCtr="0" anchor="t" bIns="29025" lIns="58075" spcFirstLastPara="1" rIns="58075" wrap="square" tIns="290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43"/>
              <a:buFont typeface="Arial"/>
              <a:buNone/>
            </a:pPr>
            <a:r>
              <a:t/>
            </a:r>
            <a:endParaRPr b="0" i="0" sz="114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5"/>
          <p:cNvSpPr/>
          <p:nvPr/>
        </p:nvSpPr>
        <p:spPr>
          <a:xfrm>
            <a:off x="2832255" y="2288400"/>
            <a:ext cx="4132006" cy="959897"/>
          </a:xfrm>
          <a:custGeom>
            <a:rect b="b" l="l" r="r" t="t"/>
            <a:pathLst>
              <a:path extrusionOk="0" h="359" w="1547">
                <a:moveTo>
                  <a:pt x="1449" y="359"/>
                </a:moveTo>
                <a:cubicBezTo>
                  <a:pt x="1452" y="359"/>
                  <a:pt x="1455" y="357"/>
                  <a:pt x="1457" y="354"/>
                </a:cubicBezTo>
                <a:cubicBezTo>
                  <a:pt x="1546" y="184"/>
                  <a:pt x="1546" y="184"/>
                  <a:pt x="1546" y="184"/>
                </a:cubicBezTo>
                <a:cubicBezTo>
                  <a:pt x="1547" y="181"/>
                  <a:pt x="1547" y="178"/>
                  <a:pt x="1546" y="175"/>
                </a:cubicBezTo>
                <a:cubicBezTo>
                  <a:pt x="1457" y="5"/>
                  <a:pt x="1457" y="5"/>
                  <a:pt x="1457" y="5"/>
                </a:cubicBezTo>
                <a:cubicBezTo>
                  <a:pt x="1455" y="2"/>
                  <a:pt x="1452" y="0"/>
                  <a:pt x="1449" y="0"/>
                </a:cubicBezTo>
                <a:cubicBezTo>
                  <a:pt x="11" y="0"/>
                  <a:pt x="11" y="0"/>
                  <a:pt x="11" y="0"/>
                </a:cubicBezTo>
                <a:cubicBezTo>
                  <a:pt x="4" y="0"/>
                  <a:pt x="0" y="7"/>
                  <a:pt x="3" y="13"/>
                </a:cubicBezTo>
                <a:cubicBezTo>
                  <a:pt x="87" y="175"/>
                  <a:pt x="87" y="175"/>
                  <a:pt x="87" y="175"/>
                </a:cubicBezTo>
                <a:cubicBezTo>
                  <a:pt x="87" y="175"/>
                  <a:pt x="87" y="175"/>
                  <a:pt x="87" y="175"/>
                </a:cubicBezTo>
                <a:cubicBezTo>
                  <a:pt x="183" y="359"/>
                  <a:pt x="183" y="359"/>
                  <a:pt x="183" y="359"/>
                </a:cubicBezTo>
                <a:lnTo>
                  <a:pt x="1449" y="359"/>
                </a:lnTo>
                <a:close/>
              </a:path>
            </a:pathLst>
          </a:custGeom>
          <a:solidFill>
            <a:srgbClr val="02CCCD"/>
          </a:solidFill>
          <a:ln>
            <a:noFill/>
          </a:ln>
        </p:spPr>
        <p:txBody>
          <a:bodyPr anchorCtr="0" anchor="t" bIns="29025" lIns="58075" spcFirstLastPara="1" rIns="58075" wrap="square" tIns="290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43"/>
              <a:buFont typeface="Arial"/>
              <a:buNone/>
            </a:pPr>
            <a:r>
              <a:t/>
            </a:r>
            <a:endParaRPr b="0" i="0" sz="114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5"/>
          <p:cNvSpPr/>
          <p:nvPr/>
        </p:nvSpPr>
        <p:spPr>
          <a:xfrm>
            <a:off x="2832255" y="2756249"/>
            <a:ext cx="489025" cy="492048"/>
          </a:xfrm>
          <a:custGeom>
            <a:rect b="b" l="l" r="r" t="t"/>
            <a:pathLst>
              <a:path extrusionOk="0" h="184" w="183">
                <a:moveTo>
                  <a:pt x="87" y="9"/>
                </a:moveTo>
                <a:cubicBezTo>
                  <a:pt x="3" y="171"/>
                  <a:pt x="3" y="171"/>
                  <a:pt x="3" y="171"/>
                </a:cubicBezTo>
                <a:cubicBezTo>
                  <a:pt x="0" y="177"/>
                  <a:pt x="4" y="184"/>
                  <a:pt x="11" y="184"/>
                </a:cubicBezTo>
                <a:cubicBezTo>
                  <a:pt x="183" y="184"/>
                  <a:pt x="183" y="184"/>
                  <a:pt x="183" y="184"/>
                </a:cubicBezTo>
                <a:cubicBezTo>
                  <a:pt x="87" y="0"/>
                  <a:pt x="87" y="0"/>
                  <a:pt x="87" y="0"/>
                </a:cubicBezTo>
                <a:cubicBezTo>
                  <a:pt x="89" y="3"/>
                  <a:pt x="89" y="6"/>
                  <a:pt x="87" y="9"/>
                </a:cubicBezTo>
                <a:close/>
              </a:path>
            </a:pathLst>
          </a:custGeom>
          <a:solidFill>
            <a:srgbClr val="019C9E"/>
          </a:solidFill>
          <a:ln>
            <a:noFill/>
          </a:ln>
        </p:spPr>
        <p:txBody>
          <a:bodyPr anchorCtr="0" anchor="t" bIns="29025" lIns="58075" spcFirstLastPara="1" rIns="58075" wrap="square" tIns="290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43"/>
              <a:buFont typeface="Arial"/>
              <a:buNone/>
            </a:pPr>
            <a:r>
              <a:t/>
            </a:r>
            <a:endParaRPr b="0" i="0" sz="114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5"/>
          <p:cNvSpPr/>
          <p:nvPr/>
        </p:nvSpPr>
        <p:spPr>
          <a:xfrm>
            <a:off x="3138991" y="3433823"/>
            <a:ext cx="602700" cy="71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637"/>
              <a:buFont typeface="Arial"/>
              <a:buNone/>
            </a:pPr>
            <a:r>
              <a:rPr b="0" i="0" lang="en-US" sz="4637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b="0" i="0" sz="114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5"/>
          <p:cNvSpPr/>
          <p:nvPr/>
        </p:nvSpPr>
        <p:spPr>
          <a:xfrm>
            <a:off x="2956276" y="4463291"/>
            <a:ext cx="602700" cy="71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37"/>
              <a:buFont typeface="Arial"/>
              <a:buNone/>
            </a:pPr>
            <a:r>
              <a:rPr b="0" i="0" lang="en-US" sz="4637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b="0" i="0" sz="1143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5"/>
          <p:cNvSpPr/>
          <p:nvPr/>
        </p:nvSpPr>
        <p:spPr>
          <a:xfrm>
            <a:off x="3490675" y="2406370"/>
            <a:ext cx="594600" cy="70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573"/>
              <a:buFont typeface="Arial"/>
              <a:buNone/>
            </a:pPr>
            <a:r>
              <a:rPr b="0" i="0" lang="en-US" sz="4573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b="0" i="0" sz="114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5"/>
          <p:cNvSpPr/>
          <p:nvPr/>
        </p:nvSpPr>
        <p:spPr>
          <a:xfrm>
            <a:off x="3983718" y="4513700"/>
            <a:ext cx="1406700" cy="21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97"/>
              <a:buFont typeface="Arial"/>
              <a:buNone/>
            </a:pPr>
            <a:r>
              <a:rPr b="1" lang="en-US" sz="1397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DATA GENERATION</a:t>
            </a:r>
            <a:endParaRPr b="0" i="0" sz="1143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5"/>
          <p:cNvSpPr/>
          <p:nvPr/>
        </p:nvSpPr>
        <p:spPr>
          <a:xfrm>
            <a:off x="1464924" y="3477175"/>
            <a:ext cx="1406700" cy="21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97"/>
              <a:buFont typeface="Arial"/>
              <a:buNone/>
            </a:pPr>
            <a:r>
              <a:rPr b="1" lang="en-US" sz="1397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DATA PROCESSING</a:t>
            </a:r>
            <a:endParaRPr b="0" i="0" sz="114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5"/>
          <p:cNvSpPr/>
          <p:nvPr/>
        </p:nvSpPr>
        <p:spPr>
          <a:xfrm>
            <a:off x="4413280" y="2458800"/>
            <a:ext cx="1435800" cy="21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97"/>
              <a:buFont typeface="Arial"/>
              <a:buNone/>
            </a:pPr>
            <a:r>
              <a:rPr b="1" lang="en-US" sz="1397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DATA COLLECTION</a:t>
            </a:r>
            <a:endParaRPr b="0" i="0" sz="114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5"/>
          <p:cNvSpPr txBox="1"/>
          <p:nvPr/>
        </p:nvSpPr>
        <p:spPr>
          <a:xfrm>
            <a:off x="4368902" y="2645336"/>
            <a:ext cx="1232100" cy="332400"/>
          </a:xfrm>
          <a:prstGeom prst="rect">
            <a:avLst/>
          </a:prstGeom>
          <a:noFill/>
          <a:ln>
            <a:noFill/>
          </a:ln>
        </p:spPr>
        <p:txBody>
          <a:bodyPr anchorCtr="0" anchor="t" bIns="29025" lIns="58075" spcFirstLastPara="1" rIns="58075" wrap="square" tIns="290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89"/>
              <a:buFont typeface="Arial"/>
              <a:buNone/>
            </a:pPr>
            <a:r>
              <a:rPr lang="en-US" sz="889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pengumpulan data mentah.</a:t>
            </a:r>
            <a:endParaRPr b="0" i="0" sz="889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5"/>
          <p:cNvSpPr txBox="1"/>
          <p:nvPr/>
        </p:nvSpPr>
        <p:spPr>
          <a:xfrm>
            <a:off x="3928275" y="4724440"/>
            <a:ext cx="1232100" cy="332400"/>
          </a:xfrm>
          <a:prstGeom prst="rect">
            <a:avLst/>
          </a:prstGeom>
          <a:noFill/>
          <a:ln>
            <a:noFill/>
          </a:ln>
        </p:spPr>
        <p:txBody>
          <a:bodyPr anchorCtr="0" anchor="t" bIns="29025" lIns="58075" spcFirstLastPara="1" rIns="58075" wrap="square" tIns="290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889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laporan, grafik, atau insight.</a:t>
            </a:r>
            <a:endParaRPr sz="889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5"/>
          <p:cNvSpPr txBox="1"/>
          <p:nvPr/>
        </p:nvSpPr>
        <p:spPr>
          <a:xfrm>
            <a:off x="1657800" y="3688921"/>
            <a:ext cx="1232100" cy="332400"/>
          </a:xfrm>
          <a:prstGeom prst="rect">
            <a:avLst/>
          </a:prstGeom>
          <a:noFill/>
          <a:ln>
            <a:noFill/>
          </a:ln>
        </p:spPr>
        <p:txBody>
          <a:bodyPr anchorCtr="0" anchor="t" bIns="29025" lIns="58075" spcFirstLastPara="1" rIns="58075" wrap="square" tIns="290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89"/>
              <a:buFont typeface="Arial"/>
              <a:buNone/>
            </a:pPr>
            <a:r>
              <a:rPr lang="en-US" sz="889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pembersihan dan pengolahan.</a:t>
            </a:r>
            <a:endParaRPr b="0" i="0" sz="889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5"/>
          <p:cNvSpPr/>
          <p:nvPr/>
        </p:nvSpPr>
        <p:spPr>
          <a:xfrm>
            <a:off x="10053566" y="3790759"/>
            <a:ext cx="489025" cy="489022"/>
          </a:xfrm>
          <a:custGeom>
            <a:rect b="b" l="l" r="r" t="t"/>
            <a:pathLst>
              <a:path extrusionOk="0" h="183" w="183">
                <a:moveTo>
                  <a:pt x="172" y="183"/>
                </a:moveTo>
                <a:cubicBezTo>
                  <a:pt x="179" y="183"/>
                  <a:pt x="183" y="176"/>
                  <a:pt x="180" y="170"/>
                </a:cubicBezTo>
                <a:cubicBezTo>
                  <a:pt x="96" y="8"/>
                  <a:pt x="96" y="8"/>
                  <a:pt x="96" y="8"/>
                </a:cubicBezTo>
                <a:cubicBezTo>
                  <a:pt x="94" y="5"/>
                  <a:pt x="94" y="3"/>
                  <a:pt x="95" y="0"/>
                </a:cubicBezTo>
                <a:cubicBezTo>
                  <a:pt x="0" y="183"/>
                  <a:pt x="0" y="183"/>
                  <a:pt x="0" y="183"/>
                </a:cubicBezTo>
                <a:lnTo>
                  <a:pt x="172" y="183"/>
                </a:lnTo>
                <a:close/>
              </a:path>
            </a:pathLst>
          </a:custGeom>
          <a:solidFill>
            <a:srgbClr val="10223F"/>
          </a:solidFill>
          <a:ln>
            <a:noFill/>
          </a:ln>
        </p:spPr>
        <p:txBody>
          <a:bodyPr anchorCtr="0" anchor="t" bIns="29025" lIns="58075" spcFirstLastPara="1" rIns="58075" wrap="square" tIns="290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43"/>
              <a:buFont typeface="Arial"/>
              <a:buNone/>
            </a:pPr>
            <a:r>
              <a:t/>
            </a:r>
            <a:endParaRPr b="0" i="0" sz="114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5"/>
          <p:cNvSpPr/>
          <p:nvPr/>
        </p:nvSpPr>
        <p:spPr>
          <a:xfrm>
            <a:off x="6410585" y="3319885"/>
            <a:ext cx="4132006" cy="959897"/>
          </a:xfrm>
          <a:custGeom>
            <a:rect b="b" l="l" r="r" t="t"/>
            <a:pathLst>
              <a:path extrusionOk="0" h="359" w="1547">
                <a:moveTo>
                  <a:pt x="1459" y="176"/>
                </a:moveTo>
                <a:cubicBezTo>
                  <a:pt x="1459" y="176"/>
                  <a:pt x="1459" y="176"/>
                  <a:pt x="1460" y="175"/>
                </a:cubicBezTo>
                <a:cubicBezTo>
                  <a:pt x="1544" y="13"/>
                  <a:pt x="1544" y="13"/>
                  <a:pt x="1544" y="13"/>
                </a:cubicBezTo>
                <a:cubicBezTo>
                  <a:pt x="1547" y="7"/>
                  <a:pt x="1543" y="0"/>
                  <a:pt x="1536" y="0"/>
                </a:cubicBezTo>
                <a:cubicBezTo>
                  <a:pt x="98" y="0"/>
                  <a:pt x="98" y="0"/>
                  <a:pt x="98" y="0"/>
                </a:cubicBezTo>
                <a:cubicBezTo>
                  <a:pt x="94" y="0"/>
                  <a:pt x="91" y="2"/>
                  <a:pt x="90" y="5"/>
                </a:cubicBezTo>
                <a:cubicBezTo>
                  <a:pt x="1" y="175"/>
                  <a:pt x="1" y="175"/>
                  <a:pt x="1" y="175"/>
                </a:cubicBezTo>
                <a:cubicBezTo>
                  <a:pt x="0" y="178"/>
                  <a:pt x="0" y="181"/>
                  <a:pt x="1" y="184"/>
                </a:cubicBezTo>
                <a:cubicBezTo>
                  <a:pt x="90" y="354"/>
                  <a:pt x="90" y="354"/>
                  <a:pt x="90" y="354"/>
                </a:cubicBezTo>
                <a:cubicBezTo>
                  <a:pt x="91" y="357"/>
                  <a:pt x="94" y="359"/>
                  <a:pt x="98" y="359"/>
                </a:cubicBezTo>
                <a:cubicBezTo>
                  <a:pt x="1364" y="359"/>
                  <a:pt x="1364" y="359"/>
                  <a:pt x="1364" y="359"/>
                </a:cubicBezTo>
                <a:lnTo>
                  <a:pt x="1459" y="176"/>
                </a:lnTo>
                <a:close/>
              </a:path>
            </a:pathLst>
          </a:custGeom>
          <a:solidFill>
            <a:srgbClr val="1B3464"/>
          </a:solidFill>
          <a:ln>
            <a:noFill/>
          </a:ln>
        </p:spPr>
        <p:txBody>
          <a:bodyPr anchorCtr="0" anchor="t" bIns="29025" lIns="58075" spcFirstLastPara="1" rIns="58075" wrap="square" tIns="290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43"/>
              <a:buFont typeface="Arial"/>
              <a:buNone/>
            </a:pPr>
            <a:r>
              <a:t/>
            </a:r>
            <a:endParaRPr b="0" i="0" sz="114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5"/>
          <p:cNvSpPr/>
          <p:nvPr/>
        </p:nvSpPr>
        <p:spPr>
          <a:xfrm>
            <a:off x="7358980" y="2288400"/>
            <a:ext cx="4132006" cy="959897"/>
          </a:xfrm>
          <a:custGeom>
            <a:rect b="b" l="l" r="r" t="t"/>
            <a:pathLst>
              <a:path extrusionOk="0" h="359" w="1547">
                <a:moveTo>
                  <a:pt x="1449" y="359"/>
                </a:moveTo>
                <a:cubicBezTo>
                  <a:pt x="1452" y="359"/>
                  <a:pt x="1455" y="357"/>
                  <a:pt x="1457" y="354"/>
                </a:cubicBezTo>
                <a:cubicBezTo>
                  <a:pt x="1546" y="184"/>
                  <a:pt x="1546" y="184"/>
                  <a:pt x="1546" y="184"/>
                </a:cubicBezTo>
                <a:cubicBezTo>
                  <a:pt x="1547" y="181"/>
                  <a:pt x="1547" y="178"/>
                  <a:pt x="1546" y="175"/>
                </a:cubicBezTo>
                <a:cubicBezTo>
                  <a:pt x="1457" y="5"/>
                  <a:pt x="1457" y="5"/>
                  <a:pt x="1457" y="5"/>
                </a:cubicBezTo>
                <a:cubicBezTo>
                  <a:pt x="1455" y="2"/>
                  <a:pt x="1452" y="0"/>
                  <a:pt x="1449" y="0"/>
                </a:cubicBezTo>
                <a:cubicBezTo>
                  <a:pt x="11" y="0"/>
                  <a:pt x="11" y="0"/>
                  <a:pt x="11" y="0"/>
                </a:cubicBezTo>
                <a:cubicBezTo>
                  <a:pt x="4" y="0"/>
                  <a:pt x="0" y="7"/>
                  <a:pt x="3" y="13"/>
                </a:cubicBezTo>
                <a:cubicBezTo>
                  <a:pt x="87" y="175"/>
                  <a:pt x="87" y="175"/>
                  <a:pt x="87" y="175"/>
                </a:cubicBezTo>
                <a:cubicBezTo>
                  <a:pt x="87" y="175"/>
                  <a:pt x="87" y="175"/>
                  <a:pt x="87" y="175"/>
                </a:cubicBezTo>
                <a:cubicBezTo>
                  <a:pt x="183" y="359"/>
                  <a:pt x="183" y="359"/>
                  <a:pt x="183" y="359"/>
                </a:cubicBezTo>
                <a:lnTo>
                  <a:pt x="1449" y="359"/>
                </a:lnTo>
                <a:close/>
              </a:path>
            </a:pathLst>
          </a:custGeom>
          <a:solidFill>
            <a:srgbClr val="019C9E"/>
          </a:solidFill>
          <a:ln>
            <a:noFill/>
          </a:ln>
        </p:spPr>
        <p:txBody>
          <a:bodyPr anchorCtr="0" anchor="t" bIns="29025" lIns="58075" spcFirstLastPara="1" rIns="58075" wrap="square" tIns="290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43"/>
              <a:buFont typeface="Arial"/>
              <a:buNone/>
            </a:pPr>
            <a:r>
              <a:t/>
            </a:r>
            <a:endParaRPr b="0" i="0" sz="114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5"/>
          <p:cNvSpPr/>
          <p:nvPr/>
        </p:nvSpPr>
        <p:spPr>
          <a:xfrm>
            <a:off x="7358980" y="2756249"/>
            <a:ext cx="489025" cy="492048"/>
          </a:xfrm>
          <a:custGeom>
            <a:rect b="b" l="l" r="r" t="t"/>
            <a:pathLst>
              <a:path extrusionOk="0" h="184" w="183">
                <a:moveTo>
                  <a:pt x="87" y="9"/>
                </a:moveTo>
                <a:cubicBezTo>
                  <a:pt x="3" y="171"/>
                  <a:pt x="3" y="171"/>
                  <a:pt x="3" y="171"/>
                </a:cubicBezTo>
                <a:cubicBezTo>
                  <a:pt x="0" y="177"/>
                  <a:pt x="4" y="184"/>
                  <a:pt x="11" y="184"/>
                </a:cubicBezTo>
                <a:cubicBezTo>
                  <a:pt x="183" y="184"/>
                  <a:pt x="183" y="184"/>
                  <a:pt x="183" y="184"/>
                </a:cubicBezTo>
                <a:cubicBezTo>
                  <a:pt x="87" y="0"/>
                  <a:pt x="87" y="0"/>
                  <a:pt x="87" y="0"/>
                </a:cubicBezTo>
                <a:cubicBezTo>
                  <a:pt x="89" y="3"/>
                  <a:pt x="89" y="6"/>
                  <a:pt x="87" y="9"/>
                </a:cubicBezTo>
                <a:close/>
              </a:path>
            </a:pathLst>
          </a:custGeom>
          <a:solidFill>
            <a:srgbClr val="008789"/>
          </a:solidFill>
          <a:ln>
            <a:noFill/>
          </a:ln>
        </p:spPr>
        <p:txBody>
          <a:bodyPr anchorCtr="0" anchor="t" bIns="29025" lIns="58075" spcFirstLastPara="1" rIns="58075" wrap="square" tIns="290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43"/>
              <a:buFont typeface="Arial"/>
              <a:buNone/>
            </a:pPr>
            <a:r>
              <a:t/>
            </a:r>
            <a:endParaRPr b="0" i="0" sz="114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5"/>
          <p:cNvSpPr/>
          <p:nvPr/>
        </p:nvSpPr>
        <p:spPr>
          <a:xfrm>
            <a:off x="9193488" y="3433823"/>
            <a:ext cx="602700" cy="71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637"/>
              <a:buFont typeface="Arial"/>
              <a:buNone/>
            </a:pPr>
            <a:r>
              <a:rPr b="0" i="0" lang="en-US" sz="4637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r>
              <a:rPr lang="en-US" sz="4637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14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5"/>
          <p:cNvSpPr/>
          <p:nvPr/>
        </p:nvSpPr>
        <p:spPr>
          <a:xfrm>
            <a:off x="8017400" y="2406370"/>
            <a:ext cx="594600" cy="70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573"/>
              <a:buFont typeface="Arial"/>
              <a:buNone/>
            </a:pPr>
            <a:r>
              <a:rPr b="0" i="0" lang="en-US" sz="4573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r>
              <a:rPr lang="en-US" sz="4573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14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5"/>
          <p:cNvSpPr/>
          <p:nvPr/>
        </p:nvSpPr>
        <p:spPr>
          <a:xfrm>
            <a:off x="7519422" y="3477175"/>
            <a:ext cx="1406700" cy="21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97"/>
              <a:buFont typeface="Arial"/>
              <a:buNone/>
            </a:pPr>
            <a:r>
              <a:rPr b="1" lang="en-US" sz="1397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FEEDBACK</a:t>
            </a:r>
            <a:endParaRPr b="0" i="0" sz="114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5"/>
          <p:cNvSpPr/>
          <p:nvPr/>
        </p:nvSpPr>
        <p:spPr>
          <a:xfrm>
            <a:off x="8940005" y="2458800"/>
            <a:ext cx="1435800" cy="21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97"/>
              <a:buFont typeface="Arial"/>
              <a:buNone/>
            </a:pPr>
            <a:r>
              <a:rPr b="1" lang="en-US" sz="1397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DATA UTILIZATION</a:t>
            </a:r>
            <a:endParaRPr b="0" i="0" sz="114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5"/>
          <p:cNvSpPr txBox="1"/>
          <p:nvPr/>
        </p:nvSpPr>
        <p:spPr>
          <a:xfrm>
            <a:off x="8895627" y="2645336"/>
            <a:ext cx="1232100" cy="4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29025" lIns="58075" spcFirstLastPara="1" rIns="58075" wrap="square" tIns="290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89"/>
              <a:buFont typeface="Arial"/>
              <a:buNone/>
            </a:pPr>
            <a:r>
              <a:rPr lang="en-US" sz="889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digunakan oleh manajemen untuk keputusan.</a:t>
            </a:r>
            <a:endParaRPr b="0" i="0" sz="889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5"/>
          <p:cNvSpPr txBox="1"/>
          <p:nvPr/>
        </p:nvSpPr>
        <p:spPr>
          <a:xfrm>
            <a:off x="7712298" y="3688921"/>
            <a:ext cx="1232100" cy="4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29025" lIns="58075" spcFirstLastPara="1" rIns="58075" wrap="square" tIns="290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89"/>
              <a:buFont typeface="Arial"/>
              <a:buNone/>
            </a:pPr>
            <a:r>
              <a:rPr lang="en-US" sz="889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hasil keputusan memperbaiki data dan proses berikutnya.</a:t>
            </a:r>
            <a:endParaRPr b="0" i="0" sz="889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Text&#10;&#10;Description automatically generated" id="355" name="Google Shape;355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6109" y="209804"/>
            <a:ext cx="2923540" cy="748241"/>
          </a:xfrm>
          <a:prstGeom prst="rect">
            <a:avLst/>
          </a:prstGeom>
          <a:noFill/>
          <a:ln>
            <a:noFill/>
          </a:ln>
        </p:spPr>
      </p:pic>
      <p:sp>
        <p:nvSpPr>
          <p:cNvPr id="356" name="Google Shape;356;p14"/>
          <p:cNvSpPr/>
          <p:nvPr/>
        </p:nvSpPr>
        <p:spPr>
          <a:xfrm>
            <a:off x="356108" y="6182975"/>
            <a:ext cx="10794491" cy="465221"/>
          </a:xfrm>
          <a:prstGeom prst="rect">
            <a:avLst/>
          </a:prstGeom>
          <a:solidFill>
            <a:srgbClr val="02CCC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14"/>
          <p:cNvSpPr/>
          <p:nvPr/>
        </p:nvSpPr>
        <p:spPr>
          <a:xfrm>
            <a:off x="11245515" y="6176749"/>
            <a:ext cx="590375" cy="465221"/>
          </a:xfrm>
          <a:prstGeom prst="rect">
            <a:avLst/>
          </a:prstGeom>
          <a:solidFill>
            <a:srgbClr val="1B356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14"/>
          <p:cNvSpPr txBox="1"/>
          <p:nvPr>
            <p:ph idx="12" type="sldNum"/>
          </p:nvPr>
        </p:nvSpPr>
        <p:spPr>
          <a:xfrm>
            <a:off x="8957224" y="6224693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US" sz="1800">
                <a:solidFill>
                  <a:schemeClr val="lt1"/>
                </a:solidFill>
              </a:rPr>
              <a:t>‹#›</a:t>
            </a:fld>
            <a:endParaRPr sz="1800">
              <a:solidFill>
                <a:schemeClr val="lt1"/>
              </a:solidFill>
            </a:endParaRPr>
          </a:p>
        </p:txBody>
      </p:sp>
      <p:sp>
        <p:nvSpPr>
          <p:cNvPr id="359" name="Google Shape;359;p14"/>
          <p:cNvSpPr/>
          <p:nvPr/>
        </p:nvSpPr>
        <p:spPr>
          <a:xfrm>
            <a:off x="7335870" y="3814547"/>
            <a:ext cx="3078900" cy="27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SzPts val="1800"/>
              <a:buFont typeface="Arial"/>
              <a:buNone/>
            </a:pPr>
            <a:r>
              <a:rPr b="1" lang="en-US" sz="1800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Sistem Informasi (SI)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14"/>
          <p:cNvSpPr/>
          <p:nvPr/>
        </p:nvSpPr>
        <p:spPr>
          <a:xfrm>
            <a:off x="7335875" y="3040850"/>
            <a:ext cx="3474900" cy="27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SzPts val="1800"/>
              <a:buFont typeface="Arial"/>
              <a:buNone/>
            </a:pPr>
            <a:r>
              <a:rPr b="1" lang="en-US" sz="1800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rPr>
              <a:t>Teknologi Informasi (TI)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14"/>
          <p:cNvSpPr/>
          <p:nvPr/>
        </p:nvSpPr>
        <p:spPr>
          <a:xfrm>
            <a:off x="7345385" y="1144600"/>
            <a:ext cx="43551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b="1" lang="en-US" sz="3300">
                <a:latin typeface="Calibri"/>
                <a:ea typeface="Calibri"/>
                <a:cs typeface="Calibri"/>
                <a:sym typeface="Calibri"/>
              </a:rPr>
              <a:t>Hubungan Sistem Informasi dengan Teknologi Informasi (TI)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14"/>
          <p:cNvSpPr txBox="1"/>
          <p:nvPr/>
        </p:nvSpPr>
        <p:spPr>
          <a:xfrm>
            <a:off x="7253288" y="3321825"/>
            <a:ext cx="40530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</a:pPr>
            <a:r>
              <a:rPr lang="en-US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Alat dan infrastruktur (hardware, software, jaringan).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3" name="Google Shape;363;p14"/>
          <p:cNvSpPr txBox="1"/>
          <p:nvPr/>
        </p:nvSpPr>
        <p:spPr>
          <a:xfrm>
            <a:off x="7235825" y="4097122"/>
            <a:ext cx="4053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</a:pPr>
            <a:r>
              <a:rPr lang="en-US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kombinasi antara TI, data, manusia, dan prosedur yang menghasilkan nilai bisnis.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4" name="Google Shape;364;p14"/>
          <p:cNvSpPr/>
          <p:nvPr/>
        </p:nvSpPr>
        <p:spPr>
          <a:xfrm>
            <a:off x="3560763" y="3163888"/>
            <a:ext cx="2660650" cy="2574925"/>
          </a:xfrm>
          <a:custGeom>
            <a:rect b="b" l="l" r="r" t="t"/>
            <a:pathLst>
              <a:path extrusionOk="0" h="614" w="635">
                <a:moveTo>
                  <a:pt x="47" y="160"/>
                </a:moveTo>
                <a:cubicBezTo>
                  <a:pt x="9" y="230"/>
                  <a:pt x="0" y="310"/>
                  <a:pt x="20" y="386"/>
                </a:cubicBezTo>
                <a:cubicBezTo>
                  <a:pt x="42" y="466"/>
                  <a:pt x="92" y="532"/>
                  <a:pt x="163" y="573"/>
                </a:cubicBezTo>
                <a:cubicBezTo>
                  <a:pt x="210" y="600"/>
                  <a:pt x="263" y="614"/>
                  <a:pt x="317" y="614"/>
                </a:cubicBezTo>
                <a:cubicBezTo>
                  <a:pt x="426" y="614"/>
                  <a:pt x="528" y="555"/>
                  <a:pt x="583" y="460"/>
                </a:cubicBezTo>
                <a:cubicBezTo>
                  <a:pt x="624" y="389"/>
                  <a:pt x="635" y="307"/>
                  <a:pt x="613" y="227"/>
                </a:cubicBezTo>
                <a:cubicBezTo>
                  <a:pt x="592" y="148"/>
                  <a:pt x="541" y="82"/>
                  <a:pt x="470" y="41"/>
                </a:cubicBezTo>
                <a:cubicBezTo>
                  <a:pt x="426" y="15"/>
                  <a:pt x="376" y="1"/>
                  <a:pt x="325" y="0"/>
                </a:cubicBezTo>
                <a:cubicBezTo>
                  <a:pt x="266" y="97"/>
                  <a:pt x="161" y="157"/>
                  <a:pt x="47" y="160"/>
                </a:cubicBezTo>
                <a:close/>
              </a:path>
            </a:pathLst>
          </a:custGeom>
          <a:solidFill>
            <a:srgbClr val="019C9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14"/>
          <p:cNvSpPr/>
          <p:nvPr/>
        </p:nvSpPr>
        <p:spPr>
          <a:xfrm>
            <a:off x="2438400" y="1147763"/>
            <a:ext cx="2571750" cy="2570162"/>
          </a:xfrm>
          <a:custGeom>
            <a:rect b="b" l="l" r="r" t="t"/>
            <a:pathLst>
              <a:path extrusionOk="0" h="613" w="614">
                <a:moveTo>
                  <a:pt x="524" y="89"/>
                </a:moveTo>
                <a:cubicBezTo>
                  <a:pt x="466" y="32"/>
                  <a:pt x="389" y="0"/>
                  <a:pt x="307" y="0"/>
                </a:cubicBezTo>
                <a:cubicBezTo>
                  <a:pt x="138" y="0"/>
                  <a:pt x="0" y="137"/>
                  <a:pt x="0" y="307"/>
                </a:cubicBezTo>
                <a:cubicBezTo>
                  <a:pt x="0" y="358"/>
                  <a:pt x="13" y="408"/>
                  <a:pt x="37" y="453"/>
                </a:cubicBezTo>
                <a:cubicBezTo>
                  <a:pt x="151" y="456"/>
                  <a:pt x="256" y="517"/>
                  <a:pt x="315" y="613"/>
                </a:cubicBezTo>
                <a:cubicBezTo>
                  <a:pt x="481" y="609"/>
                  <a:pt x="614" y="473"/>
                  <a:pt x="614" y="307"/>
                </a:cubicBezTo>
                <a:cubicBezTo>
                  <a:pt x="614" y="225"/>
                  <a:pt x="582" y="147"/>
                  <a:pt x="524" y="89"/>
                </a:cubicBezTo>
                <a:close/>
              </a:path>
            </a:pathLst>
          </a:custGeom>
          <a:solidFill>
            <a:srgbClr val="1B356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14"/>
          <p:cNvSpPr/>
          <p:nvPr/>
        </p:nvSpPr>
        <p:spPr>
          <a:xfrm>
            <a:off x="1093788" y="3163888"/>
            <a:ext cx="2563812" cy="2574925"/>
          </a:xfrm>
          <a:custGeom>
            <a:rect b="b" l="l" r="r" t="t"/>
            <a:pathLst>
              <a:path extrusionOk="0" h="614" w="612">
                <a:moveTo>
                  <a:pt x="612" y="147"/>
                </a:moveTo>
                <a:cubicBezTo>
                  <a:pt x="556" y="56"/>
                  <a:pt x="457" y="0"/>
                  <a:pt x="350" y="0"/>
                </a:cubicBezTo>
                <a:cubicBezTo>
                  <a:pt x="296" y="0"/>
                  <a:pt x="243" y="14"/>
                  <a:pt x="197" y="41"/>
                </a:cubicBezTo>
                <a:cubicBezTo>
                  <a:pt x="50" y="126"/>
                  <a:pt x="0" y="314"/>
                  <a:pt x="84" y="460"/>
                </a:cubicBezTo>
                <a:cubicBezTo>
                  <a:pt x="139" y="555"/>
                  <a:pt x="241" y="614"/>
                  <a:pt x="350" y="614"/>
                </a:cubicBezTo>
                <a:cubicBezTo>
                  <a:pt x="350" y="614"/>
                  <a:pt x="350" y="614"/>
                  <a:pt x="350" y="614"/>
                </a:cubicBezTo>
                <a:cubicBezTo>
                  <a:pt x="404" y="614"/>
                  <a:pt x="457" y="600"/>
                  <a:pt x="504" y="573"/>
                </a:cubicBezTo>
                <a:cubicBezTo>
                  <a:pt x="548" y="547"/>
                  <a:pt x="585" y="511"/>
                  <a:pt x="612" y="467"/>
                </a:cubicBezTo>
                <a:cubicBezTo>
                  <a:pt x="558" y="368"/>
                  <a:pt x="558" y="246"/>
                  <a:pt x="612" y="147"/>
                </a:cubicBezTo>
                <a:close/>
              </a:path>
            </a:pathLst>
          </a:custGeom>
          <a:solidFill>
            <a:srgbClr val="02CCC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14"/>
          <p:cNvSpPr/>
          <p:nvPr/>
        </p:nvSpPr>
        <p:spPr>
          <a:xfrm>
            <a:off x="3409950" y="1952625"/>
            <a:ext cx="766763" cy="692150"/>
          </a:xfrm>
          <a:custGeom>
            <a:rect b="b" l="l" r="r" t="t"/>
            <a:pathLst>
              <a:path extrusionOk="0" h="165" w="183">
                <a:moveTo>
                  <a:pt x="125" y="22"/>
                </a:moveTo>
                <a:cubicBezTo>
                  <a:pt x="114" y="22"/>
                  <a:pt x="114" y="22"/>
                  <a:pt x="114" y="22"/>
                </a:cubicBezTo>
                <a:cubicBezTo>
                  <a:pt x="113" y="15"/>
                  <a:pt x="108" y="10"/>
                  <a:pt x="102" y="10"/>
                </a:cubicBezTo>
                <a:cubicBezTo>
                  <a:pt x="81" y="10"/>
                  <a:pt x="81" y="10"/>
                  <a:pt x="81" y="10"/>
                </a:cubicBezTo>
                <a:cubicBezTo>
                  <a:pt x="75" y="10"/>
                  <a:pt x="70" y="15"/>
                  <a:pt x="69" y="22"/>
                </a:cubicBezTo>
                <a:cubicBezTo>
                  <a:pt x="59" y="22"/>
                  <a:pt x="59" y="22"/>
                  <a:pt x="59" y="22"/>
                </a:cubicBezTo>
                <a:cubicBezTo>
                  <a:pt x="59" y="10"/>
                  <a:pt x="68" y="0"/>
                  <a:pt x="79" y="0"/>
                </a:cubicBezTo>
                <a:cubicBezTo>
                  <a:pt x="105" y="0"/>
                  <a:pt x="105" y="0"/>
                  <a:pt x="105" y="0"/>
                </a:cubicBezTo>
                <a:cubicBezTo>
                  <a:pt x="115" y="0"/>
                  <a:pt x="124" y="10"/>
                  <a:pt x="125" y="22"/>
                </a:cubicBezTo>
                <a:close/>
                <a:moveTo>
                  <a:pt x="28" y="92"/>
                </a:moveTo>
                <a:cubicBezTo>
                  <a:pt x="74" y="92"/>
                  <a:pt x="74" y="92"/>
                  <a:pt x="74" y="92"/>
                </a:cubicBezTo>
                <a:cubicBezTo>
                  <a:pt x="74" y="85"/>
                  <a:pt x="74" y="85"/>
                  <a:pt x="74" y="85"/>
                </a:cubicBezTo>
                <a:cubicBezTo>
                  <a:pt x="74" y="80"/>
                  <a:pt x="78" y="76"/>
                  <a:pt x="83" y="76"/>
                </a:cubicBezTo>
                <a:cubicBezTo>
                  <a:pt x="101" y="76"/>
                  <a:pt x="101" y="76"/>
                  <a:pt x="101" y="76"/>
                </a:cubicBezTo>
                <a:cubicBezTo>
                  <a:pt x="105" y="76"/>
                  <a:pt x="109" y="80"/>
                  <a:pt x="109" y="85"/>
                </a:cubicBezTo>
                <a:cubicBezTo>
                  <a:pt x="109" y="92"/>
                  <a:pt x="109" y="92"/>
                  <a:pt x="109" y="92"/>
                </a:cubicBezTo>
                <a:cubicBezTo>
                  <a:pt x="156" y="92"/>
                  <a:pt x="156" y="92"/>
                  <a:pt x="156" y="92"/>
                </a:cubicBezTo>
                <a:cubicBezTo>
                  <a:pt x="169" y="92"/>
                  <a:pt x="181" y="80"/>
                  <a:pt x="183" y="66"/>
                </a:cubicBezTo>
                <a:cubicBezTo>
                  <a:pt x="183" y="51"/>
                  <a:pt x="183" y="51"/>
                  <a:pt x="183" y="51"/>
                </a:cubicBezTo>
                <a:cubicBezTo>
                  <a:pt x="183" y="38"/>
                  <a:pt x="174" y="27"/>
                  <a:pt x="162" y="27"/>
                </a:cubicBezTo>
                <a:cubicBezTo>
                  <a:pt x="151" y="27"/>
                  <a:pt x="151" y="27"/>
                  <a:pt x="151" y="27"/>
                </a:cubicBezTo>
                <a:cubicBezTo>
                  <a:pt x="147" y="27"/>
                  <a:pt x="147" y="27"/>
                  <a:pt x="147" y="27"/>
                </a:cubicBezTo>
                <a:cubicBezTo>
                  <a:pt x="139" y="27"/>
                  <a:pt x="139" y="27"/>
                  <a:pt x="139" y="27"/>
                </a:cubicBezTo>
                <a:cubicBezTo>
                  <a:pt x="131" y="27"/>
                  <a:pt x="131" y="27"/>
                  <a:pt x="131" y="27"/>
                </a:cubicBezTo>
                <a:cubicBezTo>
                  <a:pt x="126" y="27"/>
                  <a:pt x="126" y="27"/>
                  <a:pt x="126" y="27"/>
                </a:cubicBezTo>
                <a:cubicBezTo>
                  <a:pt x="113" y="27"/>
                  <a:pt x="113" y="27"/>
                  <a:pt x="113" y="27"/>
                </a:cubicBezTo>
                <a:cubicBezTo>
                  <a:pt x="70" y="27"/>
                  <a:pt x="70" y="27"/>
                  <a:pt x="70" y="27"/>
                </a:cubicBezTo>
                <a:cubicBezTo>
                  <a:pt x="58" y="27"/>
                  <a:pt x="58" y="27"/>
                  <a:pt x="58" y="27"/>
                </a:cubicBezTo>
                <a:cubicBezTo>
                  <a:pt x="43" y="27"/>
                  <a:pt x="43" y="27"/>
                  <a:pt x="43" y="27"/>
                </a:cubicBezTo>
                <a:cubicBezTo>
                  <a:pt x="35" y="27"/>
                  <a:pt x="35" y="27"/>
                  <a:pt x="35" y="27"/>
                </a:cubicBezTo>
                <a:cubicBezTo>
                  <a:pt x="28" y="27"/>
                  <a:pt x="28" y="27"/>
                  <a:pt x="28" y="27"/>
                </a:cubicBezTo>
                <a:cubicBezTo>
                  <a:pt x="21" y="27"/>
                  <a:pt x="21" y="27"/>
                  <a:pt x="21" y="27"/>
                </a:cubicBezTo>
                <a:cubicBezTo>
                  <a:pt x="9" y="27"/>
                  <a:pt x="0" y="38"/>
                  <a:pt x="0" y="51"/>
                </a:cubicBezTo>
                <a:cubicBezTo>
                  <a:pt x="0" y="66"/>
                  <a:pt x="0" y="66"/>
                  <a:pt x="0" y="66"/>
                </a:cubicBezTo>
                <a:cubicBezTo>
                  <a:pt x="2" y="80"/>
                  <a:pt x="14" y="92"/>
                  <a:pt x="28" y="92"/>
                </a:cubicBezTo>
                <a:close/>
                <a:moveTo>
                  <a:pt x="156" y="99"/>
                </a:moveTo>
                <a:cubicBezTo>
                  <a:pt x="109" y="99"/>
                  <a:pt x="109" y="99"/>
                  <a:pt x="109" y="99"/>
                </a:cubicBezTo>
                <a:cubicBezTo>
                  <a:pt x="109" y="106"/>
                  <a:pt x="109" y="106"/>
                  <a:pt x="109" y="106"/>
                </a:cubicBezTo>
                <a:cubicBezTo>
                  <a:pt x="109" y="111"/>
                  <a:pt x="105" y="115"/>
                  <a:pt x="101" y="115"/>
                </a:cubicBezTo>
                <a:cubicBezTo>
                  <a:pt x="83" y="115"/>
                  <a:pt x="83" y="115"/>
                  <a:pt x="83" y="115"/>
                </a:cubicBezTo>
                <a:cubicBezTo>
                  <a:pt x="78" y="115"/>
                  <a:pt x="74" y="111"/>
                  <a:pt x="74" y="106"/>
                </a:cubicBezTo>
                <a:cubicBezTo>
                  <a:pt x="74" y="99"/>
                  <a:pt x="74" y="99"/>
                  <a:pt x="74" y="99"/>
                </a:cubicBezTo>
                <a:cubicBezTo>
                  <a:pt x="28" y="99"/>
                  <a:pt x="28" y="99"/>
                  <a:pt x="28" y="99"/>
                </a:cubicBezTo>
                <a:cubicBezTo>
                  <a:pt x="16" y="99"/>
                  <a:pt x="6" y="93"/>
                  <a:pt x="0" y="83"/>
                </a:cubicBezTo>
                <a:cubicBezTo>
                  <a:pt x="0" y="140"/>
                  <a:pt x="0" y="140"/>
                  <a:pt x="0" y="140"/>
                </a:cubicBezTo>
                <a:cubicBezTo>
                  <a:pt x="0" y="154"/>
                  <a:pt x="9" y="165"/>
                  <a:pt x="21" y="165"/>
                </a:cubicBezTo>
                <a:cubicBezTo>
                  <a:pt x="28" y="165"/>
                  <a:pt x="28" y="165"/>
                  <a:pt x="28" y="165"/>
                </a:cubicBezTo>
                <a:cubicBezTo>
                  <a:pt x="35" y="165"/>
                  <a:pt x="35" y="165"/>
                  <a:pt x="35" y="165"/>
                </a:cubicBezTo>
                <a:cubicBezTo>
                  <a:pt x="43" y="165"/>
                  <a:pt x="43" y="165"/>
                  <a:pt x="43" y="165"/>
                </a:cubicBezTo>
                <a:cubicBezTo>
                  <a:pt x="139" y="165"/>
                  <a:pt x="139" y="165"/>
                  <a:pt x="139" y="165"/>
                </a:cubicBezTo>
                <a:cubicBezTo>
                  <a:pt x="147" y="165"/>
                  <a:pt x="147" y="165"/>
                  <a:pt x="147" y="165"/>
                </a:cubicBezTo>
                <a:cubicBezTo>
                  <a:pt x="151" y="165"/>
                  <a:pt x="151" y="165"/>
                  <a:pt x="151" y="165"/>
                </a:cubicBezTo>
                <a:cubicBezTo>
                  <a:pt x="162" y="165"/>
                  <a:pt x="162" y="165"/>
                  <a:pt x="162" y="165"/>
                </a:cubicBezTo>
                <a:cubicBezTo>
                  <a:pt x="174" y="165"/>
                  <a:pt x="183" y="154"/>
                  <a:pt x="183" y="140"/>
                </a:cubicBezTo>
                <a:cubicBezTo>
                  <a:pt x="183" y="83"/>
                  <a:pt x="183" y="83"/>
                  <a:pt x="183" y="83"/>
                </a:cubicBezTo>
                <a:cubicBezTo>
                  <a:pt x="177" y="93"/>
                  <a:pt x="167" y="99"/>
                  <a:pt x="156" y="99"/>
                </a:cubicBezTo>
                <a:close/>
                <a:moveTo>
                  <a:pt x="100" y="83"/>
                </a:moveTo>
                <a:cubicBezTo>
                  <a:pt x="83" y="83"/>
                  <a:pt x="83" y="83"/>
                  <a:pt x="83" y="83"/>
                </a:cubicBezTo>
                <a:cubicBezTo>
                  <a:pt x="81" y="83"/>
                  <a:pt x="80" y="84"/>
                  <a:pt x="80" y="86"/>
                </a:cubicBezTo>
                <a:cubicBezTo>
                  <a:pt x="80" y="90"/>
                  <a:pt x="80" y="90"/>
                  <a:pt x="80" y="90"/>
                </a:cubicBezTo>
                <a:cubicBezTo>
                  <a:pt x="80" y="93"/>
                  <a:pt x="80" y="93"/>
                  <a:pt x="80" y="93"/>
                </a:cubicBezTo>
                <a:cubicBezTo>
                  <a:pt x="80" y="98"/>
                  <a:pt x="80" y="98"/>
                  <a:pt x="80" y="98"/>
                </a:cubicBezTo>
                <a:cubicBezTo>
                  <a:pt x="80" y="101"/>
                  <a:pt x="80" y="101"/>
                  <a:pt x="80" y="101"/>
                </a:cubicBezTo>
                <a:cubicBezTo>
                  <a:pt x="80" y="105"/>
                  <a:pt x="80" y="105"/>
                  <a:pt x="80" y="105"/>
                </a:cubicBezTo>
                <a:cubicBezTo>
                  <a:pt x="80" y="107"/>
                  <a:pt x="81" y="109"/>
                  <a:pt x="83" y="109"/>
                </a:cubicBezTo>
                <a:cubicBezTo>
                  <a:pt x="100" y="109"/>
                  <a:pt x="100" y="109"/>
                  <a:pt x="100" y="109"/>
                </a:cubicBezTo>
                <a:cubicBezTo>
                  <a:pt x="102" y="109"/>
                  <a:pt x="103" y="107"/>
                  <a:pt x="103" y="105"/>
                </a:cubicBezTo>
                <a:cubicBezTo>
                  <a:pt x="103" y="101"/>
                  <a:pt x="103" y="101"/>
                  <a:pt x="103" y="101"/>
                </a:cubicBezTo>
                <a:cubicBezTo>
                  <a:pt x="103" y="98"/>
                  <a:pt x="103" y="98"/>
                  <a:pt x="103" y="98"/>
                </a:cubicBezTo>
                <a:cubicBezTo>
                  <a:pt x="103" y="93"/>
                  <a:pt x="103" y="93"/>
                  <a:pt x="103" y="93"/>
                </a:cubicBezTo>
                <a:cubicBezTo>
                  <a:pt x="103" y="90"/>
                  <a:pt x="103" y="90"/>
                  <a:pt x="103" y="90"/>
                </a:cubicBezTo>
                <a:cubicBezTo>
                  <a:pt x="103" y="86"/>
                  <a:pt x="103" y="86"/>
                  <a:pt x="103" y="86"/>
                </a:cubicBezTo>
                <a:cubicBezTo>
                  <a:pt x="103" y="84"/>
                  <a:pt x="102" y="83"/>
                  <a:pt x="100" y="83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14"/>
          <p:cNvSpPr/>
          <p:nvPr/>
        </p:nvSpPr>
        <p:spPr>
          <a:xfrm>
            <a:off x="2093913" y="4108450"/>
            <a:ext cx="695325" cy="700088"/>
          </a:xfrm>
          <a:custGeom>
            <a:rect b="b" l="l" r="r" t="t"/>
            <a:pathLst>
              <a:path extrusionOk="0" h="167" w="166">
                <a:moveTo>
                  <a:pt x="78" y="88"/>
                </a:moveTo>
                <a:cubicBezTo>
                  <a:pt x="157" y="88"/>
                  <a:pt x="157" y="88"/>
                  <a:pt x="157" y="88"/>
                </a:cubicBezTo>
                <a:cubicBezTo>
                  <a:pt x="157" y="131"/>
                  <a:pt x="121" y="167"/>
                  <a:pt x="78" y="167"/>
                </a:cubicBezTo>
                <a:cubicBezTo>
                  <a:pt x="35" y="167"/>
                  <a:pt x="0" y="131"/>
                  <a:pt x="0" y="88"/>
                </a:cubicBezTo>
                <a:cubicBezTo>
                  <a:pt x="0" y="45"/>
                  <a:pt x="35" y="9"/>
                  <a:pt x="78" y="9"/>
                </a:cubicBezTo>
                <a:lnTo>
                  <a:pt x="78" y="88"/>
                </a:lnTo>
                <a:close/>
                <a:moveTo>
                  <a:pt x="88" y="0"/>
                </a:moveTo>
                <a:cubicBezTo>
                  <a:pt x="88" y="78"/>
                  <a:pt x="88" y="78"/>
                  <a:pt x="88" y="78"/>
                </a:cubicBezTo>
                <a:cubicBezTo>
                  <a:pt x="166" y="78"/>
                  <a:pt x="166" y="78"/>
                  <a:pt x="166" y="78"/>
                </a:cubicBezTo>
                <a:cubicBezTo>
                  <a:pt x="166" y="35"/>
                  <a:pt x="131" y="0"/>
                  <a:pt x="88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14"/>
          <p:cNvSpPr/>
          <p:nvPr/>
        </p:nvSpPr>
        <p:spPr>
          <a:xfrm>
            <a:off x="4587875" y="4175125"/>
            <a:ext cx="731838" cy="733425"/>
          </a:xfrm>
          <a:custGeom>
            <a:rect b="b" l="l" r="r" t="t"/>
            <a:pathLst>
              <a:path extrusionOk="0" h="175" w="175">
                <a:moveTo>
                  <a:pt x="172" y="75"/>
                </a:moveTo>
                <a:cubicBezTo>
                  <a:pt x="150" y="72"/>
                  <a:pt x="150" y="72"/>
                  <a:pt x="150" y="72"/>
                </a:cubicBezTo>
                <a:cubicBezTo>
                  <a:pt x="148" y="66"/>
                  <a:pt x="146" y="60"/>
                  <a:pt x="143" y="55"/>
                </a:cubicBezTo>
                <a:cubicBezTo>
                  <a:pt x="156" y="37"/>
                  <a:pt x="156" y="37"/>
                  <a:pt x="156" y="37"/>
                </a:cubicBezTo>
                <a:cubicBezTo>
                  <a:pt x="157" y="36"/>
                  <a:pt x="157" y="33"/>
                  <a:pt x="156" y="32"/>
                </a:cubicBezTo>
                <a:cubicBezTo>
                  <a:pt x="143" y="20"/>
                  <a:pt x="143" y="20"/>
                  <a:pt x="143" y="20"/>
                </a:cubicBezTo>
                <a:cubicBezTo>
                  <a:pt x="142" y="18"/>
                  <a:pt x="140" y="18"/>
                  <a:pt x="138" y="19"/>
                </a:cubicBezTo>
                <a:cubicBezTo>
                  <a:pt x="120" y="32"/>
                  <a:pt x="120" y="32"/>
                  <a:pt x="120" y="32"/>
                </a:cubicBezTo>
                <a:cubicBezTo>
                  <a:pt x="115" y="29"/>
                  <a:pt x="110" y="27"/>
                  <a:pt x="104" y="25"/>
                </a:cubicBezTo>
                <a:cubicBezTo>
                  <a:pt x="100" y="3"/>
                  <a:pt x="100" y="3"/>
                  <a:pt x="100" y="3"/>
                </a:cubicBezTo>
                <a:cubicBezTo>
                  <a:pt x="100" y="2"/>
                  <a:pt x="98" y="0"/>
                  <a:pt x="97" y="0"/>
                </a:cubicBezTo>
                <a:cubicBezTo>
                  <a:pt x="79" y="0"/>
                  <a:pt x="79" y="0"/>
                  <a:pt x="79" y="0"/>
                </a:cubicBezTo>
                <a:cubicBezTo>
                  <a:pt x="77" y="0"/>
                  <a:pt x="75" y="2"/>
                  <a:pt x="75" y="3"/>
                </a:cubicBezTo>
                <a:cubicBezTo>
                  <a:pt x="72" y="25"/>
                  <a:pt x="72" y="25"/>
                  <a:pt x="72" y="25"/>
                </a:cubicBezTo>
                <a:cubicBezTo>
                  <a:pt x="66" y="27"/>
                  <a:pt x="60" y="29"/>
                  <a:pt x="55" y="32"/>
                </a:cubicBezTo>
                <a:cubicBezTo>
                  <a:pt x="37" y="19"/>
                  <a:pt x="37" y="19"/>
                  <a:pt x="37" y="19"/>
                </a:cubicBezTo>
                <a:cubicBezTo>
                  <a:pt x="36" y="18"/>
                  <a:pt x="34" y="18"/>
                  <a:pt x="32" y="20"/>
                </a:cubicBezTo>
                <a:cubicBezTo>
                  <a:pt x="20" y="32"/>
                  <a:pt x="20" y="32"/>
                  <a:pt x="20" y="32"/>
                </a:cubicBezTo>
                <a:cubicBezTo>
                  <a:pt x="18" y="33"/>
                  <a:pt x="18" y="36"/>
                  <a:pt x="19" y="37"/>
                </a:cubicBezTo>
                <a:cubicBezTo>
                  <a:pt x="32" y="55"/>
                  <a:pt x="32" y="55"/>
                  <a:pt x="32" y="55"/>
                </a:cubicBezTo>
                <a:cubicBezTo>
                  <a:pt x="29" y="60"/>
                  <a:pt x="27" y="66"/>
                  <a:pt x="25" y="72"/>
                </a:cubicBezTo>
                <a:cubicBezTo>
                  <a:pt x="4" y="75"/>
                  <a:pt x="4" y="75"/>
                  <a:pt x="4" y="75"/>
                </a:cubicBezTo>
                <a:cubicBezTo>
                  <a:pt x="2" y="75"/>
                  <a:pt x="0" y="77"/>
                  <a:pt x="0" y="79"/>
                </a:cubicBezTo>
                <a:cubicBezTo>
                  <a:pt x="0" y="96"/>
                  <a:pt x="0" y="96"/>
                  <a:pt x="0" y="96"/>
                </a:cubicBezTo>
                <a:cubicBezTo>
                  <a:pt x="0" y="98"/>
                  <a:pt x="2" y="100"/>
                  <a:pt x="4" y="100"/>
                </a:cubicBezTo>
                <a:cubicBezTo>
                  <a:pt x="25" y="103"/>
                  <a:pt x="25" y="103"/>
                  <a:pt x="25" y="103"/>
                </a:cubicBezTo>
                <a:cubicBezTo>
                  <a:pt x="27" y="109"/>
                  <a:pt x="29" y="115"/>
                  <a:pt x="32" y="120"/>
                </a:cubicBezTo>
                <a:cubicBezTo>
                  <a:pt x="19" y="138"/>
                  <a:pt x="19" y="138"/>
                  <a:pt x="19" y="138"/>
                </a:cubicBezTo>
                <a:cubicBezTo>
                  <a:pt x="18" y="139"/>
                  <a:pt x="18" y="142"/>
                  <a:pt x="20" y="143"/>
                </a:cubicBezTo>
                <a:cubicBezTo>
                  <a:pt x="32" y="156"/>
                  <a:pt x="32" y="156"/>
                  <a:pt x="32" y="156"/>
                </a:cubicBezTo>
                <a:cubicBezTo>
                  <a:pt x="34" y="157"/>
                  <a:pt x="36" y="157"/>
                  <a:pt x="37" y="156"/>
                </a:cubicBezTo>
                <a:cubicBezTo>
                  <a:pt x="55" y="143"/>
                  <a:pt x="55" y="143"/>
                  <a:pt x="55" y="143"/>
                </a:cubicBezTo>
                <a:cubicBezTo>
                  <a:pt x="60" y="146"/>
                  <a:pt x="66" y="148"/>
                  <a:pt x="72" y="150"/>
                </a:cubicBezTo>
                <a:cubicBezTo>
                  <a:pt x="75" y="172"/>
                  <a:pt x="75" y="172"/>
                  <a:pt x="75" y="172"/>
                </a:cubicBezTo>
                <a:cubicBezTo>
                  <a:pt x="75" y="173"/>
                  <a:pt x="77" y="175"/>
                  <a:pt x="79" y="175"/>
                </a:cubicBezTo>
                <a:cubicBezTo>
                  <a:pt x="97" y="175"/>
                  <a:pt x="97" y="175"/>
                  <a:pt x="97" y="175"/>
                </a:cubicBezTo>
                <a:cubicBezTo>
                  <a:pt x="98" y="175"/>
                  <a:pt x="100" y="173"/>
                  <a:pt x="100" y="172"/>
                </a:cubicBezTo>
                <a:cubicBezTo>
                  <a:pt x="104" y="150"/>
                  <a:pt x="104" y="150"/>
                  <a:pt x="104" y="150"/>
                </a:cubicBezTo>
                <a:cubicBezTo>
                  <a:pt x="110" y="148"/>
                  <a:pt x="115" y="146"/>
                  <a:pt x="120" y="143"/>
                </a:cubicBezTo>
                <a:cubicBezTo>
                  <a:pt x="138" y="156"/>
                  <a:pt x="138" y="156"/>
                  <a:pt x="138" y="156"/>
                </a:cubicBezTo>
                <a:cubicBezTo>
                  <a:pt x="140" y="157"/>
                  <a:pt x="142" y="157"/>
                  <a:pt x="143" y="156"/>
                </a:cubicBezTo>
                <a:cubicBezTo>
                  <a:pt x="156" y="143"/>
                  <a:pt x="156" y="143"/>
                  <a:pt x="156" y="143"/>
                </a:cubicBezTo>
                <a:cubicBezTo>
                  <a:pt x="157" y="142"/>
                  <a:pt x="157" y="139"/>
                  <a:pt x="156" y="138"/>
                </a:cubicBezTo>
                <a:cubicBezTo>
                  <a:pt x="143" y="120"/>
                  <a:pt x="143" y="120"/>
                  <a:pt x="143" y="120"/>
                </a:cubicBezTo>
                <a:cubicBezTo>
                  <a:pt x="146" y="115"/>
                  <a:pt x="148" y="109"/>
                  <a:pt x="150" y="103"/>
                </a:cubicBezTo>
                <a:cubicBezTo>
                  <a:pt x="172" y="100"/>
                  <a:pt x="172" y="100"/>
                  <a:pt x="172" y="100"/>
                </a:cubicBezTo>
                <a:cubicBezTo>
                  <a:pt x="173" y="100"/>
                  <a:pt x="175" y="98"/>
                  <a:pt x="175" y="96"/>
                </a:cubicBezTo>
                <a:cubicBezTo>
                  <a:pt x="175" y="79"/>
                  <a:pt x="175" y="79"/>
                  <a:pt x="175" y="79"/>
                </a:cubicBezTo>
                <a:cubicBezTo>
                  <a:pt x="175" y="77"/>
                  <a:pt x="173" y="75"/>
                  <a:pt x="172" y="75"/>
                </a:cubicBezTo>
                <a:close/>
                <a:moveTo>
                  <a:pt x="88" y="120"/>
                </a:moveTo>
                <a:cubicBezTo>
                  <a:pt x="70" y="120"/>
                  <a:pt x="55" y="105"/>
                  <a:pt x="55" y="88"/>
                </a:cubicBezTo>
                <a:cubicBezTo>
                  <a:pt x="55" y="70"/>
                  <a:pt x="70" y="55"/>
                  <a:pt x="88" y="55"/>
                </a:cubicBezTo>
                <a:cubicBezTo>
                  <a:pt x="105" y="55"/>
                  <a:pt x="120" y="70"/>
                  <a:pt x="120" y="88"/>
                </a:cubicBezTo>
                <a:cubicBezTo>
                  <a:pt x="120" y="105"/>
                  <a:pt x="105" y="120"/>
                  <a:pt x="88" y="12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14"/>
          <p:cNvSpPr/>
          <p:nvPr/>
        </p:nvSpPr>
        <p:spPr>
          <a:xfrm>
            <a:off x="7335875" y="4781350"/>
            <a:ext cx="3953100" cy="57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SzPts val="18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Dengan kata lain, </a:t>
            </a:r>
            <a:r>
              <a:rPr b="1" lang="en-US" sz="1100">
                <a:solidFill>
                  <a:schemeClr val="dk1"/>
                </a:solidFill>
              </a:rPr>
              <a:t>TI adalah komponen teknis</a:t>
            </a:r>
            <a:r>
              <a:rPr lang="en-US" sz="1100">
                <a:solidFill>
                  <a:schemeClr val="dk1"/>
                </a:solidFill>
              </a:rPr>
              <a:t>, sementara </a:t>
            </a:r>
            <a:r>
              <a:rPr b="1" lang="en-US" sz="1100">
                <a:solidFill>
                  <a:schemeClr val="dk1"/>
                </a:solidFill>
              </a:rPr>
              <a:t>SI adalah sistem sosial-teknis</a:t>
            </a:r>
            <a:r>
              <a:rPr lang="en-US" sz="1100">
                <a:solidFill>
                  <a:schemeClr val="dk1"/>
                </a:solidFill>
              </a:rPr>
              <a:t> yang menggabungkan manusia dan teknologi.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14"/>
          <p:cNvSpPr txBox="1"/>
          <p:nvPr/>
        </p:nvSpPr>
        <p:spPr>
          <a:xfrm>
            <a:off x="491574" y="6224700"/>
            <a:ext cx="5100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i="1"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Konsep Sistem Informasi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26"/>
          <p:cNvSpPr txBox="1"/>
          <p:nvPr/>
        </p:nvSpPr>
        <p:spPr>
          <a:xfrm>
            <a:off x="998617" y="2598003"/>
            <a:ext cx="4401557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Terima Kasih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7" name="Google Shape;377;p26"/>
          <p:cNvSpPr/>
          <p:nvPr/>
        </p:nvSpPr>
        <p:spPr>
          <a:xfrm>
            <a:off x="1127208" y="3852303"/>
            <a:ext cx="720000" cy="72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 picture containing drawing&#10;&#10;Description automatically generated" id="378" name="Google Shape;378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41171" y="5841246"/>
            <a:ext cx="594000" cy="594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picture containing drawing&#10;&#10;Description automatically generated" id="379" name="Google Shape;379;p2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175211" y="5841245"/>
            <a:ext cx="594000" cy="594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picture containing drawing&#10;&#10;Description automatically generated" id="380" name="Google Shape;380;p2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05712" y="5841246"/>
            <a:ext cx="594000" cy="594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picture containing drawing&#10;&#10;Description automatically generated" id="381" name="Google Shape;381;p2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512169" y="5841245"/>
            <a:ext cx="594000" cy="594000"/>
          </a:xfrm>
          <a:prstGeom prst="rect">
            <a:avLst/>
          </a:prstGeom>
          <a:noFill/>
          <a:ln>
            <a:noFill/>
          </a:ln>
        </p:spPr>
      </p:pic>
      <p:sp>
        <p:nvSpPr>
          <p:cNvPr id="382" name="Google Shape;382;p26"/>
          <p:cNvSpPr txBox="1"/>
          <p:nvPr/>
        </p:nvSpPr>
        <p:spPr>
          <a:xfrm>
            <a:off x="1122959" y="5984357"/>
            <a:ext cx="1223605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www.itts.ac.id</a:t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26"/>
          <p:cNvSpPr txBox="1"/>
          <p:nvPr/>
        </p:nvSpPr>
        <p:spPr>
          <a:xfrm>
            <a:off x="3558418" y="5984357"/>
            <a:ext cx="940963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ittstangsel</a:t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26"/>
          <p:cNvSpPr txBox="1"/>
          <p:nvPr/>
        </p:nvSpPr>
        <p:spPr>
          <a:xfrm>
            <a:off x="5892458" y="5984357"/>
            <a:ext cx="1101264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@ittstangsel</a:t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26"/>
          <p:cNvSpPr txBox="1"/>
          <p:nvPr/>
        </p:nvSpPr>
        <p:spPr>
          <a:xfrm>
            <a:off x="8234732" y="5984357"/>
            <a:ext cx="2819105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Institut Teknologi Tangerang Selatan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 picture containing graphical user interface, text&#10;&#10;Description automatically generated" id="386" name="Google Shape;386;p2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356109" y="209804"/>
            <a:ext cx="2923540" cy="74824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8789"/>
        </a:solidFill>
      </p:bgPr>
    </p:bg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g160bc3606eb_0_0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>
                <a:solidFill>
                  <a:schemeClr val="lt1"/>
                </a:solidFill>
              </a:rPr>
              <a:t>Reference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393" name="Google Shape;393;g160bc3606eb_0_0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AutoNum type="arabicPeriod"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Laudon, K. C., &amp; Laudon, J. P. (2022). </a:t>
            </a:r>
            <a:r>
              <a:rPr i="1" lang="en-US" sz="1100">
                <a:latin typeface="Arial"/>
                <a:ea typeface="Arial"/>
                <a:cs typeface="Arial"/>
                <a:sym typeface="Arial"/>
              </a:rPr>
              <a:t>Management Information Systems</a:t>
            </a:r>
            <a:r>
              <a:rPr lang="en-US" sz="1100">
                <a:latin typeface="Arial"/>
                <a:ea typeface="Arial"/>
                <a:cs typeface="Arial"/>
                <a:sym typeface="Arial"/>
              </a:rPr>
              <a:t>. Pearson.</a:t>
            </a:r>
            <a:br>
              <a:rPr lang="en-US" sz="1100">
                <a:latin typeface="Arial"/>
                <a:ea typeface="Arial"/>
                <a:cs typeface="Arial"/>
                <a:sym typeface="Arial"/>
              </a:rPr>
            </a:b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AutoNum type="arabicPeriod"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O’Brien, J. A., &amp; Marakas, G. M. (2019). </a:t>
            </a:r>
            <a:r>
              <a:rPr i="1" lang="en-US" sz="1100">
                <a:latin typeface="Arial"/>
                <a:ea typeface="Arial"/>
                <a:cs typeface="Arial"/>
                <a:sym typeface="Arial"/>
              </a:rPr>
              <a:t>Introduction to Information Systems</a:t>
            </a:r>
            <a:r>
              <a:rPr lang="en-US" sz="1100">
                <a:latin typeface="Arial"/>
                <a:ea typeface="Arial"/>
                <a:cs typeface="Arial"/>
                <a:sym typeface="Arial"/>
              </a:rPr>
              <a:t>. McGraw-Hill.</a:t>
            </a:r>
            <a:br>
              <a:rPr lang="en-US" sz="1100">
                <a:latin typeface="Arial"/>
                <a:ea typeface="Arial"/>
                <a:cs typeface="Arial"/>
                <a:sym typeface="Arial"/>
              </a:rPr>
            </a:b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AutoNum type="arabicPeriod"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Turban, E., Volonino, L., &amp; Wood, G. (2021). </a:t>
            </a:r>
            <a:r>
              <a:rPr i="1" lang="en-US" sz="1100">
                <a:latin typeface="Arial"/>
                <a:ea typeface="Arial"/>
                <a:cs typeface="Arial"/>
                <a:sym typeface="Arial"/>
              </a:rPr>
              <a:t>Information Technology for Management</a:t>
            </a:r>
            <a:r>
              <a:rPr lang="en-US" sz="1100">
                <a:latin typeface="Arial"/>
                <a:ea typeface="Arial"/>
                <a:cs typeface="Arial"/>
                <a:sym typeface="Arial"/>
              </a:rPr>
              <a:t>. Wiley.</a:t>
            </a:r>
            <a:br>
              <a:rPr lang="en-US" sz="1100">
                <a:latin typeface="Arial"/>
                <a:ea typeface="Arial"/>
                <a:cs typeface="Arial"/>
                <a:sym typeface="Arial"/>
              </a:rPr>
            </a:b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AutoNum type="arabicPeriod"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Stair, R. M., &amp; Reynolds, G. W. (2020). </a:t>
            </a:r>
            <a:r>
              <a:rPr i="1" lang="en-US" sz="1100">
                <a:latin typeface="Arial"/>
                <a:ea typeface="Arial"/>
                <a:cs typeface="Arial"/>
                <a:sym typeface="Arial"/>
              </a:rPr>
              <a:t>Principles of Information Systems</a:t>
            </a:r>
            <a:r>
              <a:rPr lang="en-US" sz="1100">
                <a:latin typeface="Arial"/>
                <a:ea typeface="Arial"/>
                <a:cs typeface="Arial"/>
                <a:sym typeface="Arial"/>
              </a:rPr>
              <a:t>. Cengage Learning.</a:t>
            </a:r>
            <a:endParaRPr sz="11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4" name="Google Shape;394;g160bc3606eb_0_0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2020-09-26T10:37:16Z</dcterms:created>
  <dc:creator>Choirul Anwar</dc:creator>
</cp:coreProperties>
</file>