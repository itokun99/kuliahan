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 PENGAYAAAN </a:t>
            </a:r>
          </a:p>
          <a:p>
            <a:pPr algn="ctr">
              <a:buNone/>
            </a:pPr>
            <a:r>
              <a:rPr lang="id-ID" sz="2400" b="1" dirty="0"/>
              <a:t>MSIM4201 SISTEM OPERASI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3296394" y="3059668"/>
            <a:ext cx="54495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SESI 8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Sistem Operasi Windows </a:t>
            </a:r>
            <a:endParaRPr lang="id-ID" altLang="en-US" sz="5400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Sejarah Sistem Operasi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518D0D-2089-4286-AFD8-2DF42D44A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168186"/>
              </p:ext>
            </p:extLst>
          </p:nvPr>
        </p:nvGraphicFramePr>
        <p:xfrm>
          <a:off x="2811117" y="1166192"/>
          <a:ext cx="6569765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7723">
                  <a:extLst>
                    <a:ext uri="{9D8B030D-6E8A-4147-A177-3AD203B41FA5}">
                      <a16:colId xmlns:a16="http://schemas.microsoft.com/office/drawing/2014/main" val="3998352487"/>
                    </a:ext>
                  </a:extLst>
                </a:gridCol>
                <a:gridCol w="5062042">
                  <a:extLst>
                    <a:ext uri="{9D8B030D-6E8A-4147-A177-3AD203B41FA5}">
                      <a16:colId xmlns:a16="http://schemas.microsoft.com/office/drawing/2014/main" val="1020752218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id-ID" sz="1200">
                          <a:effectLst/>
                        </a:rPr>
                        <a:t>Tahun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id-ID" sz="1200">
                          <a:effectLst/>
                        </a:rPr>
                        <a:t>Versi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4241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1981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MS-DOS 1.0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720401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1983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MS-DOS 2.0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204642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1984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MS-DOS 3.0, MS-DOS 3.1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878723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1985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1.0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590817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1987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MS-DOS 3.3, Windows 2.0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042882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3.0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04796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1992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3.1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982054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1993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NT 3.1, Windows NT 3.1 Advanced Server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570312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1994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NT 3.5, Windows NT 3.5 Server 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045255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1995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95, Windows NT 3.51 Server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691674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1996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NT Server 4.0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353772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1997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NT Server Enterprise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19451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1998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98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578622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1999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98 SE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308753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2000, Windows ME, Windows CE (smartphone), Windows Server 2000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910320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2001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XP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404819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2003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Mobile 2003, Windows Server 2003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563599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2005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Mobile 5, Windows Server 2003 R2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189138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2007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Vista, Windows mobile 6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761851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2008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Server 2008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921902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2009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7, Windows Server 2008 R2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409175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Phone 7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98779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2012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8, Windows Phone 8, Windows Server 2012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211751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2013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8.1, Windows Server 2012 R2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947162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2014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Phone 8.1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66002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2015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10, Windows Phone 10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759769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2016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Windows Server 2016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926571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2018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Windows Server 2019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9700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Microsoft </a:t>
            </a:r>
            <a:r>
              <a:rPr lang="id-ID" dirty="0" err="1"/>
              <a:t>Azure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Microsoft </a:t>
            </a:r>
            <a:r>
              <a:rPr lang="id-ID" dirty="0" err="1"/>
              <a:t>Azure</a:t>
            </a:r>
            <a:r>
              <a:rPr lang="id-ID" dirty="0"/>
              <a:t> adalah layanan berbasis </a:t>
            </a:r>
            <a:r>
              <a:rPr lang="id-ID" dirty="0" err="1"/>
              <a:t>Cloud</a:t>
            </a:r>
            <a:r>
              <a:rPr lang="id-ID" dirty="0"/>
              <a:t> </a:t>
            </a:r>
            <a:r>
              <a:rPr lang="id-ID" dirty="0" err="1"/>
              <a:t>Computing</a:t>
            </a:r>
            <a:r>
              <a:rPr lang="id-ID" dirty="0"/>
              <a:t> yang disediakan oleh Microsoft. Terdiri dari tiga komponen, yakni </a:t>
            </a:r>
            <a:r>
              <a:rPr lang="id-ID" dirty="0" err="1"/>
              <a:t>Compute</a:t>
            </a:r>
            <a:r>
              <a:rPr lang="id-ID" dirty="0"/>
              <a:t>, </a:t>
            </a:r>
            <a:r>
              <a:rPr lang="id-ID" dirty="0" err="1"/>
              <a:t>Storage</a:t>
            </a:r>
            <a:r>
              <a:rPr lang="id-ID" dirty="0"/>
              <a:t> dan </a:t>
            </a:r>
            <a:r>
              <a:rPr lang="id-ID" dirty="0" err="1"/>
              <a:t>fabric</a:t>
            </a:r>
            <a:r>
              <a:rPr lang="id-ID" dirty="0"/>
              <a:t>. </a:t>
            </a:r>
            <a:r>
              <a:rPr lang="id-ID" dirty="0" err="1"/>
              <a:t>Fitur-fiturnya</a:t>
            </a:r>
            <a:r>
              <a:rPr lang="id-ID" dirty="0"/>
              <a:t> adalah Web </a:t>
            </a:r>
            <a:r>
              <a:rPr lang="id-ID" dirty="0" err="1"/>
              <a:t>Sites</a:t>
            </a:r>
            <a:r>
              <a:rPr lang="id-ID" dirty="0"/>
              <a:t>, Virtual </a:t>
            </a:r>
            <a:r>
              <a:rPr lang="id-ID" dirty="0" err="1"/>
              <a:t>machines</a:t>
            </a:r>
            <a:r>
              <a:rPr lang="id-ID" dirty="0"/>
              <a:t>, </a:t>
            </a:r>
            <a:r>
              <a:rPr lang="id-ID" dirty="0" err="1"/>
              <a:t>Cloud</a:t>
            </a:r>
            <a:r>
              <a:rPr lang="id-ID" dirty="0"/>
              <a:t> Services, SQL </a:t>
            </a:r>
            <a:r>
              <a:rPr lang="id-ID" dirty="0" err="1"/>
              <a:t>Database</a:t>
            </a:r>
            <a:r>
              <a:rPr lang="id-ID" dirty="0"/>
              <a:t>, </a:t>
            </a:r>
            <a:r>
              <a:rPr lang="id-ID" dirty="0" err="1"/>
              <a:t>Storage</a:t>
            </a:r>
            <a:r>
              <a:rPr lang="id-ID" dirty="0"/>
              <a:t> dan Virtual </a:t>
            </a:r>
            <a:r>
              <a:rPr lang="id-ID" dirty="0" err="1"/>
              <a:t>Networks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1185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Sistem Operasi </a:t>
            </a:r>
            <a:r>
              <a:rPr lang="id-ID" dirty="0" err="1"/>
              <a:t>Linux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Kernel</a:t>
            </a:r>
            <a:r>
              <a:rPr lang="id-ID" dirty="0"/>
              <a:t> adalah inti dari sistem operasi </a:t>
            </a:r>
            <a:r>
              <a:rPr lang="id-ID" dirty="0" err="1"/>
              <a:t>Linux</a:t>
            </a:r>
            <a:r>
              <a:rPr lang="id-ID" dirty="0"/>
              <a:t>, yang menjembatani interaksi antara program </a:t>
            </a:r>
            <a:r>
              <a:rPr lang="id-ID" dirty="0" err="1"/>
              <a:t>program</a:t>
            </a:r>
            <a:r>
              <a:rPr lang="id-ID" dirty="0"/>
              <a:t> (aplikasi-aplikasi) di </a:t>
            </a:r>
            <a:r>
              <a:rPr lang="id-ID" dirty="0" err="1"/>
              <a:t>Linux</a:t>
            </a:r>
            <a:r>
              <a:rPr lang="id-ID" dirty="0"/>
              <a:t> dengan perangkat keras (</a:t>
            </a:r>
            <a:r>
              <a:rPr lang="id-ID" i="1" dirty="0" err="1"/>
              <a:t>hardware</a:t>
            </a:r>
            <a:r>
              <a:rPr lang="id-ID" dirty="0"/>
              <a:t>) komputer. </a:t>
            </a:r>
            <a:r>
              <a:rPr lang="id-ID" dirty="0" err="1"/>
              <a:t>Kernel</a:t>
            </a:r>
            <a:r>
              <a:rPr lang="id-ID" dirty="0"/>
              <a:t> memiliki peranan dan fungsi yang sangat penting karena </a:t>
            </a:r>
            <a:r>
              <a:rPr lang="id-ID" dirty="0" err="1"/>
              <a:t>kernel</a:t>
            </a:r>
            <a:r>
              <a:rPr lang="id-ID" dirty="0"/>
              <a:t> dapat berinteraksi langsung dengan perangkat keras (</a:t>
            </a:r>
            <a:r>
              <a:rPr lang="id-ID" i="1" dirty="0" err="1"/>
              <a:t>hardware</a:t>
            </a:r>
            <a:r>
              <a:rPr lang="id-ID" dirty="0"/>
              <a:t>) dan juga dapat berinteraksi langsung dengan program-program </a:t>
            </a:r>
            <a:r>
              <a:rPr lang="id-ID" dirty="0" err="1"/>
              <a:t>user</a:t>
            </a:r>
            <a:r>
              <a:rPr lang="id-ID" dirty="0"/>
              <a:t> (</a:t>
            </a:r>
            <a:r>
              <a:rPr lang="id-ID" dirty="0" err="1"/>
              <a:t>Linux</a:t>
            </a:r>
            <a:r>
              <a:rPr lang="id-ID" dirty="0"/>
              <a:t> </a:t>
            </a:r>
            <a:r>
              <a:rPr lang="id-ID" i="1" dirty="0" err="1"/>
              <a:t>applications</a:t>
            </a:r>
            <a:r>
              <a:rPr lang="id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1727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 err="1"/>
              <a:t>Kernel</a:t>
            </a:r>
            <a:r>
              <a:rPr lang="id-ID" dirty="0"/>
              <a:t> memiliki tugas dan tanggung jawab sebagai berikut:</a:t>
            </a:r>
            <a:br>
              <a:rPr lang="id-ID" dirty="0"/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Task</a:t>
            </a:r>
            <a:r>
              <a:rPr lang="id-ID" dirty="0"/>
              <a:t> </a:t>
            </a:r>
            <a:r>
              <a:rPr lang="id-ID" dirty="0" err="1"/>
              <a:t>Schedulling</a:t>
            </a:r>
            <a:r>
              <a:rPr lang="id-ID" dirty="0"/>
              <a:t> (</a:t>
            </a:r>
            <a:r>
              <a:rPr lang="id-ID" dirty="0" err="1"/>
              <a:t>Multitasking</a:t>
            </a:r>
            <a:r>
              <a:rPr lang="id-ID" dirty="0"/>
              <a:t>) </a:t>
            </a:r>
          </a:p>
          <a:p>
            <a:r>
              <a:rPr lang="id-ID" dirty="0" err="1"/>
              <a:t>Memory</a:t>
            </a:r>
            <a:r>
              <a:rPr lang="id-ID" dirty="0"/>
              <a:t> </a:t>
            </a:r>
            <a:r>
              <a:rPr lang="id-ID" dirty="0" err="1"/>
              <a:t>Management</a:t>
            </a:r>
            <a:r>
              <a:rPr lang="id-ID" dirty="0"/>
              <a:t> </a:t>
            </a:r>
          </a:p>
          <a:p>
            <a:r>
              <a:rPr lang="id-ID" dirty="0"/>
              <a:t>Hardware Support </a:t>
            </a:r>
          </a:p>
          <a:p>
            <a:r>
              <a:rPr lang="id-ID" dirty="0" err="1"/>
              <a:t>Networking</a:t>
            </a:r>
            <a:r>
              <a:rPr lang="id-ID" dirty="0"/>
              <a:t> Support </a:t>
            </a:r>
          </a:p>
          <a:p>
            <a:r>
              <a:rPr lang="id-ID" dirty="0"/>
              <a:t>Audio Support </a:t>
            </a:r>
          </a:p>
          <a:p>
            <a:r>
              <a:rPr lang="id-ID" dirty="0" err="1"/>
              <a:t>File</a:t>
            </a:r>
            <a:r>
              <a:rPr lang="id-ID" dirty="0"/>
              <a:t> System Support 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3273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Perintah </a:t>
            </a:r>
            <a:r>
              <a:rPr lang="id-ID" b="1" dirty="0" err="1"/>
              <a:t>file</a:t>
            </a:r>
            <a:r>
              <a:rPr lang="id-ID" dirty="0"/>
              <a:t> digunakan untuk melihat lebih jauh isi dari </a:t>
            </a:r>
            <a:r>
              <a:rPr lang="id-ID" dirty="0" err="1"/>
              <a:t>file</a:t>
            </a:r>
            <a:r>
              <a:rPr lang="id-ID" dirty="0"/>
              <a:t> pada sistem </a:t>
            </a:r>
            <a:r>
              <a:rPr lang="id-ID" dirty="0" err="1"/>
              <a:t>Linux</a:t>
            </a:r>
            <a:r>
              <a:rPr lang="id-ID" dirty="0"/>
              <a:t>.</a:t>
            </a:r>
          </a:p>
          <a:p>
            <a:r>
              <a:rPr lang="id-ID" dirty="0"/>
              <a:t>b 	</a:t>
            </a:r>
            <a:r>
              <a:rPr lang="id-ID" dirty="0" err="1"/>
              <a:t>output</a:t>
            </a:r>
            <a:r>
              <a:rPr lang="id-ID" dirty="0"/>
              <a:t> yang dihasilkan tanpa nama </a:t>
            </a:r>
            <a:r>
              <a:rPr lang="id-ID" dirty="0" err="1"/>
              <a:t>filenya</a:t>
            </a:r>
            <a:r>
              <a:rPr lang="id-ID" dirty="0"/>
              <a:t>.</a:t>
            </a:r>
          </a:p>
          <a:p>
            <a:r>
              <a:rPr lang="id-ID" dirty="0"/>
              <a:t>f 	</a:t>
            </a:r>
            <a:r>
              <a:rPr lang="id-ID" dirty="0" err="1"/>
              <a:t>namafile</a:t>
            </a:r>
            <a:r>
              <a:rPr lang="id-ID" dirty="0"/>
              <a:t> </a:t>
            </a:r>
            <a:r>
              <a:rPr lang="id-ID" dirty="0" err="1"/>
              <a:t>file</a:t>
            </a:r>
            <a:r>
              <a:rPr lang="id-ID" dirty="0"/>
              <a:t> </a:t>
            </a:r>
            <a:r>
              <a:rPr lang="id-ID" dirty="0" err="1"/>
              <a:t>namafile</a:t>
            </a:r>
            <a:r>
              <a:rPr lang="id-ID" dirty="0"/>
              <a:t> berisi nama-nama </a:t>
            </a:r>
            <a:r>
              <a:rPr lang="id-ID" dirty="0" err="1"/>
              <a:t>file</a:t>
            </a:r>
            <a:r>
              <a:rPr lang="id-ID" dirty="0"/>
              <a:t> yang akan diperiksa oleh perintah </a:t>
            </a:r>
            <a:r>
              <a:rPr lang="id-ID" i="1" dirty="0" err="1"/>
              <a:t>file</a:t>
            </a:r>
            <a:r>
              <a:rPr lang="id-ID" i="1" dirty="0"/>
              <a:t>. </a:t>
            </a:r>
            <a:endParaRPr lang="id-ID" dirty="0"/>
          </a:p>
          <a:p>
            <a:r>
              <a:rPr lang="id-ID" dirty="0"/>
              <a:t>n	menampilkan hasil </a:t>
            </a:r>
            <a:r>
              <a:rPr lang="id-ID" dirty="0" err="1"/>
              <a:t>output</a:t>
            </a:r>
            <a:r>
              <a:rPr lang="id-ID" dirty="0"/>
              <a:t> setelah memeriksa </a:t>
            </a:r>
            <a:r>
              <a:rPr lang="id-ID" dirty="0" err="1"/>
              <a:t>file</a:t>
            </a:r>
            <a:r>
              <a:rPr lang="id-ID" dirty="0"/>
              <a:t>. ini dapat berguna ketika</a:t>
            </a:r>
            <a:r>
              <a:rPr lang="id-ID" i="1" dirty="0"/>
              <a:t> </a:t>
            </a:r>
            <a:r>
              <a:rPr lang="id-ID" dirty="0"/>
              <a:t>bekerja dengan daftar </a:t>
            </a:r>
            <a:r>
              <a:rPr lang="id-ID" dirty="0" err="1"/>
              <a:t>file</a:t>
            </a:r>
            <a:r>
              <a:rPr lang="id-ID" dirty="0"/>
              <a:t> yang dikirim ke perintah lain.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6635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Contoh perintah-perintah manual pada </a:t>
            </a:r>
            <a:r>
              <a:rPr lang="id-ID" dirty="0" err="1"/>
              <a:t>linux</a:t>
            </a:r>
            <a:r>
              <a:rPr lang="id-ID" dirty="0"/>
              <a:t> yaitu </a:t>
            </a:r>
            <a:r>
              <a:rPr lang="id-ID" b="1" dirty="0" err="1"/>
              <a:t>pwd</a:t>
            </a:r>
            <a:r>
              <a:rPr lang="id-ID" dirty="0"/>
              <a:t> (</a:t>
            </a:r>
            <a:r>
              <a:rPr lang="id-ID" dirty="0" err="1"/>
              <a:t>print</a:t>
            </a:r>
            <a:r>
              <a:rPr lang="id-ID" dirty="0"/>
              <a:t> </a:t>
            </a:r>
            <a:r>
              <a:rPr lang="id-ID" dirty="0" err="1"/>
              <a:t>working</a:t>
            </a:r>
            <a:r>
              <a:rPr lang="id-ID" dirty="0"/>
              <a:t> </a:t>
            </a:r>
            <a:r>
              <a:rPr lang="id-ID" dirty="0" err="1"/>
              <a:t>directory</a:t>
            </a:r>
            <a:r>
              <a:rPr lang="id-ID" dirty="0"/>
              <a:t>), </a:t>
            </a:r>
            <a:r>
              <a:rPr lang="id-ID" b="1" dirty="0" err="1"/>
              <a:t>ls</a:t>
            </a:r>
            <a:r>
              <a:rPr lang="id-ID" dirty="0"/>
              <a:t> (</a:t>
            </a:r>
            <a:r>
              <a:rPr lang="id-ID" dirty="0" err="1"/>
              <a:t>list</a:t>
            </a:r>
            <a:r>
              <a:rPr lang="id-ID" dirty="0"/>
              <a:t>), </a:t>
            </a:r>
            <a:r>
              <a:rPr lang="id-ID" b="1" dirty="0" err="1"/>
              <a:t>file</a:t>
            </a:r>
            <a:r>
              <a:rPr lang="id-ID" dirty="0"/>
              <a:t>, </a:t>
            </a:r>
            <a:r>
              <a:rPr lang="id-ID" b="1" dirty="0"/>
              <a:t>cd</a:t>
            </a:r>
            <a:r>
              <a:rPr lang="id-ID" dirty="0"/>
              <a:t> (</a:t>
            </a:r>
            <a:r>
              <a:rPr lang="id-ID" i="1" dirty="0" err="1"/>
              <a:t>change</a:t>
            </a:r>
            <a:r>
              <a:rPr lang="id-ID" i="1" dirty="0"/>
              <a:t> </a:t>
            </a:r>
            <a:r>
              <a:rPr lang="id-ID" i="1" dirty="0" err="1"/>
              <a:t>directory</a:t>
            </a:r>
            <a:r>
              <a:rPr lang="id-ID" dirty="0"/>
              <a:t>), </a:t>
            </a:r>
            <a:r>
              <a:rPr lang="id-ID" b="1" dirty="0" err="1"/>
              <a:t>mkdir</a:t>
            </a:r>
            <a:r>
              <a:rPr lang="id-ID" dirty="0"/>
              <a:t> (</a:t>
            </a:r>
            <a:r>
              <a:rPr lang="id-ID" i="1" dirty="0" err="1"/>
              <a:t>make</a:t>
            </a:r>
            <a:r>
              <a:rPr lang="id-ID" i="1" dirty="0"/>
              <a:t> </a:t>
            </a:r>
            <a:r>
              <a:rPr lang="id-ID" i="1" dirty="0" err="1"/>
              <a:t>directory</a:t>
            </a:r>
            <a:r>
              <a:rPr lang="id-ID" dirty="0"/>
              <a:t>), </a:t>
            </a:r>
            <a:r>
              <a:rPr lang="id-ID" b="1" dirty="0" err="1"/>
              <a:t>cp</a:t>
            </a:r>
            <a:r>
              <a:rPr lang="id-ID" dirty="0"/>
              <a:t> (</a:t>
            </a:r>
            <a:r>
              <a:rPr lang="id-ID" dirty="0" err="1"/>
              <a:t>copy</a:t>
            </a:r>
            <a:r>
              <a:rPr lang="id-ID" dirty="0"/>
              <a:t>), </a:t>
            </a:r>
            <a:r>
              <a:rPr lang="id-ID" b="1" dirty="0"/>
              <a:t>mv</a:t>
            </a:r>
            <a:r>
              <a:rPr lang="id-ID" dirty="0"/>
              <a:t> (</a:t>
            </a:r>
            <a:r>
              <a:rPr lang="id-ID" i="1" dirty="0" err="1"/>
              <a:t>move</a:t>
            </a:r>
            <a:r>
              <a:rPr lang="id-ID" dirty="0"/>
              <a:t>), </a:t>
            </a:r>
            <a:r>
              <a:rPr lang="id-ID" b="1" dirty="0" err="1"/>
              <a:t>rm</a:t>
            </a:r>
            <a:r>
              <a:rPr lang="id-ID" dirty="0"/>
              <a:t> (</a:t>
            </a:r>
            <a:r>
              <a:rPr lang="id-ID" i="1" dirty="0" err="1"/>
              <a:t>remove</a:t>
            </a:r>
            <a:r>
              <a:rPr lang="id-ID" dirty="0"/>
              <a:t>), </a:t>
            </a:r>
            <a:r>
              <a:rPr lang="id-ID" b="1" dirty="0" err="1"/>
              <a:t>rmdir</a:t>
            </a:r>
            <a:r>
              <a:rPr lang="id-ID" dirty="0"/>
              <a:t> (</a:t>
            </a:r>
            <a:r>
              <a:rPr lang="id-ID" i="1" dirty="0" err="1"/>
              <a:t>remove</a:t>
            </a:r>
            <a:r>
              <a:rPr lang="id-ID" i="1" dirty="0"/>
              <a:t> </a:t>
            </a:r>
            <a:r>
              <a:rPr lang="id-ID" i="1" dirty="0" err="1"/>
              <a:t>directory</a:t>
            </a:r>
            <a:r>
              <a:rPr lang="id-ID" dirty="0"/>
              <a:t>), </a:t>
            </a:r>
            <a:r>
              <a:rPr lang="id-ID" dirty="0" err="1"/>
              <a:t>Command</a:t>
            </a:r>
            <a:r>
              <a:rPr lang="id-ID" dirty="0"/>
              <a:t> </a:t>
            </a:r>
            <a:r>
              <a:rPr lang="id-ID" dirty="0" err="1"/>
              <a:t>Completion</a:t>
            </a:r>
            <a:r>
              <a:rPr lang="id-ID" dirty="0"/>
              <a:t>, </a:t>
            </a:r>
            <a:r>
              <a:rPr lang="id-ID" dirty="0" err="1"/>
              <a:t>Command</a:t>
            </a:r>
            <a:r>
              <a:rPr lang="id-ID" dirty="0"/>
              <a:t> </a:t>
            </a:r>
            <a:r>
              <a:rPr lang="id-ID" dirty="0" err="1"/>
              <a:t>History</a:t>
            </a:r>
            <a:r>
              <a:rPr lang="id-ID" dirty="0"/>
              <a:t>, </a:t>
            </a:r>
            <a:r>
              <a:rPr lang="id-ID" dirty="0" err="1"/>
              <a:t>Wildcard</a:t>
            </a:r>
            <a:r>
              <a:rPr lang="id-ID" dirty="0"/>
              <a:t> (*)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0181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Android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Android</a:t>
            </a:r>
            <a:r>
              <a:rPr lang="id-ID" dirty="0"/>
              <a:t> adalah sistem operasi dan platform pemrograman yang dikembangkan oleh Google untuk ponsel cerdas dan perangkat seluler lainnya (seperti tablet). Hak cipta dari </a:t>
            </a:r>
            <a:r>
              <a:rPr lang="id-ID" dirty="0" err="1"/>
              <a:t>Android</a:t>
            </a:r>
            <a:r>
              <a:rPr lang="id-ID" dirty="0"/>
              <a:t> itu sendiri dimiliki oleh Google. </a:t>
            </a:r>
            <a:r>
              <a:rPr lang="id-ID" dirty="0" err="1"/>
              <a:t>Android</a:t>
            </a:r>
            <a:r>
              <a:rPr lang="id-ID" dirty="0"/>
              <a:t> telah tersedia sebagai </a:t>
            </a:r>
            <a:r>
              <a:rPr lang="id-ID" i="1" dirty="0"/>
              <a:t>open </a:t>
            </a:r>
            <a:r>
              <a:rPr lang="id-ID" i="1" dirty="0" err="1"/>
              <a:t>source</a:t>
            </a:r>
            <a:r>
              <a:rPr lang="id-ID" dirty="0"/>
              <a:t> sejak 21 </a:t>
            </a:r>
            <a:r>
              <a:rPr lang="id-ID" dirty="0" err="1"/>
              <a:t>oktober</a:t>
            </a:r>
            <a:r>
              <a:rPr lang="id-ID" dirty="0"/>
              <a:t> 2008 dimana </a:t>
            </a:r>
            <a:r>
              <a:rPr lang="id-ID" dirty="0" err="1"/>
              <a:t>google</a:t>
            </a:r>
            <a:r>
              <a:rPr lang="id-ID" dirty="0"/>
              <a:t> membuka seluruh kode sumber </a:t>
            </a:r>
            <a:r>
              <a:rPr lang="id-ID" dirty="0" err="1"/>
              <a:t>dibawah</a:t>
            </a:r>
            <a:r>
              <a:rPr lang="id-ID" dirty="0"/>
              <a:t> lisensi </a:t>
            </a:r>
            <a:r>
              <a:rPr lang="id-ID" dirty="0" err="1"/>
              <a:t>Apache</a:t>
            </a:r>
            <a:r>
              <a:rPr lang="id-ID" dirty="0"/>
              <a:t>, dengan munculnya lisensi ini berbagai vendor dapat menambahkan ekstensi kepemilikan tanpa mengirimkan kembali ke komunitas </a:t>
            </a:r>
            <a:r>
              <a:rPr lang="id-ID" i="1" dirty="0"/>
              <a:t>open </a:t>
            </a:r>
            <a:r>
              <a:rPr lang="id-ID" i="1" dirty="0" err="1"/>
              <a:t>source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0570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Beberapa alasan mengapa </a:t>
            </a:r>
            <a:r>
              <a:rPr lang="id-ID" dirty="0" err="1"/>
              <a:t>Android</a:t>
            </a:r>
            <a:r>
              <a:rPr lang="id-ID" dirty="0"/>
              <a:t> berkembang dengan pesat dan mengapa </a:t>
            </a:r>
            <a:r>
              <a:rPr lang="id-ID" i="1" dirty="0"/>
              <a:t>developer </a:t>
            </a:r>
            <a:r>
              <a:rPr lang="id-ID" dirty="0"/>
              <a:t>sebaiknya membangun Aplikasi </a:t>
            </a:r>
            <a:r>
              <a:rPr lang="id-ID" dirty="0" err="1"/>
              <a:t>Android</a:t>
            </a:r>
            <a:r>
              <a:rPr lang="id-ID" dirty="0"/>
              <a:t> adalah: </a:t>
            </a:r>
            <a:r>
              <a:rPr lang="id-ID" i="1" dirty="0" err="1"/>
              <a:t>Market</a:t>
            </a:r>
            <a:r>
              <a:rPr lang="id-ID" i="1" dirty="0"/>
              <a:t> </a:t>
            </a:r>
            <a:r>
              <a:rPr lang="id-ID" i="1" dirty="0" err="1"/>
              <a:t>Share</a:t>
            </a:r>
            <a:r>
              <a:rPr lang="id-ID" i="1" dirty="0"/>
              <a:t>, </a:t>
            </a:r>
            <a:r>
              <a:rPr lang="id-ID" i="1" dirty="0" err="1"/>
              <a:t>Time</a:t>
            </a:r>
            <a:r>
              <a:rPr lang="id-ID" i="1" dirty="0"/>
              <a:t> </a:t>
            </a:r>
            <a:r>
              <a:rPr lang="id-ID" i="1" dirty="0" err="1"/>
              <a:t>to</a:t>
            </a:r>
            <a:r>
              <a:rPr lang="id-ID" i="1" dirty="0"/>
              <a:t> </a:t>
            </a:r>
            <a:r>
              <a:rPr lang="id-ID" i="1" dirty="0" err="1"/>
              <a:t>Market</a:t>
            </a:r>
            <a:r>
              <a:rPr lang="id-ID" dirty="0"/>
              <a:t>, </a:t>
            </a:r>
            <a:r>
              <a:rPr lang="id-ID" i="1" dirty="0"/>
              <a:t>Open Platform</a:t>
            </a:r>
            <a:r>
              <a:rPr lang="id-ID" dirty="0"/>
              <a:t>, </a:t>
            </a:r>
            <a:r>
              <a:rPr lang="id-ID" i="1" dirty="0" err="1"/>
              <a:t>Cross</a:t>
            </a:r>
            <a:r>
              <a:rPr lang="id-ID" i="1" dirty="0"/>
              <a:t> </a:t>
            </a:r>
            <a:r>
              <a:rPr lang="id-ID" i="1" dirty="0" err="1"/>
              <a:t>Compatibility</a:t>
            </a:r>
            <a:r>
              <a:rPr lang="id-ID" dirty="0"/>
              <a:t>, </a:t>
            </a:r>
            <a:r>
              <a:rPr lang="id-ID" i="1" dirty="0" err="1"/>
              <a:t>Mashup</a:t>
            </a:r>
            <a:r>
              <a:rPr lang="id-ID" i="1" dirty="0"/>
              <a:t> </a:t>
            </a:r>
            <a:r>
              <a:rPr lang="id-ID" i="1" dirty="0" err="1"/>
              <a:t>Capability</a:t>
            </a:r>
            <a:r>
              <a:rPr lang="id-ID" i="1" dirty="0"/>
              <a:t>.</a:t>
            </a:r>
            <a:r>
              <a:rPr lang="id-ID" dirty="0"/>
              <a:t> Membangun Aplikasi </a:t>
            </a:r>
            <a:r>
              <a:rPr lang="id-ID" dirty="0" err="1"/>
              <a:t>Android</a:t>
            </a:r>
            <a:r>
              <a:rPr lang="id-ID" dirty="0"/>
              <a:t> sangat mudah, </a:t>
            </a:r>
            <a:r>
              <a:rPr lang="id-ID" i="1" dirty="0" err="1"/>
              <a:t>default</a:t>
            </a:r>
            <a:r>
              <a:rPr lang="id-ID" i="1" dirty="0"/>
              <a:t> </a:t>
            </a:r>
            <a:r>
              <a:rPr lang="id-ID" dirty="0"/>
              <a:t>untuk bahasa pemrograman yang digunakan oleh </a:t>
            </a:r>
            <a:r>
              <a:rPr lang="id-ID" dirty="0" err="1"/>
              <a:t>Android</a:t>
            </a:r>
            <a:r>
              <a:rPr lang="id-ID" dirty="0"/>
              <a:t> adalah Java. Tidak semua </a:t>
            </a:r>
            <a:r>
              <a:rPr lang="id-ID" dirty="0" err="1"/>
              <a:t>fitur</a:t>
            </a:r>
            <a:r>
              <a:rPr lang="id-ID" dirty="0"/>
              <a:t> Java yang ada digunakan akan tetapi sebagian dari </a:t>
            </a:r>
            <a:r>
              <a:rPr lang="id-ID" dirty="0" err="1"/>
              <a:t>java</a:t>
            </a:r>
            <a:r>
              <a:rPr lang="id-ID" dirty="0"/>
              <a:t> yang sering disebut dengan </a:t>
            </a:r>
            <a:r>
              <a:rPr lang="id-ID" i="1" dirty="0" err="1"/>
              <a:t>Dalvik</a:t>
            </a:r>
            <a:r>
              <a:rPr lang="id-ID" i="1" dirty="0"/>
              <a:t> Virtual </a:t>
            </a:r>
            <a:r>
              <a:rPr lang="id-ID" i="1" dirty="0" err="1"/>
              <a:t>Machine</a:t>
            </a:r>
            <a:r>
              <a:rPr lang="id-ID" dirty="0"/>
              <a:t>. Beberapa bagian kecil dari </a:t>
            </a:r>
            <a:r>
              <a:rPr lang="id-ID" i="1" dirty="0" err="1"/>
              <a:t>framework</a:t>
            </a:r>
            <a:r>
              <a:rPr lang="id-ID" i="1" dirty="0"/>
              <a:t> </a:t>
            </a:r>
            <a:r>
              <a:rPr lang="id-ID" dirty="0" err="1"/>
              <a:t>Android</a:t>
            </a:r>
            <a:r>
              <a:rPr lang="id-ID" dirty="0"/>
              <a:t> menggunakan bahasa XML untuk </a:t>
            </a:r>
            <a:r>
              <a:rPr lang="id-ID" i="1" dirty="0" err="1"/>
              <a:t>scripting</a:t>
            </a:r>
            <a:r>
              <a:rPr lang="id-ID" i="1" dirty="0"/>
              <a:t> </a:t>
            </a:r>
            <a:r>
              <a:rPr lang="id-ID" dirty="0" err="1"/>
              <a:t>diantaranya</a:t>
            </a:r>
            <a:r>
              <a:rPr lang="id-ID" dirty="0"/>
              <a:t> yaitu </a:t>
            </a:r>
            <a:r>
              <a:rPr lang="id-ID" i="1" dirty="0" err="1"/>
              <a:t>Activity</a:t>
            </a:r>
            <a:r>
              <a:rPr lang="id-ID" dirty="0"/>
              <a:t>, </a:t>
            </a:r>
            <a:r>
              <a:rPr lang="id-ID" i="1" dirty="0" err="1"/>
              <a:t>Intents</a:t>
            </a:r>
            <a:r>
              <a:rPr lang="id-ID" dirty="0"/>
              <a:t>, </a:t>
            </a:r>
            <a:r>
              <a:rPr lang="id-ID" i="1" dirty="0" err="1"/>
              <a:t>Cursorless</a:t>
            </a:r>
            <a:r>
              <a:rPr lang="id-ID" i="1" dirty="0"/>
              <a:t> </a:t>
            </a:r>
            <a:r>
              <a:rPr lang="id-ID" i="1" dirty="0" err="1"/>
              <a:t>Controls</a:t>
            </a:r>
            <a:r>
              <a:rPr lang="id-ID" dirty="0"/>
              <a:t>, </a:t>
            </a:r>
            <a:r>
              <a:rPr lang="id-ID" i="1" dirty="0" err="1"/>
              <a:t>Views</a:t>
            </a:r>
            <a:r>
              <a:rPr lang="id-ID" i="1" dirty="0"/>
              <a:t> dan </a:t>
            </a:r>
            <a:r>
              <a:rPr lang="id-ID" i="1" dirty="0" err="1"/>
              <a:t>Widgets</a:t>
            </a:r>
            <a:r>
              <a:rPr lang="id-ID" dirty="0"/>
              <a:t>, </a:t>
            </a:r>
            <a:r>
              <a:rPr lang="id-ID" i="1" dirty="0" err="1"/>
              <a:t>Asynchronous</a:t>
            </a:r>
            <a:r>
              <a:rPr lang="id-ID" i="1" dirty="0"/>
              <a:t> </a:t>
            </a:r>
            <a:r>
              <a:rPr lang="id-ID" i="1" dirty="0" err="1"/>
              <a:t>Calls</a:t>
            </a:r>
            <a:r>
              <a:rPr lang="id-ID" dirty="0"/>
              <a:t>, </a:t>
            </a:r>
            <a:r>
              <a:rPr lang="id-ID" i="1" dirty="0" err="1"/>
              <a:t>Background</a:t>
            </a:r>
            <a:r>
              <a:rPr lang="id-ID" i="1" dirty="0"/>
              <a:t> Services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6062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Berikut versi </a:t>
            </a:r>
            <a:r>
              <a:rPr lang="id-ID" dirty="0" err="1"/>
              <a:t>Android</a:t>
            </a:r>
            <a:r>
              <a:rPr lang="id-ID" dirty="0"/>
              <a:t> yang sudah di rilis adalah: </a:t>
            </a:r>
            <a:r>
              <a:rPr lang="id-ID" dirty="0" err="1"/>
              <a:t>Android</a:t>
            </a:r>
            <a:r>
              <a:rPr lang="id-ID" dirty="0"/>
              <a:t> 1.0 (2008), </a:t>
            </a:r>
            <a:r>
              <a:rPr lang="id-ID" dirty="0" err="1"/>
              <a:t>Android</a:t>
            </a:r>
            <a:r>
              <a:rPr lang="id-ID" dirty="0"/>
              <a:t> 1.5 </a:t>
            </a:r>
            <a:r>
              <a:rPr lang="id-ID" dirty="0" err="1"/>
              <a:t>Cupcake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1.6 </a:t>
            </a:r>
            <a:r>
              <a:rPr lang="id-ID" dirty="0" err="1"/>
              <a:t>Donut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2.0 </a:t>
            </a:r>
            <a:r>
              <a:rPr lang="id-ID" dirty="0" err="1"/>
              <a:t>Eclair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2.2 </a:t>
            </a:r>
            <a:r>
              <a:rPr lang="id-ID" dirty="0" err="1"/>
              <a:t>Froyo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2.3 </a:t>
            </a:r>
            <a:r>
              <a:rPr lang="id-ID" dirty="0" err="1"/>
              <a:t>Gingerbread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3.0 </a:t>
            </a:r>
            <a:r>
              <a:rPr lang="id-ID" dirty="0" err="1"/>
              <a:t>Honeycomb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4.0 Ice </a:t>
            </a:r>
            <a:r>
              <a:rPr lang="id-ID" dirty="0" err="1"/>
              <a:t>Cream</a:t>
            </a:r>
            <a:r>
              <a:rPr lang="id-ID" dirty="0"/>
              <a:t> Sandwich, </a:t>
            </a:r>
            <a:r>
              <a:rPr lang="id-ID" dirty="0" err="1"/>
              <a:t>Android</a:t>
            </a:r>
            <a:r>
              <a:rPr lang="id-ID" dirty="0"/>
              <a:t> 4.1 Jelly </a:t>
            </a:r>
            <a:r>
              <a:rPr lang="id-ID" dirty="0" err="1"/>
              <a:t>Bean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4.4 </a:t>
            </a:r>
            <a:r>
              <a:rPr lang="id-ID" dirty="0" err="1"/>
              <a:t>KitKat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5.0 </a:t>
            </a:r>
            <a:r>
              <a:rPr lang="id-ID" dirty="0" err="1"/>
              <a:t>Lollipop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6.0 </a:t>
            </a:r>
            <a:r>
              <a:rPr lang="id-ID" dirty="0" err="1"/>
              <a:t>Marshmallow</a:t>
            </a:r>
            <a:r>
              <a:rPr lang="id-ID" dirty="0"/>
              <a:t>, </a:t>
            </a:r>
            <a:r>
              <a:rPr lang="id-ID" dirty="0" err="1"/>
              <a:t>Android</a:t>
            </a:r>
            <a:r>
              <a:rPr lang="id-ID" dirty="0"/>
              <a:t> 7.0 </a:t>
            </a:r>
            <a:r>
              <a:rPr lang="id-ID" dirty="0" err="1"/>
              <a:t>Nougat,Android</a:t>
            </a:r>
            <a:r>
              <a:rPr lang="id-ID" dirty="0"/>
              <a:t> 8.0 </a:t>
            </a:r>
            <a:r>
              <a:rPr lang="id-ID" dirty="0" err="1"/>
              <a:t>Oreo</a:t>
            </a:r>
            <a:r>
              <a:rPr lang="id-ID" dirty="0"/>
              <a:t>, dan </a:t>
            </a:r>
            <a:r>
              <a:rPr lang="id-ID" dirty="0" err="1"/>
              <a:t>Android</a:t>
            </a:r>
            <a:r>
              <a:rPr lang="id-ID" dirty="0"/>
              <a:t> 9.0 </a:t>
            </a:r>
            <a:r>
              <a:rPr lang="id-ID" dirty="0" err="1"/>
              <a:t>Pie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2307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</TotalTime>
  <Words>683</Words>
  <Application>Microsoft Office PowerPoint</Application>
  <PresentationFormat>Widescreen</PresentationFormat>
  <Paragraphs>89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Britannic Bold</vt:lpstr>
      <vt:lpstr>Calibri</vt:lpstr>
      <vt:lpstr>Calibri Light</vt:lpstr>
      <vt:lpstr>Century Gothic</vt:lpstr>
      <vt:lpstr>Times New Roman</vt:lpstr>
      <vt:lpstr>Office Theme</vt:lpstr>
      <vt:lpstr>PowerPoint Presentation</vt:lpstr>
      <vt:lpstr>Sejarah Sistem Operasi</vt:lpstr>
      <vt:lpstr>Microsoft Azure</vt:lpstr>
      <vt:lpstr>Sistem Operasi Linux</vt:lpstr>
      <vt:lpstr>Kernel memiliki tugas dan tanggung jawab sebagai berikut: </vt:lpstr>
      <vt:lpstr>PowerPoint Presentation</vt:lpstr>
      <vt:lpstr>PowerPoint Presentation</vt:lpstr>
      <vt:lpstr>Android</vt:lpstr>
      <vt:lpstr>PowerPoint Presentation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186</cp:revision>
  <dcterms:created xsi:type="dcterms:W3CDTF">2018-01-15T03:36:45Z</dcterms:created>
  <dcterms:modified xsi:type="dcterms:W3CDTF">2020-08-31T12:15:22Z</dcterms:modified>
</cp:coreProperties>
</file>