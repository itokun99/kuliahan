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9" r:id="rId3"/>
    <p:sldId id="271" r:id="rId4"/>
    <p:sldId id="272" r:id="rId5"/>
    <p:sldId id="273" r:id="rId6"/>
    <p:sldId id="274" r:id="rId7"/>
    <p:sldId id="275" r:id="rId8"/>
    <p:sldId id="278" r:id="rId9"/>
    <p:sldId id="279" r:id="rId10"/>
    <p:sldId id="277" r:id="rId11"/>
    <p:sldId id="280" r:id="rId12"/>
    <p:sldId id="281" r:id="rId13"/>
    <p:sldId id="282" r:id="rId14"/>
    <p:sldId id="285" r:id="rId15"/>
    <p:sldId id="286" r:id="rId16"/>
    <p:sldId id="287" r:id="rId17"/>
    <p:sldId id="288"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4" autoAdjust="0"/>
    <p:restoredTop sz="94630" autoAdjust="0"/>
  </p:normalViewPr>
  <p:slideViewPr>
    <p:cSldViewPr snapToGrid="0">
      <p:cViewPr varScale="1">
        <p:scale>
          <a:sx n="72" d="100"/>
          <a:sy n="72" d="100"/>
        </p:scale>
        <p:origin x="4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8/31/2020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8/31/2020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8/31/2020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8/31/2020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8/31/2020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8/31/2020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8/31/2020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8/31/2020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dirty="0"/>
              <a:t>MATERI PENGAYAAAN </a:t>
            </a:r>
          </a:p>
          <a:p>
            <a:pPr algn="ctr">
              <a:buNone/>
            </a:pPr>
            <a:r>
              <a:rPr lang="id-ID" sz="2400" b="1" dirty="0"/>
              <a:t>MSIM4201 SISTEM OPERASI</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3951798" y="3059668"/>
            <a:ext cx="4138697" cy="1323439"/>
          </a:xfrm>
          <a:prstGeom prst="rect">
            <a:avLst/>
          </a:prstGeom>
          <a:noFill/>
        </p:spPr>
        <p:txBody>
          <a:bodyPr wrap="none" rtlCol="0">
            <a:spAutoFit/>
          </a:bodyPr>
          <a:lstStyle/>
          <a:p>
            <a:pPr algn="ctr">
              <a:spcBef>
                <a:spcPct val="0"/>
              </a:spcBef>
              <a:buNone/>
            </a:pPr>
            <a:r>
              <a:rPr lang="id-ID" sz="4000" dirty="0"/>
              <a:t>SESI 3 </a:t>
            </a:r>
          </a:p>
          <a:p>
            <a:pPr algn="ctr">
              <a:spcBef>
                <a:spcPct val="0"/>
              </a:spcBef>
              <a:buNone/>
            </a:pPr>
            <a:r>
              <a:rPr lang="id-ID" sz="4000" dirty="0"/>
              <a:t>Proses dan </a:t>
            </a:r>
            <a:r>
              <a:rPr lang="id-ID" sz="4000" dirty="0" err="1"/>
              <a:t>Thread</a:t>
            </a:r>
            <a:r>
              <a:rPr lang="id-ID" sz="4000" dirty="0"/>
              <a:t> </a:t>
            </a:r>
            <a:endParaRPr lang="id-ID" altLang="en-US" sz="5400" dirty="0">
              <a:solidFill>
                <a:srgbClr val="FF0000"/>
              </a:solidFill>
              <a:latin typeface="Britannic Bold" panose="020B0903060703020204" pitchFamily="34" charset="0"/>
            </a:endParaRP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Proses</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10000"/>
          </a:bodyPr>
          <a:lstStyle/>
          <a:p>
            <a:r>
              <a:rPr lang="id-ID" dirty="0"/>
              <a:t>Ketika awal mula dibuat, komputer hanya dapat menjalankan sebuah program dalam satu waktu. Program yang dijalankan tersebut mempunyai kendali penuh atas sumber daya komputer yang ada. Saat ini komputer telah dapat memuat beberapa program sekaligus ke dalam memori dan menjalankannya secara berselang-seling, menyebabkan program dapat dijalankan layaknya bersamaan pada suatu waktu. Perubahan dari yang tadinya hanya dapat menjalankan satu program hingga dapat menjalankan lebih dari satu program pada suatu waktu tentunya membutuhkan pengaturan yang cukup rumit terhadap urutan, sumber daya yang digunakan, prioritas, dan lain sebagainya. Dari evolusi inilah muncul istilah proses pada komputer, yaitu unit yang dieksekusi dari program yang sedang dijalankan oleh komputer.</a:t>
            </a:r>
          </a:p>
        </p:txBody>
      </p:sp>
    </p:spTree>
    <p:extLst>
      <p:ext uri="{BB962C8B-B14F-4D97-AF65-F5344CB8AC3E}">
        <p14:creationId xmlns:p14="http://schemas.microsoft.com/office/powerpoint/2010/main" val="116944977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Definis</a:t>
            </a:r>
            <a:r>
              <a:rPr lang="id-ID" dirty="0"/>
              <a:t> Proses</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Ada beberapa definisi yang dapat digunakan ketika menjelaskan tentang apa itu proses pada Sistem Operasi, </a:t>
            </a:r>
            <a:r>
              <a:rPr lang="id-ID" dirty="0" err="1"/>
              <a:t>diantaranya</a:t>
            </a:r>
            <a:r>
              <a:rPr lang="id-ID" dirty="0"/>
              <a:t> adalah:</a:t>
            </a:r>
          </a:p>
          <a:p>
            <a:pPr lvl="1"/>
            <a:r>
              <a:rPr lang="id-ID" dirty="0"/>
              <a:t>Program yang sedang dieksekusi/dijalankan</a:t>
            </a:r>
          </a:p>
          <a:p>
            <a:pPr lvl="1"/>
            <a:r>
              <a:rPr lang="id-ID" dirty="0"/>
              <a:t>Bagian dari program yang sedang berjalan pada komputer</a:t>
            </a:r>
          </a:p>
          <a:p>
            <a:pPr lvl="1"/>
            <a:r>
              <a:rPr lang="id-ID" dirty="0"/>
              <a:t>Entitas yang dapat dijalankan oleh prosesor</a:t>
            </a:r>
          </a:p>
          <a:p>
            <a:r>
              <a:rPr lang="id-ID" dirty="0"/>
              <a:t>Definisi paling sederhana dari sebuah proses adalah program yang sedang dijalankan oleh komputer</a:t>
            </a:r>
          </a:p>
        </p:txBody>
      </p:sp>
    </p:spTree>
    <p:extLst>
      <p:ext uri="{BB962C8B-B14F-4D97-AF65-F5344CB8AC3E}">
        <p14:creationId xmlns:p14="http://schemas.microsoft.com/office/powerpoint/2010/main" val="179420487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Proses</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Terdapat empat </a:t>
            </a:r>
            <a:r>
              <a:rPr lang="id-ID" dirty="0" err="1"/>
              <a:t>event</a:t>
            </a:r>
            <a:r>
              <a:rPr lang="id-ID" dirty="0"/>
              <a:t> yang dapat menyebabkan terciptanya proses, yaitu:</a:t>
            </a:r>
          </a:p>
          <a:p>
            <a:pPr lvl="1"/>
            <a:r>
              <a:rPr lang="id-ID" dirty="0" err="1"/>
              <a:t>Inisialisasi</a:t>
            </a:r>
            <a:r>
              <a:rPr lang="id-ID" dirty="0"/>
              <a:t> sistem</a:t>
            </a:r>
          </a:p>
          <a:p>
            <a:pPr lvl="1"/>
            <a:r>
              <a:rPr lang="id-ID" dirty="0"/>
              <a:t>Proses yang sedang berjalan yang mengeksekusi sebuah perintah untuk menciptakan proses baru.</a:t>
            </a:r>
          </a:p>
          <a:p>
            <a:pPr lvl="1"/>
            <a:r>
              <a:rPr lang="id-ID" dirty="0"/>
              <a:t>Inisiasi </a:t>
            </a:r>
            <a:r>
              <a:rPr lang="id-ID" i="1" dirty="0" err="1"/>
              <a:t>batch</a:t>
            </a:r>
            <a:r>
              <a:rPr lang="id-ID" i="1" dirty="0"/>
              <a:t> </a:t>
            </a:r>
            <a:r>
              <a:rPr lang="id-ID" i="1" dirty="0" err="1"/>
              <a:t>job</a:t>
            </a:r>
            <a:r>
              <a:rPr lang="id-ID" dirty="0"/>
              <a:t>.</a:t>
            </a:r>
          </a:p>
          <a:p>
            <a:pPr lvl="1"/>
            <a:r>
              <a:rPr lang="id-ID" dirty="0"/>
              <a:t>Permintaan pengguna untuk menciptakan proses baru.</a:t>
            </a:r>
          </a:p>
          <a:p>
            <a:endParaRPr lang="id-ID" dirty="0"/>
          </a:p>
        </p:txBody>
      </p:sp>
    </p:spTree>
    <p:extLst>
      <p:ext uri="{BB962C8B-B14F-4D97-AF65-F5344CB8AC3E}">
        <p14:creationId xmlns:p14="http://schemas.microsoft.com/office/powerpoint/2010/main" val="312638649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Sebuah proses akan berakhir jika berada pada salah satu dari kondisi berikut:</a:t>
            </a:r>
          </a:p>
          <a:p>
            <a:pPr lvl="1"/>
            <a:r>
              <a:rPr lang="en-US" dirty="0"/>
              <a:t>Normal exit (voluntary)</a:t>
            </a:r>
          </a:p>
          <a:p>
            <a:pPr lvl="1"/>
            <a:r>
              <a:rPr lang="en-US" dirty="0"/>
              <a:t>Error exit (voluntary)</a:t>
            </a:r>
          </a:p>
          <a:p>
            <a:pPr lvl="1"/>
            <a:r>
              <a:rPr lang="en-US" dirty="0"/>
              <a:t>Fatal error (involuntary)</a:t>
            </a:r>
          </a:p>
          <a:p>
            <a:pPr lvl="1"/>
            <a:r>
              <a:rPr lang="en-US" dirty="0"/>
              <a:t>Killed by another process (involuntary)</a:t>
            </a:r>
          </a:p>
          <a:p>
            <a:endParaRPr lang="id-ID" dirty="0"/>
          </a:p>
        </p:txBody>
      </p:sp>
    </p:spTree>
    <p:extLst>
      <p:ext uri="{BB962C8B-B14F-4D97-AF65-F5344CB8AC3E}">
        <p14:creationId xmlns:p14="http://schemas.microsoft.com/office/powerpoint/2010/main" val="354763791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Keadaan Proses</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Terdapat lima keadaan yang mungkin dimiliki sebuah proses, yaitu:</a:t>
            </a:r>
          </a:p>
          <a:p>
            <a:pPr lvl="1"/>
            <a:r>
              <a:rPr lang="id-ID" b="1" i="1" dirty="0"/>
              <a:t>New</a:t>
            </a:r>
            <a:r>
              <a:rPr lang="id-ID" dirty="0"/>
              <a:t>:</a:t>
            </a:r>
            <a:r>
              <a:rPr lang="id-ID" b="1" dirty="0"/>
              <a:t> </a:t>
            </a:r>
            <a:r>
              <a:rPr lang="id-ID" dirty="0"/>
              <a:t>keadaan ketika proses sedang dibuat.</a:t>
            </a:r>
          </a:p>
          <a:p>
            <a:pPr lvl="1"/>
            <a:r>
              <a:rPr lang="id-ID" b="1" i="1" dirty="0" err="1"/>
              <a:t>Running</a:t>
            </a:r>
            <a:r>
              <a:rPr lang="id-ID" dirty="0"/>
              <a:t>:</a:t>
            </a:r>
            <a:r>
              <a:rPr lang="id-ID" b="1" dirty="0"/>
              <a:t> </a:t>
            </a:r>
            <a:r>
              <a:rPr lang="id-ID" dirty="0"/>
              <a:t>proses dikatakan dalam keadaan </a:t>
            </a:r>
            <a:r>
              <a:rPr lang="id-ID" i="1" dirty="0" err="1"/>
              <a:t>running</a:t>
            </a:r>
            <a:r>
              <a:rPr lang="id-ID" i="1" dirty="0"/>
              <a:t> </a:t>
            </a:r>
            <a:r>
              <a:rPr lang="id-ID" dirty="0"/>
              <a:t>jika proses tersebut sedang aktif dieksekusi oleh prosesor.</a:t>
            </a:r>
            <a:r>
              <a:rPr lang="id-ID" i="1" dirty="0"/>
              <a:t> </a:t>
            </a:r>
            <a:endParaRPr lang="id-ID" dirty="0"/>
          </a:p>
          <a:p>
            <a:pPr lvl="1"/>
            <a:r>
              <a:rPr lang="id-ID" b="1" i="1" dirty="0"/>
              <a:t>Ready</a:t>
            </a:r>
            <a:r>
              <a:rPr lang="id-ID" dirty="0"/>
              <a:t>:</a:t>
            </a:r>
            <a:r>
              <a:rPr lang="id-ID" b="1" dirty="0"/>
              <a:t> </a:t>
            </a:r>
            <a:r>
              <a:rPr lang="id-ID" dirty="0"/>
              <a:t>proses dalam keadaan </a:t>
            </a:r>
            <a:r>
              <a:rPr lang="id-ID" i="1" dirty="0" err="1"/>
              <a:t>ready</a:t>
            </a:r>
            <a:r>
              <a:rPr lang="id-ID" i="1" dirty="0"/>
              <a:t> </a:t>
            </a:r>
            <a:r>
              <a:rPr lang="id-ID" dirty="0"/>
              <a:t>ketika siap dieksekusi dan sedang menunggu CPU.</a:t>
            </a:r>
          </a:p>
          <a:p>
            <a:pPr lvl="1"/>
            <a:r>
              <a:rPr lang="id-ID" b="1" i="1" dirty="0" err="1"/>
              <a:t>Waiting</a:t>
            </a:r>
            <a:r>
              <a:rPr lang="id-ID" b="1" i="1" dirty="0"/>
              <a:t>/</a:t>
            </a:r>
            <a:r>
              <a:rPr lang="id-ID" b="1" i="1" dirty="0" err="1"/>
              <a:t>Blocked</a:t>
            </a:r>
            <a:r>
              <a:rPr lang="id-ID" dirty="0"/>
              <a:t>:</a:t>
            </a:r>
            <a:r>
              <a:rPr lang="id-ID" b="1" dirty="0"/>
              <a:t> </a:t>
            </a:r>
            <a:r>
              <a:rPr lang="id-ID" dirty="0"/>
              <a:t>pada keadaan ini proses menunggu sesuatu terjadi, seperti penerimaan sinyal atau selesainya </a:t>
            </a:r>
            <a:r>
              <a:rPr lang="id-ID" dirty="0" err="1"/>
              <a:t>respon</a:t>
            </a:r>
            <a:r>
              <a:rPr lang="id-ID" dirty="0"/>
              <a:t> dari perangkat I/O.</a:t>
            </a:r>
            <a:r>
              <a:rPr lang="id-ID" b="1" dirty="0"/>
              <a:t> </a:t>
            </a:r>
            <a:endParaRPr lang="id-ID" dirty="0"/>
          </a:p>
          <a:p>
            <a:pPr lvl="1"/>
            <a:r>
              <a:rPr lang="id-ID" b="1" i="1" dirty="0" err="1"/>
              <a:t>Terminated</a:t>
            </a:r>
            <a:r>
              <a:rPr lang="id-ID" b="1" i="1" dirty="0"/>
              <a:t>/</a:t>
            </a:r>
            <a:r>
              <a:rPr lang="id-ID" b="1" i="1" dirty="0" err="1"/>
              <a:t>Exit</a:t>
            </a:r>
            <a:r>
              <a:rPr lang="id-ID" dirty="0"/>
              <a:t>: keadaan ketika sebuah proses selesai dieksekusi.</a:t>
            </a:r>
          </a:p>
        </p:txBody>
      </p:sp>
    </p:spTree>
    <p:extLst>
      <p:ext uri="{BB962C8B-B14F-4D97-AF65-F5344CB8AC3E}">
        <p14:creationId xmlns:p14="http://schemas.microsoft.com/office/powerpoint/2010/main" val="1030888993"/>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pic>
        <p:nvPicPr>
          <p:cNvPr id="1026" name="Picture 9">
            <a:extLst>
              <a:ext uri="{FF2B5EF4-FFF2-40B4-BE49-F238E27FC236}">
                <a16:creationId xmlns:a16="http://schemas.microsoft.com/office/drawing/2014/main" id="{6DB8CD85-A1EC-4E43-8ED8-AC3D1C03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430" y="1665530"/>
            <a:ext cx="8735139" cy="3526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06EDC91-6F30-47AF-AECC-25373AF96CBF}"/>
              </a:ext>
            </a:extLst>
          </p:cNvPr>
          <p:cNvSpPr/>
          <p:nvPr/>
        </p:nvSpPr>
        <p:spPr>
          <a:xfrm>
            <a:off x="3915594" y="5348116"/>
            <a:ext cx="4360809" cy="369332"/>
          </a:xfrm>
          <a:prstGeom prst="rect">
            <a:avLst/>
          </a:prstGeom>
        </p:spPr>
        <p:txBody>
          <a:bodyPr wrap="none">
            <a:spAutoFit/>
          </a:bodyPr>
          <a:lstStyle/>
          <a:p>
            <a:pPr algn="ctr">
              <a:spcAft>
                <a:spcPts val="0"/>
              </a:spcAft>
            </a:pPr>
            <a:r>
              <a:rPr lang="id-ID" dirty="0">
                <a:latin typeface="Trebuchet MS" panose="020B0603020202020204" pitchFamily="34" charset="0"/>
                <a:ea typeface="Times New Roman" panose="02020603050405020304" pitchFamily="18" charset="0"/>
                <a:cs typeface="Times New Roman" panose="02020603050405020304" pitchFamily="18" charset="0"/>
              </a:rPr>
              <a:t>Keadaan-keadaan pada Proses Komputer</a:t>
            </a:r>
          </a:p>
        </p:txBody>
      </p:sp>
    </p:spTree>
    <p:extLst>
      <p:ext uri="{BB962C8B-B14F-4D97-AF65-F5344CB8AC3E}">
        <p14:creationId xmlns:p14="http://schemas.microsoft.com/office/powerpoint/2010/main" val="7645279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Process</a:t>
            </a:r>
            <a:r>
              <a:rPr lang="id-ID" dirty="0"/>
              <a:t> </a:t>
            </a:r>
            <a:r>
              <a:rPr lang="id-ID" dirty="0" err="1"/>
              <a:t>Control</a:t>
            </a:r>
            <a:r>
              <a:rPr lang="id-ID" dirty="0"/>
              <a:t> </a:t>
            </a:r>
            <a:r>
              <a:rPr lang="id-ID" dirty="0" err="1"/>
              <a:t>Block</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a:bodyPr>
          <a:lstStyle/>
          <a:p>
            <a:r>
              <a:rPr lang="id-ID" i="1" dirty="0" err="1"/>
              <a:t>Process</a:t>
            </a:r>
            <a:r>
              <a:rPr lang="id-ID" i="1" dirty="0"/>
              <a:t> </a:t>
            </a:r>
            <a:r>
              <a:rPr lang="id-ID" i="1" dirty="0" err="1"/>
              <a:t>Control</a:t>
            </a:r>
            <a:r>
              <a:rPr lang="id-ID" i="1" dirty="0"/>
              <a:t> </a:t>
            </a:r>
            <a:r>
              <a:rPr lang="id-ID" i="1" dirty="0" err="1"/>
              <a:t>Block</a:t>
            </a:r>
            <a:r>
              <a:rPr lang="id-ID" dirty="0"/>
              <a:t>, yaitu sebuah struktur data sebagai representasi proses-proses yang ada di sistem.</a:t>
            </a:r>
          </a:p>
          <a:p>
            <a:r>
              <a:rPr lang="id-ID" dirty="0"/>
              <a:t>Beberapa informasi yang ada pada PCB </a:t>
            </a:r>
            <a:r>
              <a:rPr lang="id-ID" dirty="0" err="1"/>
              <a:t>diantaranya</a:t>
            </a:r>
            <a:r>
              <a:rPr lang="id-ID" dirty="0"/>
              <a:t>: </a:t>
            </a:r>
          </a:p>
          <a:p>
            <a:pPr lvl="1"/>
            <a:r>
              <a:rPr lang="id-ID" b="1" dirty="0" err="1"/>
              <a:t>Process</a:t>
            </a:r>
            <a:r>
              <a:rPr lang="id-ID" b="1" dirty="0"/>
              <a:t> </a:t>
            </a:r>
            <a:r>
              <a:rPr lang="id-ID" b="1" dirty="0" err="1"/>
              <a:t>state</a:t>
            </a:r>
            <a:r>
              <a:rPr lang="id-ID" b="1" i="1" dirty="0"/>
              <a:t> </a:t>
            </a:r>
            <a:r>
              <a:rPr lang="id-ID" b="1" dirty="0"/>
              <a:t>(keadaan proses).</a:t>
            </a:r>
            <a:r>
              <a:rPr lang="id-ID" dirty="0"/>
              <a:t> Berisi informasi keadaan proses, apakah dalam kondisi </a:t>
            </a:r>
            <a:r>
              <a:rPr lang="id-ID" i="1" dirty="0" err="1"/>
              <a:t>new</a:t>
            </a:r>
            <a:r>
              <a:rPr lang="id-ID" i="1" dirty="0"/>
              <a:t>, </a:t>
            </a:r>
            <a:r>
              <a:rPr lang="id-ID" i="1" dirty="0" err="1"/>
              <a:t>ready</a:t>
            </a:r>
            <a:r>
              <a:rPr lang="id-ID" i="1" dirty="0"/>
              <a:t>, </a:t>
            </a:r>
            <a:r>
              <a:rPr lang="id-ID" i="1" dirty="0" err="1"/>
              <a:t>waiting</a:t>
            </a:r>
            <a:r>
              <a:rPr lang="id-ID" i="1" dirty="0"/>
              <a:t>, </a:t>
            </a:r>
            <a:r>
              <a:rPr lang="id-ID" dirty="0"/>
              <a:t>atau yang lainnya.</a:t>
            </a:r>
          </a:p>
          <a:p>
            <a:pPr lvl="1"/>
            <a:r>
              <a:rPr lang="id-ID" b="1" dirty="0"/>
              <a:t>Program </a:t>
            </a:r>
            <a:r>
              <a:rPr lang="id-ID" b="1" dirty="0" err="1"/>
              <a:t>counter</a:t>
            </a:r>
            <a:r>
              <a:rPr lang="id-ID" b="1" i="1" dirty="0"/>
              <a:t>.</a:t>
            </a:r>
            <a:r>
              <a:rPr lang="id-ID" dirty="0"/>
              <a:t> Berisi informasi alamat dari instruksi yang akan dieksekusi selanjutnya untuk melanjutkan eksekusi proses.</a:t>
            </a:r>
          </a:p>
          <a:p>
            <a:pPr lvl="1"/>
            <a:r>
              <a:rPr lang="id-ID" b="1" dirty="0"/>
              <a:t>CPU register</a:t>
            </a:r>
            <a:r>
              <a:rPr lang="id-ID" i="1" dirty="0"/>
              <a:t>. </a:t>
            </a:r>
            <a:r>
              <a:rPr lang="id-ID" dirty="0"/>
              <a:t>Register bermacam-macam dalam jumlah dan tipenya, tergantung dari arsitektur komputer. Termasuk di dalamnya adalah akumulator, register indeks, </a:t>
            </a:r>
            <a:r>
              <a:rPr lang="id-ID" dirty="0" err="1"/>
              <a:t>stack</a:t>
            </a:r>
            <a:r>
              <a:rPr lang="id-ID" i="1" dirty="0"/>
              <a:t> </a:t>
            </a:r>
            <a:r>
              <a:rPr lang="id-ID" dirty="0" err="1"/>
              <a:t>pointers</a:t>
            </a:r>
            <a:r>
              <a:rPr lang="id-ID" dirty="0"/>
              <a:t>, dan register umum, serta informasi kode kondisi. Bersama dengan program </a:t>
            </a:r>
            <a:r>
              <a:rPr lang="id-ID" dirty="0" err="1"/>
              <a:t>counter</a:t>
            </a:r>
            <a:r>
              <a:rPr lang="id-ID" dirty="0"/>
              <a:t> informasi kondisi proses harus disimpan ketika ada interupsi, agar proses dapat dilanjutkan dengan benar setelah terjadi interupsi.</a:t>
            </a:r>
          </a:p>
          <a:p>
            <a:pPr lvl="1"/>
            <a:endParaRPr lang="id-ID" dirty="0"/>
          </a:p>
          <a:p>
            <a:endParaRPr lang="id-ID" dirty="0"/>
          </a:p>
        </p:txBody>
      </p:sp>
    </p:spTree>
    <p:extLst>
      <p:ext uri="{BB962C8B-B14F-4D97-AF65-F5344CB8AC3E}">
        <p14:creationId xmlns:p14="http://schemas.microsoft.com/office/powerpoint/2010/main" val="61542748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Process</a:t>
            </a:r>
            <a:r>
              <a:rPr lang="id-ID" dirty="0"/>
              <a:t> </a:t>
            </a:r>
            <a:r>
              <a:rPr lang="id-ID" dirty="0" err="1"/>
              <a:t>Control</a:t>
            </a:r>
            <a:r>
              <a:rPr lang="id-ID" dirty="0"/>
              <a:t> </a:t>
            </a:r>
            <a:r>
              <a:rPr lang="id-ID" dirty="0" err="1"/>
              <a:t>Block</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lvl="1"/>
            <a:r>
              <a:rPr lang="id-ID" b="1" dirty="0"/>
              <a:t>Informasi penjadwalan CPU.</a:t>
            </a:r>
            <a:r>
              <a:rPr lang="id-ID" dirty="0"/>
              <a:t> Informasi mengenai prioritas dari proses, </a:t>
            </a:r>
            <a:r>
              <a:rPr lang="id-ID" dirty="0" err="1"/>
              <a:t>pointer</a:t>
            </a:r>
            <a:r>
              <a:rPr lang="id-ID" dirty="0"/>
              <a:t> </a:t>
            </a:r>
            <a:r>
              <a:rPr lang="id-ID" dirty="0" err="1"/>
              <a:t>antrian</a:t>
            </a:r>
            <a:r>
              <a:rPr lang="id-ID" dirty="0"/>
              <a:t> penjadwalan, dan parameter-parameter penjadwalan lainnya.</a:t>
            </a:r>
          </a:p>
          <a:p>
            <a:pPr lvl="1"/>
            <a:r>
              <a:rPr lang="id-ID" b="1" dirty="0"/>
              <a:t>Informasi manajemen memori.</a:t>
            </a:r>
            <a:r>
              <a:rPr lang="id-ID" dirty="0"/>
              <a:t> Terdiri dari penjabaran nilai dasar dan batas dari register dan </a:t>
            </a:r>
            <a:r>
              <a:rPr lang="id-ID" i="1" dirty="0" err="1"/>
              <a:t>page</a:t>
            </a:r>
            <a:r>
              <a:rPr lang="id-ID" i="1" dirty="0"/>
              <a:t> </a:t>
            </a:r>
            <a:r>
              <a:rPr lang="id-ID" i="1" dirty="0" err="1"/>
              <a:t>tables</a:t>
            </a:r>
            <a:r>
              <a:rPr lang="id-ID" dirty="0"/>
              <a:t>, atau </a:t>
            </a:r>
            <a:r>
              <a:rPr lang="id-ID" i="1" dirty="0" err="1"/>
              <a:t>segment</a:t>
            </a:r>
            <a:r>
              <a:rPr lang="id-ID" i="1" dirty="0"/>
              <a:t> </a:t>
            </a:r>
            <a:r>
              <a:rPr lang="id-ID" i="1" dirty="0" err="1"/>
              <a:t>tables</a:t>
            </a:r>
            <a:r>
              <a:rPr lang="id-ID" dirty="0"/>
              <a:t>, tergantung sistem memori yang digunakan oleh sistem operasi.</a:t>
            </a:r>
          </a:p>
          <a:p>
            <a:pPr lvl="1"/>
            <a:r>
              <a:rPr lang="id-ID" b="1" dirty="0"/>
              <a:t>Informasi </a:t>
            </a:r>
            <a:r>
              <a:rPr lang="id-ID" b="1" dirty="0" err="1"/>
              <a:t>accounting</a:t>
            </a:r>
            <a:r>
              <a:rPr lang="id-ID" b="1" dirty="0"/>
              <a:t>.</a:t>
            </a:r>
            <a:r>
              <a:rPr lang="id-ID" dirty="0"/>
              <a:t> Termasuk di dalamnya adalah informasi mengenai jumlah CPU dan penggunaan secara </a:t>
            </a:r>
            <a:r>
              <a:rPr lang="id-ID" i="1" dirty="0"/>
              <a:t>real </a:t>
            </a:r>
            <a:r>
              <a:rPr lang="id-ID" i="1" dirty="0" err="1"/>
              <a:t>time</a:t>
            </a:r>
            <a:r>
              <a:rPr lang="id-ID" dirty="0"/>
              <a:t>, batasan waktu, jumlah proses, dan lain sebagainya.</a:t>
            </a:r>
          </a:p>
          <a:p>
            <a:pPr lvl="1"/>
            <a:r>
              <a:rPr lang="id-ID" b="1" dirty="0"/>
              <a:t>Informasi status I/O.</a:t>
            </a:r>
            <a:r>
              <a:rPr lang="id-ID" dirty="0"/>
              <a:t> Terdiri dari informasi alat I/O yang dialokasikan pada proses, daftar </a:t>
            </a:r>
            <a:r>
              <a:rPr lang="id-ID" dirty="0" err="1"/>
              <a:t>file</a:t>
            </a:r>
            <a:r>
              <a:rPr lang="id-ID" dirty="0"/>
              <a:t> yang dibuka, dan lain sebagainya.</a:t>
            </a:r>
          </a:p>
          <a:p>
            <a:pPr lvl="1"/>
            <a:endParaRPr lang="id-ID" dirty="0"/>
          </a:p>
          <a:p>
            <a:endParaRPr lang="id-ID" dirty="0"/>
          </a:p>
        </p:txBody>
      </p:sp>
    </p:spTree>
    <p:extLst>
      <p:ext uri="{BB962C8B-B14F-4D97-AF65-F5344CB8AC3E}">
        <p14:creationId xmlns:p14="http://schemas.microsoft.com/office/powerpoint/2010/main" val="333241423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pic>
        <p:nvPicPr>
          <p:cNvPr id="2051" name="Picture 47">
            <a:extLst>
              <a:ext uri="{FF2B5EF4-FFF2-40B4-BE49-F238E27FC236}">
                <a16:creationId xmlns:a16="http://schemas.microsoft.com/office/drawing/2014/main" id="{3E62E8D3-0FE4-4FF3-B1C3-EE206ED54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6042" y="1511027"/>
            <a:ext cx="3939915" cy="383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0C3E910-EAD7-437A-ADCE-83450620E692}"/>
              </a:ext>
            </a:extLst>
          </p:cNvPr>
          <p:cNvSpPr/>
          <p:nvPr/>
        </p:nvSpPr>
        <p:spPr>
          <a:xfrm>
            <a:off x="5364869" y="5346972"/>
            <a:ext cx="1462259" cy="369332"/>
          </a:xfrm>
          <a:prstGeom prst="rect">
            <a:avLst/>
          </a:prstGeom>
        </p:spPr>
        <p:txBody>
          <a:bodyPr wrap="none">
            <a:spAutoFit/>
          </a:bodyPr>
          <a:lstStyle/>
          <a:p>
            <a:pPr algn="ctr">
              <a:spcAft>
                <a:spcPts val="0"/>
              </a:spcAft>
            </a:pPr>
            <a:r>
              <a:rPr lang="id-ID" dirty="0">
                <a:latin typeface="Trebuchet MS" panose="020B0603020202020204" pitchFamily="34" charset="0"/>
                <a:ea typeface="Times New Roman" panose="02020603050405020304" pitchFamily="18" charset="0"/>
                <a:cs typeface="Times New Roman" panose="02020603050405020304" pitchFamily="18" charset="0"/>
              </a:rPr>
              <a:t>Ilustrasi PCB</a:t>
            </a:r>
          </a:p>
        </p:txBody>
      </p:sp>
    </p:spTree>
    <p:extLst>
      <p:ext uri="{BB962C8B-B14F-4D97-AF65-F5344CB8AC3E}">
        <p14:creationId xmlns:p14="http://schemas.microsoft.com/office/powerpoint/2010/main" val="156019362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Komunikasi Antar Proses</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Proses-proses yang dieksekusi secara bersamaan pada sistem operasi dapat bersifat independen maupun terkait (</a:t>
            </a:r>
            <a:r>
              <a:rPr lang="id-ID" i="1" dirty="0" err="1"/>
              <a:t>cooperating</a:t>
            </a:r>
            <a:r>
              <a:rPr lang="id-ID" dirty="0"/>
              <a:t>)</a:t>
            </a:r>
            <a:r>
              <a:rPr lang="id-ID" i="1" dirty="0"/>
              <a:t>. </a:t>
            </a:r>
            <a:r>
              <a:rPr lang="id-ID" dirty="0"/>
              <a:t>Sebuah proses dikatakan independen jika tidak mempengaruhi atau dipengaruhi oleh proses-proses lain yang sedang dijalankan pada sistem. Proses disebut bersifat terkait (</a:t>
            </a:r>
            <a:r>
              <a:rPr lang="id-ID" i="1" dirty="0" err="1"/>
              <a:t>cooperating</a:t>
            </a:r>
            <a:r>
              <a:rPr lang="id-ID" dirty="0"/>
              <a:t>) jika proses dapat mempengaruhi dan dipengaruhi oleh proses lain yang sedang dijalankan pada sistem. Setiap proses yang tidak berbagi data dengan proses lain bersifat independen, sedangkan proses yang berbagi data dengan proses lain bersifat terkait</a:t>
            </a:r>
          </a:p>
        </p:txBody>
      </p:sp>
    </p:spTree>
    <p:extLst>
      <p:ext uri="{BB962C8B-B14F-4D97-AF65-F5344CB8AC3E}">
        <p14:creationId xmlns:p14="http://schemas.microsoft.com/office/powerpoint/2010/main" val="46991989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Keserempakan (</a:t>
            </a:r>
            <a:r>
              <a:rPr lang="id-ID" i="1" dirty="0" err="1"/>
              <a:t>Concurenccy</a:t>
            </a:r>
            <a:r>
              <a:rPr lang="id-ID" dirty="0"/>
              <a:t>)</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Sebuah komputer yang dapat menjalankan proses secara serempak biasa disebut sistem operasi </a:t>
            </a:r>
            <a:r>
              <a:rPr lang="id-ID" dirty="0" err="1"/>
              <a:t>multi</a:t>
            </a:r>
            <a:r>
              <a:rPr lang="id-ID" dirty="0"/>
              <a:t>-tugas (</a:t>
            </a:r>
            <a:r>
              <a:rPr lang="id-ID" i="1" dirty="0" err="1"/>
              <a:t>mutitasking</a:t>
            </a:r>
            <a:r>
              <a:rPr lang="id-ID" i="1" dirty="0"/>
              <a:t> </a:t>
            </a:r>
            <a:r>
              <a:rPr lang="id-ID" i="1" dirty="0" err="1"/>
              <a:t>computer</a:t>
            </a:r>
            <a:r>
              <a:rPr lang="id-ID" dirty="0"/>
              <a:t>).</a:t>
            </a:r>
          </a:p>
          <a:p>
            <a:r>
              <a:rPr lang="id-ID" dirty="0"/>
              <a:t>Keserempakan dapat diimplementasikan dengan dua cara, yaitu:</a:t>
            </a:r>
          </a:p>
          <a:p>
            <a:pPr lvl="1"/>
            <a:r>
              <a:rPr lang="id-ID" dirty="0"/>
              <a:t>Memecah program-program menjadi beberapa proses kemudian melakukan pemrosesan secara bergantian dengan satu prosesor (</a:t>
            </a:r>
            <a:r>
              <a:rPr lang="id-ID" i="1" dirty="0" err="1"/>
              <a:t>multiprogramming</a:t>
            </a:r>
            <a:r>
              <a:rPr lang="id-ID" dirty="0"/>
              <a:t>).</a:t>
            </a:r>
          </a:p>
          <a:p>
            <a:pPr lvl="1"/>
            <a:r>
              <a:rPr lang="id-ID" dirty="0"/>
              <a:t>Menerapkan pemrosesan secara paralel dengan lebih dari satu pemroses (</a:t>
            </a:r>
            <a:r>
              <a:rPr lang="id-ID" i="1" dirty="0" err="1"/>
              <a:t>multiprocessing</a:t>
            </a:r>
            <a:r>
              <a:rPr lang="id-ID" dirty="0"/>
              <a:t>).</a:t>
            </a:r>
          </a:p>
          <a:p>
            <a:endParaRPr lang="id-ID" dirty="0"/>
          </a:p>
        </p:txBody>
      </p:sp>
    </p:spTree>
    <p:extLst>
      <p:ext uri="{BB962C8B-B14F-4D97-AF65-F5344CB8AC3E}">
        <p14:creationId xmlns:p14="http://schemas.microsoft.com/office/powerpoint/2010/main" val="24078016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Thread</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a:xfrm>
            <a:off x="838200" y="1825625"/>
            <a:ext cx="3879574" cy="4351338"/>
          </a:xfrm>
        </p:spPr>
        <p:txBody>
          <a:bodyPr>
            <a:normAutofit/>
          </a:bodyPr>
          <a:lstStyle/>
          <a:p>
            <a:r>
              <a:rPr lang="id-ID" dirty="0"/>
              <a:t>Sebuah </a:t>
            </a:r>
            <a:r>
              <a:rPr lang="id-ID" i="1" dirty="0" err="1"/>
              <a:t>thread</a:t>
            </a:r>
            <a:r>
              <a:rPr lang="id-ID" dirty="0"/>
              <a:t> adalah unit dasar dari penggunaan CPU. </a:t>
            </a:r>
            <a:r>
              <a:rPr lang="id-ID" i="1" dirty="0" err="1"/>
              <a:t>Thread</a:t>
            </a:r>
            <a:r>
              <a:rPr lang="id-ID" i="1" dirty="0"/>
              <a:t> </a:t>
            </a:r>
            <a:r>
              <a:rPr lang="id-ID" dirty="0"/>
              <a:t>dapat juga disebut sebagai mini proses atau proses di dalam sebuah proses yang merupakan unit terkecil dari program. </a:t>
            </a:r>
          </a:p>
        </p:txBody>
      </p:sp>
      <p:pic>
        <p:nvPicPr>
          <p:cNvPr id="3074" name="Picture 46">
            <a:extLst>
              <a:ext uri="{FF2B5EF4-FFF2-40B4-BE49-F238E27FC236}">
                <a16:creationId xmlns:a16="http://schemas.microsoft.com/office/drawing/2014/main" id="{D359F8EF-1589-41AE-B013-27F17AF2D4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8662" y="1825625"/>
            <a:ext cx="5815137" cy="3329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933F9150-7232-4ADB-9E96-E1EE66233A8F}"/>
              </a:ext>
            </a:extLst>
          </p:cNvPr>
          <p:cNvSpPr/>
          <p:nvPr/>
        </p:nvSpPr>
        <p:spPr>
          <a:xfrm>
            <a:off x="7591477" y="5286171"/>
            <a:ext cx="1709506" cy="369332"/>
          </a:xfrm>
          <a:prstGeom prst="rect">
            <a:avLst/>
          </a:prstGeom>
        </p:spPr>
        <p:txBody>
          <a:bodyPr wrap="none">
            <a:spAutoFit/>
          </a:bodyPr>
          <a:lstStyle/>
          <a:p>
            <a:pPr algn="ctr">
              <a:spcAft>
                <a:spcPts val="0"/>
              </a:spcAft>
            </a:pPr>
            <a:r>
              <a:rPr lang="id-ID" dirty="0">
                <a:latin typeface="Trebuchet MS" panose="020B0603020202020204" pitchFamily="34" charset="0"/>
                <a:ea typeface="Times New Roman" panose="02020603050405020304" pitchFamily="18" charset="0"/>
                <a:cs typeface="Times New Roman" panose="02020603050405020304" pitchFamily="18" charset="0"/>
              </a:rPr>
              <a:t>Ilustrasi Proses</a:t>
            </a:r>
          </a:p>
        </p:txBody>
      </p:sp>
    </p:spTree>
    <p:extLst>
      <p:ext uri="{BB962C8B-B14F-4D97-AF65-F5344CB8AC3E}">
        <p14:creationId xmlns:p14="http://schemas.microsoft.com/office/powerpoint/2010/main" val="31165095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Keuntungan </a:t>
            </a:r>
            <a:r>
              <a:rPr lang="id-ID" i="1" dirty="0" err="1"/>
              <a:t>Multithread</a:t>
            </a:r>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Sistem yang Lebih Responsif</a:t>
            </a:r>
          </a:p>
          <a:p>
            <a:r>
              <a:rPr lang="id-ID" dirty="0"/>
              <a:t>Eksekusi Proses Lebih Cepat</a:t>
            </a:r>
          </a:p>
          <a:p>
            <a:r>
              <a:rPr lang="id-ID" dirty="0"/>
              <a:t>Konsumsi Sumber Daya Lebih Rendah (Ekonomis)</a:t>
            </a:r>
          </a:p>
          <a:p>
            <a:r>
              <a:rPr lang="id-ID" dirty="0"/>
              <a:t>Komunikasi dan Proses Berbagi Sumber Daya yang Sederhana</a:t>
            </a:r>
          </a:p>
          <a:p>
            <a:r>
              <a:rPr lang="id-ID" dirty="0" err="1"/>
              <a:t>Skalabilitas</a:t>
            </a:r>
            <a:r>
              <a:rPr lang="id-ID" dirty="0"/>
              <a:t>, Terutama Dalam Penerapan Sistem Paralel</a:t>
            </a:r>
          </a:p>
        </p:txBody>
      </p:sp>
    </p:spTree>
    <p:extLst>
      <p:ext uri="{BB962C8B-B14F-4D97-AF65-F5344CB8AC3E}">
        <p14:creationId xmlns:p14="http://schemas.microsoft.com/office/powerpoint/2010/main" val="1785553903"/>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Model-Model </a:t>
            </a:r>
            <a:r>
              <a:rPr lang="id-ID" i="1" dirty="0" err="1"/>
              <a:t>Multithreading</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Model </a:t>
            </a:r>
            <a:r>
              <a:rPr lang="id-ID" i="1" dirty="0" err="1"/>
              <a:t>many-to-one</a:t>
            </a:r>
            <a:r>
              <a:rPr lang="id-ID" i="1" dirty="0"/>
              <a:t> </a:t>
            </a:r>
            <a:r>
              <a:rPr lang="id-ID" dirty="0"/>
              <a:t>memetakan beberapa </a:t>
            </a:r>
            <a:r>
              <a:rPr lang="id-ID" i="1" dirty="0" err="1"/>
              <a:t>user</a:t>
            </a:r>
            <a:r>
              <a:rPr lang="id-ID" i="1" dirty="0"/>
              <a:t>-level </a:t>
            </a:r>
            <a:r>
              <a:rPr lang="id-ID" i="1" dirty="0" err="1"/>
              <a:t>thread</a:t>
            </a:r>
            <a:r>
              <a:rPr lang="id-ID" dirty="0"/>
              <a:t> pada satu </a:t>
            </a:r>
            <a:r>
              <a:rPr lang="id-ID" i="1" dirty="0" err="1"/>
              <a:t>kernel</a:t>
            </a:r>
            <a:r>
              <a:rPr lang="id-ID" i="1" dirty="0"/>
              <a:t> </a:t>
            </a:r>
            <a:r>
              <a:rPr lang="id-ID" i="1" dirty="0" err="1"/>
              <a:t>thread</a:t>
            </a:r>
            <a:r>
              <a:rPr lang="id-ID" dirty="0"/>
              <a:t>. Pada model ini seluruh proses akan terhenti ketika sebuah </a:t>
            </a:r>
            <a:r>
              <a:rPr lang="id-ID" i="1" dirty="0" err="1"/>
              <a:t>thread</a:t>
            </a:r>
            <a:r>
              <a:rPr lang="id-ID" dirty="0"/>
              <a:t> melakukan </a:t>
            </a:r>
            <a:r>
              <a:rPr lang="id-ID" i="1" dirty="0" err="1"/>
              <a:t>blocking</a:t>
            </a:r>
            <a:r>
              <a:rPr lang="id-ID" i="1" dirty="0"/>
              <a:t> </a:t>
            </a:r>
            <a:r>
              <a:rPr lang="id-ID" i="1" dirty="0" err="1"/>
              <a:t>system</a:t>
            </a:r>
            <a:r>
              <a:rPr lang="id-ID" i="1" dirty="0"/>
              <a:t> </a:t>
            </a:r>
            <a:r>
              <a:rPr lang="id-ID" i="1" dirty="0" err="1"/>
              <a:t>call</a:t>
            </a:r>
            <a:endParaRPr lang="id-ID" i="1" dirty="0"/>
          </a:p>
          <a:p>
            <a:r>
              <a:rPr lang="id-ID" dirty="0"/>
              <a:t>Model </a:t>
            </a:r>
            <a:r>
              <a:rPr lang="id-ID" i="1" dirty="0" err="1"/>
              <a:t>one-to-one</a:t>
            </a:r>
            <a:r>
              <a:rPr lang="id-ID" i="1" dirty="0"/>
              <a:t> </a:t>
            </a:r>
            <a:r>
              <a:rPr lang="id-ID" dirty="0"/>
              <a:t>memetakan setiap </a:t>
            </a:r>
            <a:r>
              <a:rPr lang="id-ID" i="1" dirty="0" err="1"/>
              <a:t>user</a:t>
            </a:r>
            <a:r>
              <a:rPr lang="id-ID" i="1" dirty="0"/>
              <a:t>-level </a:t>
            </a:r>
            <a:r>
              <a:rPr lang="id-ID" i="1" dirty="0" err="1"/>
              <a:t>thread</a:t>
            </a:r>
            <a:r>
              <a:rPr lang="id-ID" i="1" dirty="0"/>
              <a:t> </a:t>
            </a:r>
            <a:r>
              <a:rPr lang="id-ID" dirty="0"/>
              <a:t>ke tepat satu </a:t>
            </a:r>
            <a:r>
              <a:rPr lang="id-ID" i="1" dirty="0" err="1"/>
              <a:t>kernel</a:t>
            </a:r>
            <a:r>
              <a:rPr lang="id-ID" i="1" dirty="0"/>
              <a:t> </a:t>
            </a:r>
            <a:r>
              <a:rPr lang="id-ID" i="1" dirty="0" err="1"/>
              <a:t>thread</a:t>
            </a:r>
            <a:r>
              <a:rPr lang="id-ID" i="1" dirty="0"/>
              <a:t>. </a:t>
            </a:r>
            <a:r>
              <a:rPr lang="id-ID" dirty="0"/>
              <a:t>Model ini mengatasi masalah ketidakmampuan model </a:t>
            </a:r>
            <a:r>
              <a:rPr lang="id-ID" i="1" dirty="0" err="1"/>
              <a:t>many-to-one</a:t>
            </a:r>
            <a:r>
              <a:rPr lang="id-ID" dirty="0"/>
              <a:t> dalam penerapannya di sistem </a:t>
            </a:r>
            <a:r>
              <a:rPr lang="id-ID" dirty="0" err="1"/>
              <a:t>multicore</a:t>
            </a:r>
            <a:r>
              <a:rPr lang="id-ID" dirty="0"/>
              <a:t>.</a:t>
            </a:r>
          </a:p>
          <a:p>
            <a:r>
              <a:rPr lang="id-ID" dirty="0"/>
              <a:t>Model </a:t>
            </a:r>
            <a:r>
              <a:rPr lang="id-ID" i="1" dirty="0" err="1"/>
              <a:t>many-to-many</a:t>
            </a:r>
            <a:r>
              <a:rPr lang="id-ID" dirty="0"/>
              <a:t> melakukan pemetaan sejumlah </a:t>
            </a:r>
            <a:r>
              <a:rPr lang="id-ID" i="1" dirty="0" err="1"/>
              <a:t>user</a:t>
            </a:r>
            <a:r>
              <a:rPr lang="id-ID" i="1" dirty="0"/>
              <a:t>-level </a:t>
            </a:r>
            <a:r>
              <a:rPr lang="id-ID" i="1" dirty="0" err="1"/>
              <a:t>thread</a:t>
            </a:r>
            <a:r>
              <a:rPr lang="id-ID" i="1" dirty="0"/>
              <a:t> </a:t>
            </a:r>
            <a:r>
              <a:rPr lang="id-ID" dirty="0"/>
              <a:t>ke</a:t>
            </a:r>
            <a:r>
              <a:rPr lang="id-ID" i="1" dirty="0"/>
              <a:t> </a:t>
            </a:r>
            <a:r>
              <a:rPr lang="id-ID" i="1" dirty="0" err="1"/>
              <a:t>kernel</a:t>
            </a:r>
            <a:r>
              <a:rPr lang="id-ID" i="1" dirty="0"/>
              <a:t> </a:t>
            </a:r>
            <a:r>
              <a:rPr lang="id-ID" i="1" dirty="0" err="1"/>
              <a:t>thread</a:t>
            </a:r>
            <a:r>
              <a:rPr lang="id-ID" i="1" dirty="0"/>
              <a:t> </a:t>
            </a:r>
            <a:r>
              <a:rPr lang="id-ID" dirty="0"/>
              <a:t>dengan jumlah yang sama atau lebih sedikit</a:t>
            </a:r>
          </a:p>
          <a:p>
            <a:endParaRPr lang="id-ID" dirty="0"/>
          </a:p>
        </p:txBody>
      </p:sp>
    </p:spTree>
    <p:extLst>
      <p:ext uri="{BB962C8B-B14F-4D97-AF65-F5344CB8AC3E}">
        <p14:creationId xmlns:p14="http://schemas.microsoft.com/office/powerpoint/2010/main" val="32347212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id-ID" i="1" dirty="0" err="1"/>
              <a:t>Thread</a:t>
            </a:r>
            <a:r>
              <a:rPr lang="id-ID" i="1" dirty="0"/>
              <a:t> </a:t>
            </a:r>
            <a:r>
              <a:rPr lang="id-ID" i="1" dirty="0" err="1"/>
              <a:t>Library</a:t>
            </a:r>
            <a:r>
              <a:rPr lang="id-ID" i="1" dirty="0"/>
              <a:t> </a:t>
            </a:r>
            <a:r>
              <a:rPr lang="id-ID" dirty="0"/>
              <a:t>dan</a:t>
            </a:r>
            <a:r>
              <a:rPr lang="id-ID" i="1" dirty="0"/>
              <a:t> </a:t>
            </a:r>
            <a:r>
              <a:rPr lang="id-ID" i="1" dirty="0" err="1"/>
              <a:t>Implicit</a:t>
            </a:r>
            <a:r>
              <a:rPr lang="id-ID" i="1" dirty="0"/>
              <a:t> </a:t>
            </a:r>
            <a:r>
              <a:rPr lang="id-ID" i="1" dirty="0" err="1"/>
              <a:t>Threading</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Tiga </a:t>
            </a:r>
            <a:r>
              <a:rPr lang="id-ID" i="1" dirty="0" err="1"/>
              <a:t>thread</a:t>
            </a:r>
            <a:r>
              <a:rPr lang="id-ID" i="1" dirty="0"/>
              <a:t> </a:t>
            </a:r>
            <a:r>
              <a:rPr lang="id-ID" i="1" dirty="0" err="1"/>
              <a:t>library</a:t>
            </a:r>
            <a:r>
              <a:rPr lang="id-ID" i="1" dirty="0"/>
              <a:t> </a:t>
            </a:r>
            <a:r>
              <a:rPr lang="id-ID" dirty="0"/>
              <a:t>yang utama dan paling umum digunakan saat ini adalah POSIX </a:t>
            </a:r>
            <a:r>
              <a:rPr lang="id-ID" dirty="0" err="1"/>
              <a:t>p</a:t>
            </a:r>
            <a:r>
              <a:rPr lang="id-ID" i="1" dirty="0" err="1"/>
              <a:t>thread</a:t>
            </a:r>
            <a:r>
              <a:rPr lang="id-ID" dirty="0" err="1"/>
              <a:t>s</a:t>
            </a:r>
            <a:r>
              <a:rPr lang="id-ID" dirty="0"/>
              <a:t>, Windows, dan Java. </a:t>
            </a:r>
          </a:p>
        </p:txBody>
      </p:sp>
    </p:spTree>
    <p:extLst>
      <p:ext uri="{BB962C8B-B14F-4D97-AF65-F5344CB8AC3E}">
        <p14:creationId xmlns:p14="http://schemas.microsoft.com/office/powerpoint/2010/main" val="177567463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Permasalahan pada </a:t>
            </a:r>
            <a:r>
              <a:rPr lang="id-ID" i="1" dirty="0" err="1"/>
              <a:t>Multithreading</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Ketika melakukan pemrograman </a:t>
            </a:r>
            <a:r>
              <a:rPr lang="id-ID" i="1" dirty="0" err="1"/>
              <a:t>multithreading</a:t>
            </a:r>
            <a:r>
              <a:rPr lang="id-ID" dirty="0"/>
              <a:t> ada beberapa permasalahan yang perlu diperhatikan, di antaranya adalah </a:t>
            </a:r>
            <a:r>
              <a:rPr lang="id-ID" i="1" dirty="0" err="1"/>
              <a:t>thread</a:t>
            </a:r>
            <a:r>
              <a:rPr lang="id-ID" i="1" dirty="0"/>
              <a:t> </a:t>
            </a:r>
            <a:r>
              <a:rPr lang="id-ID" i="1" dirty="0" err="1"/>
              <a:t>cancellation</a:t>
            </a:r>
            <a:r>
              <a:rPr lang="id-ID" i="1" dirty="0"/>
              <a:t>, </a:t>
            </a:r>
            <a:r>
              <a:rPr lang="id-ID" dirty="0"/>
              <a:t>penanganan sinyal</a:t>
            </a:r>
            <a:r>
              <a:rPr lang="id-ID" i="1" dirty="0"/>
              <a:t>, </a:t>
            </a:r>
            <a:r>
              <a:rPr lang="id-ID" i="1" dirty="0" err="1"/>
              <a:t>thread-local</a:t>
            </a:r>
            <a:r>
              <a:rPr lang="id-ID" i="1" dirty="0"/>
              <a:t> </a:t>
            </a:r>
            <a:r>
              <a:rPr lang="id-ID" i="1" dirty="0" err="1"/>
              <a:t>storage</a:t>
            </a:r>
            <a:r>
              <a:rPr lang="id-ID" i="1" dirty="0"/>
              <a:t>, </a:t>
            </a:r>
            <a:r>
              <a:rPr lang="id-ID" dirty="0"/>
              <a:t>dan </a:t>
            </a:r>
            <a:r>
              <a:rPr lang="id-ID" dirty="0" err="1"/>
              <a:t>aktivasi</a:t>
            </a:r>
            <a:r>
              <a:rPr lang="id-ID" dirty="0"/>
              <a:t> </a:t>
            </a:r>
            <a:r>
              <a:rPr lang="id-ID" dirty="0" err="1"/>
              <a:t>penjadwal</a:t>
            </a:r>
            <a:r>
              <a:rPr lang="id-ID" dirty="0"/>
              <a:t>. Setiap permasalahan mempunyai solusi bermacam-macam dan pengembang harus pintar dalam memilih metode penyelesaian permasalahannya.</a:t>
            </a:r>
          </a:p>
          <a:p>
            <a:endParaRPr lang="id-ID" dirty="0"/>
          </a:p>
        </p:txBody>
      </p:sp>
    </p:spTree>
    <p:extLst>
      <p:ext uri="{BB962C8B-B14F-4D97-AF65-F5344CB8AC3E}">
        <p14:creationId xmlns:p14="http://schemas.microsoft.com/office/powerpoint/2010/main" val="29224005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2950</TotalTime>
  <Words>935</Words>
  <Application>Microsoft Office PowerPoint</Application>
  <PresentationFormat>Widescreen</PresentationFormat>
  <Paragraphs>73</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Britannic Bold</vt:lpstr>
      <vt:lpstr>Calibri</vt:lpstr>
      <vt:lpstr>Calibri Light</vt:lpstr>
      <vt:lpstr>Century Gothic</vt:lpstr>
      <vt:lpstr>Trebuchet MS</vt:lpstr>
      <vt:lpstr>Office Theme</vt:lpstr>
      <vt:lpstr>PowerPoint Presentation</vt:lpstr>
      <vt:lpstr>Proses</vt:lpstr>
      <vt:lpstr>Definis Proses</vt:lpstr>
      <vt:lpstr>Proses</vt:lpstr>
      <vt:lpstr>PowerPoint Presentation</vt:lpstr>
      <vt:lpstr>Keadaan Proses</vt:lpstr>
      <vt:lpstr>PowerPoint Presentation</vt:lpstr>
      <vt:lpstr>Process Control Block</vt:lpstr>
      <vt:lpstr>Process Control Block</vt:lpstr>
      <vt:lpstr>PowerPoint Presentation</vt:lpstr>
      <vt:lpstr>Komunikasi Antar Proses</vt:lpstr>
      <vt:lpstr>Keserempakan (Concurenccy)</vt:lpstr>
      <vt:lpstr>Thread</vt:lpstr>
      <vt:lpstr>Keuntungan Multithread </vt:lpstr>
      <vt:lpstr>Model-Model Multithreading</vt:lpstr>
      <vt:lpstr>Thread Library dan Implicit Threading</vt:lpstr>
      <vt:lpstr>Permasalahan pada Multithreading</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187</cp:revision>
  <dcterms:created xsi:type="dcterms:W3CDTF">2018-01-15T03:36:45Z</dcterms:created>
  <dcterms:modified xsi:type="dcterms:W3CDTF">2020-08-31T07:00:43Z</dcterms:modified>
</cp:coreProperties>
</file>