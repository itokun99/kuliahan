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86" r:id="rId10"/>
    <p:sldId id="277" r:id="rId11"/>
    <p:sldId id="285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MSIM4201 SISTEM OPERASI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2424136" y="3059668"/>
            <a:ext cx="71940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4 </a:t>
            </a:r>
          </a:p>
          <a:p>
            <a:pPr algn="ctr">
              <a:spcBef>
                <a:spcPct val="0"/>
              </a:spcBef>
              <a:buNone/>
            </a:pPr>
            <a:r>
              <a:rPr lang="en-US" sz="4000" dirty="0" err="1"/>
              <a:t>Manajemen</a:t>
            </a:r>
            <a:r>
              <a:rPr lang="en-US" sz="4000" dirty="0"/>
              <a:t> Proses</a:t>
            </a:r>
          </a:p>
          <a:p>
            <a:pPr algn="ctr">
              <a:spcBef>
                <a:spcPct val="0"/>
              </a:spcBef>
              <a:buNone/>
            </a:pPr>
            <a:r>
              <a:rPr lang="en-US" sz="4000" dirty="0"/>
              <a:t>(Synchronization dan Scheduling) </a:t>
            </a: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Permasalahan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b="1" i="1" dirty="0" err="1"/>
              <a:t>Mutual</a:t>
            </a:r>
            <a:r>
              <a:rPr lang="id-ID" b="1" i="1" dirty="0"/>
              <a:t> </a:t>
            </a:r>
            <a:r>
              <a:rPr lang="id-ID" b="1" i="1" dirty="0" err="1"/>
              <a:t>Exclusion</a:t>
            </a:r>
            <a:endParaRPr lang="id-ID" b="1" dirty="0"/>
          </a:p>
          <a:p>
            <a:pPr lvl="1"/>
            <a:r>
              <a:rPr lang="id-ID" dirty="0"/>
              <a:t>Jika proses </a:t>
            </a:r>
            <a:r>
              <a:rPr lang="id-ID" dirty="0" err="1"/>
              <a:t>Pi</a:t>
            </a:r>
            <a:r>
              <a:rPr lang="id-ID" dirty="0"/>
              <a:t> sedang dieksekusi pada bagian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 (dari proses </a:t>
            </a:r>
            <a:r>
              <a:rPr lang="id-ID" dirty="0" err="1"/>
              <a:t>Pi</a:t>
            </a:r>
            <a:r>
              <a:rPr lang="id-ID" dirty="0"/>
              <a:t>) maka tidak ada proses lain yang dapat dieksekusi pada bagian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 err="1"/>
              <a:t>nya</a:t>
            </a:r>
            <a:r>
              <a:rPr lang="id-ID" dirty="0"/>
              <a:t>.</a:t>
            </a:r>
            <a:endParaRPr lang="id-ID" b="1" dirty="0"/>
          </a:p>
          <a:p>
            <a:r>
              <a:rPr lang="id-ID" b="1" i="1" dirty="0" err="1"/>
              <a:t>Progress</a:t>
            </a:r>
            <a:endParaRPr lang="id-ID" b="1" dirty="0"/>
          </a:p>
          <a:p>
            <a:pPr lvl="1"/>
            <a:r>
              <a:rPr lang="id-ID" dirty="0"/>
              <a:t>Jika tidak ada proses yang sedang eksekusi pada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 err="1"/>
              <a:t>nya</a:t>
            </a:r>
            <a:r>
              <a:rPr lang="id-ID" dirty="0"/>
              <a:t> dan terdapat beberapa proses lain yang ingin masuk ke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, maka pemilihan siapa yang masuk ke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 tidak dapat ditunda tanpa terbatas.</a:t>
            </a:r>
          </a:p>
          <a:p>
            <a:r>
              <a:rPr lang="id-ID" b="1" dirty="0"/>
              <a:t> </a:t>
            </a:r>
            <a:r>
              <a:rPr lang="id-ID" b="1" i="1" dirty="0" err="1"/>
              <a:t>Bounded</a:t>
            </a:r>
            <a:r>
              <a:rPr lang="id-ID" b="1" i="1" dirty="0"/>
              <a:t> </a:t>
            </a:r>
            <a:r>
              <a:rPr lang="id-ID" b="1" i="1" dirty="0" err="1"/>
              <a:t>Waiting</a:t>
            </a:r>
            <a:endParaRPr lang="id-ID" b="1" dirty="0"/>
          </a:p>
          <a:p>
            <a:pPr lvl="1"/>
            <a:r>
              <a:rPr lang="id-ID" dirty="0"/>
              <a:t>Terdapat batasan berapa lama suatu proses harus menunggu giliran untuk mengakses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 </a:t>
            </a:r>
            <a:r>
              <a:rPr lang="id-ID" dirty="0" err="1"/>
              <a:t>seandainya</a:t>
            </a:r>
            <a:r>
              <a:rPr lang="id-ID" dirty="0"/>
              <a:t> proses lain yang diberikan hak akses ke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. Hal ini digunakan untuk menjamin proses dapat mengakses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r>
              <a:rPr lang="id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Permasalahan </a:t>
            </a:r>
            <a:r>
              <a:rPr lang="id-ID" i="1" dirty="0" err="1"/>
              <a:t>Critical</a:t>
            </a:r>
            <a:r>
              <a:rPr lang="id-ID" i="1" dirty="0"/>
              <a:t> </a:t>
            </a:r>
            <a:r>
              <a:rPr lang="id-ID" i="1" dirty="0" err="1"/>
              <a:t>section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Untuk mengatasi masalah </a:t>
            </a:r>
            <a:r>
              <a:rPr lang="id-ID" dirty="0" err="1"/>
              <a:t>critical</a:t>
            </a:r>
            <a:r>
              <a:rPr lang="id-ID" dirty="0"/>
              <a:t> </a:t>
            </a:r>
            <a:r>
              <a:rPr lang="id-ID" dirty="0" err="1"/>
              <a:t>section</a:t>
            </a:r>
            <a:r>
              <a:rPr lang="id-ID" dirty="0"/>
              <a:t> dapat dilakukan dengan beberapa metode antara lain:</a:t>
            </a:r>
          </a:p>
          <a:p>
            <a:pPr lvl="1"/>
            <a:r>
              <a:rPr lang="id-ID" dirty="0"/>
              <a:t>Solusi Peterson </a:t>
            </a:r>
          </a:p>
          <a:p>
            <a:pPr lvl="1"/>
            <a:r>
              <a:rPr lang="id-ID" dirty="0"/>
              <a:t>Penggunaan Kunci (</a:t>
            </a:r>
            <a:r>
              <a:rPr lang="id-ID" i="1" dirty="0" err="1"/>
              <a:t>Lock</a:t>
            </a:r>
            <a:r>
              <a:rPr lang="id-ID" dirty="0"/>
              <a:t>)</a:t>
            </a:r>
          </a:p>
          <a:p>
            <a:pPr lvl="1"/>
            <a:r>
              <a:rPr lang="id-ID" dirty="0"/>
              <a:t>Sinkronisasi Perangkat Keras</a:t>
            </a:r>
          </a:p>
          <a:p>
            <a:pPr lvl="1"/>
            <a:r>
              <a:rPr lang="id-ID" dirty="0"/>
              <a:t>Solusi dengan instruksi </a:t>
            </a:r>
            <a:r>
              <a:rPr lang="id-ID" dirty="0" err="1"/>
              <a:t>TestAndSet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2181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Semaphore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Semaphore</a:t>
            </a:r>
            <a:r>
              <a:rPr lang="id-ID" dirty="0"/>
              <a:t> adalah salah satu cara sinkronisasi yang tidak membutuhkan penungguan </a:t>
            </a:r>
            <a:r>
              <a:rPr lang="id-ID" i="1" dirty="0" err="1"/>
              <a:t>busy</a:t>
            </a:r>
            <a:r>
              <a:rPr lang="id-ID" i="1" dirty="0"/>
              <a:t> </a:t>
            </a:r>
            <a:r>
              <a:rPr lang="id-ID" i="1" dirty="0" err="1"/>
              <a:t>waiting</a:t>
            </a:r>
            <a:r>
              <a:rPr lang="id-ID" dirty="0"/>
              <a:t>. Prinsip kerja </a:t>
            </a:r>
            <a:r>
              <a:rPr lang="id-ID" dirty="0" err="1"/>
              <a:t>semaphore</a:t>
            </a:r>
            <a:r>
              <a:rPr lang="id-ID" dirty="0"/>
              <a:t> adalah suatu penanda digunakan sebagai media kerja sama dari beberapa proses. Proses-proses dipaksa berhenti sampai menerima tanda tertentu. Penanda ini disebut </a:t>
            </a:r>
            <a:r>
              <a:rPr lang="id-ID" dirty="0" err="1"/>
              <a:t>semaphore</a:t>
            </a:r>
            <a:r>
              <a:rPr lang="id-ID" dirty="0"/>
              <a:t>. 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361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Deadlock</a:t>
            </a:r>
            <a:r>
              <a:rPr lang="id-ID" dirty="0"/>
              <a:t> dan </a:t>
            </a:r>
            <a:r>
              <a:rPr lang="id-ID" dirty="0" err="1"/>
              <a:t>Starvation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Deadlock</a:t>
            </a:r>
            <a:r>
              <a:rPr lang="id-ID" dirty="0"/>
              <a:t> terjadi jika dua atau lebih proses menunggu tanpa ada batas (tak terbatas) waktu</a:t>
            </a:r>
          </a:p>
          <a:p>
            <a:endParaRPr lang="id-ID" dirty="0"/>
          </a:p>
          <a:p>
            <a:r>
              <a:rPr lang="id-ID" dirty="0" err="1"/>
              <a:t>Starvation</a:t>
            </a:r>
            <a:r>
              <a:rPr lang="id-ID" dirty="0"/>
              <a:t> terjadi jika suatu proses tidak mendapatkan </a:t>
            </a:r>
            <a:r>
              <a:rPr lang="id-ID" dirty="0" err="1"/>
              <a:t>resource</a:t>
            </a:r>
            <a:r>
              <a:rPr lang="id-ID" dirty="0"/>
              <a:t> yang diminta atau tidak dapat menjalankan </a:t>
            </a:r>
            <a:r>
              <a:rPr lang="id-ID" dirty="0" err="1"/>
              <a:t>critical</a:t>
            </a:r>
            <a:r>
              <a:rPr lang="id-ID" i="1" dirty="0"/>
              <a:t> </a:t>
            </a:r>
            <a:r>
              <a:rPr lang="id-ID" dirty="0" err="1"/>
              <a:t>sectionnya</a:t>
            </a:r>
            <a:r>
              <a:rPr lang="id-ID" dirty="0"/>
              <a:t> dalam jangka waktu yang sangat lama</a:t>
            </a:r>
          </a:p>
        </p:txBody>
      </p:sp>
    </p:spTree>
    <p:extLst>
      <p:ext uri="{BB962C8B-B14F-4D97-AF65-F5344CB8AC3E}">
        <p14:creationId xmlns:p14="http://schemas.microsoft.com/office/powerpoint/2010/main" val="286415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Deadlock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Karakteristik </a:t>
            </a:r>
            <a:r>
              <a:rPr lang="id-ID" dirty="0" err="1"/>
              <a:t>Deadlock</a:t>
            </a:r>
            <a:endParaRPr lang="id-ID" dirty="0"/>
          </a:p>
          <a:p>
            <a:pPr lvl="1"/>
            <a:r>
              <a:rPr lang="id-ID" i="1" dirty="0" err="1"/>
              <a:t>Mutual</a:t>
            </a:r>
            <a:r>
              <a:rPr lang="id-ID" i="1" dirty="0"/>
              <a:t> </a:t>
            </a:r>
            <a:r>
              <a:rPr lang="id-ID" i="1" dirty="0" err="1"/>
              <a:t>exclusion</a:t>
            </a:r>
            <a:endParaRPr lang="id-ID" i="1" dirty="0"/>
          </a:p>
          <a:p>
            <a:pPr lvl="1"/>
            <a:r>
              <a:rPr lang="id-ID" i="1" dirty="0" err="1"/>
              <a:t>Hold</a:t>
            </a:r>
            <a:r>
              <a:rPr lang="id-ID" i="1" dirty="0"/>
              <a:t> </a:t>
            </a:r>
            <a:r>
              <a:rPr lang="id-ID" i="1" dirty="0" err="1"/>
              <a:t>and</a:t>
            </a:r>
            <a:r>
              <a:rPr lang="id-ID" i="1" dirty="0"/>
              <a:t> </a:t>
            </a:r>
            <a:r>
              <a:rPr lang="id-ID" i="1" dirty="0" err="1"/>
              <a:t>Wait</a:t>
            </a:r>
            <a:endParaRPr lang="id-ID" i="1" dirty="0"/>
          </a:p>
          <a:p>
            <a:pPr lvl="1"/>
            <a:r>
              <a:rPr lang="id-ID" i="1" dirty="0" err="1"/>
              <a:t>No</a:t>
            </a:r>
            <a:r>
              <a:rPr lang="id-ID" i="1" dirty="0"/>
              <a:t> </a:t>
            </a:r>
            <a:r>
              <a:rPr lang="id-ID" i="1" dirty="0" err="1"/>
              <a:t>preemption</a:t>
            </a:r>
            <a:endParaRPr lang="id-ID" i="1" dirty="0"/>
          </a:p>
          <a:p>
            <a:pPr lvl="1"/>
            <a:r>
              <a:rPr lang="id-ID" i="1" dirty="0" err="1"/>
              <a:t>Circular</a:t>
            </a:r>
            <a:r>
              <a:rPr lang="id-ID" i="1" dirty="0"/>
              <a:t> </a:t>
            </a:r>
            <a:r>
              <a:rPr lang="id-ID" i="1" dirty="0" err="1"/>
              <a:t>wait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9204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Cara Mengatasi </a:t>
            </a:r>
            <a:r>
              <a:rPr lang="id-ID" dirty="0" err="1"/>
              <a:t>Deadlock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Pastikan bahwa sistem tidak akan memasuki keadaan </a:t>
            </a:r>
            <a:r>
              <a:rPr lang="id-ID" dirty="0" err="1"/>
              <a:t>deadlock</a:t>
            </a:r>
            <a:r>
              <a:rPr lang="id-ID" dirty="0"/>
              <a:t>. </a:t>
            </a:r>
          </a:p>
          <a:p>
            <a:r>
              <a:rPr lang="id-ID" dirty="0"/>
              <a:t>Memungkinkan sistem untuk memasuki keadaan </a:t>
            </a:r>
            <a:r>
              <a:rPr lang="id-ID" dirty="0" err="1"/>
              <a:t>deadlock</a:t>
            </a:r>
            <a:r>
              <a:rPr lang="id-ID" dirty="0"/>
              <a:t> dan kemudian pulihkan.</a:t>
            </a:r>
          </a:p>
          <a:p>
            <a:r>
              <a:rPr lang="id-ID" dirty="0"/>
              <a:t>Mengabaikan masalah ini dan berpura-pura bahwa </a:t>
            </a:r>
            <a:r>
              <a:rPr lang="id-ID" dirty="0" err="1"/>
              <a:t>deadlock</a:t>
            </a:r>
            <a:r>
              <a:rPr lang="id-ID" dirty="0"/>
              <a:t> tidak pernah terjadi dalam sistem. Ini yang digunakan oleh sebagian besar sistem operasi, termasuk UNIX.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7155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Masalah Klasik pada Sinkronisasi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Masalah </a:t>
            </a:r>
            <a:r>
              <a:rPr lang="id-ID" i="1" dirty="0" err="1"/>
              <a:t>Bounded-Buffer</a:t>
            </a:r>
            <a:endParaRPr lang="id-ID" i="1" dirty="0"/>
          </a:p>
          <a:p>
            <a:r>
              <a:rPr lang="id-ID" dirty="0"/>
              <a:t>Masalah </a:t>
            </a:r>
            <a:r>
              <a:rPr lang="id-ID" i="1" dirty="0" err="1"/>
              <a:t>Readers</a:t>
            </a:r>
            <a:r>
              <a:rPr lang="id-ID" i="1" dirty="0"/>
              <a:t> </a:t>
            </a:r>
            <a:r>
              <a:rPr lang="id-ID" i="1" dirty="0" err="1"/>
              <a:t>and</a:t>
            </a:r>
            <a:r>
              <a:rPr lang="id-ID" i="1" dirty="0"/>
              <a:t> </a:t>
            </a:r>
            <a:r>
              <a:rPr lang="id-ID" i="1" dirty="0" err="1"/>
              <a:t>Writers</a:t>
            </a:r>
            <a:endParaRPr lang="id-ID" i="1" dirty="0"/>
          </a:p>
          <a:p>
            <a:r>
              <a:rPr lang="id-ID"/>
              <a:t>Masalah </a:t>
            </a:r>
            <a:r>
              <a:rPr lang="id-ID" i="1"/>
              <a:t>Dining-Philosophers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7440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Penjadwalan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Penjadwalan CPU ini bertugas untuk memilih di antara proses dalam memori yang siap untuk dieksekusi (berada di </a:t>
            </a:r>
            <a:r>
              <a:rPr lang="id-ID" i="1" dirty="0" err="1"/>
              <a:t>ready</a:t>
            </a:r>
            <a:r>
              <a:rPr lang="id-ID" i="1" dirty="0"/>
              <a:t> </a:t>
            </a:r>
            <a:r>
              <a:rPr lang="id-ID" i="1" dirty="0" err="1"/>
              <a:t>queue</a:t>
            </a:r>
            <a:r>
              <a:rPr lang="id-ID" dirty="0"/>
              <a:t>, lihat bab proses), dan kemudian mengalokasikan CPU untuk salah satu dari proses-proses tersebut</a:t>
            </a:r>
          </a:p>
        </p:txBody>
      </p:sp>
    </p:spTree>
    <p:extLst>
      <p:ext uri="{BB962C8B-B14F-4D97-AF65-F5344CB8AC3E}">
        <p14:creationId xmlns:p14="http://schemas.microsoft.com/office/powerpoint/2010/main" val="218202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Kriteria Penjadwalan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CPU </a:t>
            </a:r>
            <a:r>
              <a:rPr lang="id-ID" i="1" dirty="0" err="1"/>
              <a:t>Utilization</a:t>
            </a:r>
            <a:endParaRPr lang="id-ID" dirty="0"/>
          </a:p>
          <a:p>
            <a:r>
              <a:rPr lang="id-ID" i="1" dirty="0" err="1"/>
              <a:t>Throughput</a:t>
            </a:r>
            <a:endParaRPr lang="id-ID" dirty="0"/>
          </a:p>
          <a:p>
            <a:r>
              <a:rPr lang="id-ID" i="1" dirty="0" err="1"/>
              <a:t>Turnaround</a:t>
            </a:r>
            <a:r>
              <a:rPr lang="id-ID" i="1" dirty="0"/>
              <a:t> </a:t>
            </a:r>
            <a:r>
              <a:rPr lang="id-ID" i="1" dirty="0" err="1"/>
              <a:t>Time</a:t>
            </a:r>
            <a:endParaRPr lang="id-ID" dirty="0"/>
          </a:p>
          <a:p>
            <a:r>
              <a:rPr lang="id-ID" i="1" dirty="0" err="1"/>
              <a:t>Waiting</a:t>
            </a:r>
            <a:r>
              <a:rPr lang="id-ID" i="1" dirty="0"/>
              <a:t> </a:t>
            </a:r>
            <a:r>
              <a:rPr lang="id-ID" i="1" dirty="0" err="1"/>
              <a:t>Time</a:t>
            </a:r>
            <a:endParaRPr lang="id-ID" dirty="0"/>
          </a:p>
          <a:p>
            <a:r>
              <a:rPr lang="id-ID" i="1" dirty="0" err="1"/>
              <a:t>Response</a:t>
            </a:r>
            <a:r>
              <a:rPr lang="id-ID" i="1" dirty="0"/>
              <a:t> </a:t>
            </a:r>
            <a:r>
              <a:rPr lang="id-ID" i="1" dirty="0" err="1"/>
              <a:t>Time</a:t>
            </a:r>
            <a:r>
              <a:rPr lang="id-ID" i="1" dirty="0"/>
              <a:t> 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0386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Algoritma</a:t>
            </a:r>
            <a:r>
              <a:rPr lang="id-ID" dirty="0"/>
              <a:t> Penjadwalan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First </a:t>
            </a:r>
            <a:r>
              <a:rPr lang="id-ID" dirty="0" err="1"/>
              <a:t>Come</a:t>
            </a:r>
            <a:r>
              <a:rPr lang="id-ID" dirty="0"/>
              <a:t> First </a:t>
            </a:r>
            <a:r>
              <a:rPr lang="id-ID" dirty="0" err="1"/>
              <a:t>Served</a:t>
            </a:r>
            <a:r>
              <a:rPr lang="id-ID" dirty="0"/>
              <a:t> (FCFS)</a:t>
            </a:r>
          </a:p>
          <a:p>
            <a:r>
              <a:rPr lang="id-ID" dirty="0" err="1"/>
              <a:t>Shortest</a:t>
            </a:r>
            <a:r>
              <a:rPr lang="id-ID" dirty="0"/>
              <a:t> </a:t>
            </a:r>
            <a:r>
              <a:rPr lang="id-ID" dirty="0" err="1"/>
              <a:t>Job</a:t>
            </a:r>
            <a:r>
              <a:rPr lang="id-ID" dirty="0"/>
              <a:t> First (SJF)</a:t>
            </a:r>
          </a:p>
          <a:p>
            <a:r>
              <a:rPr lang="id-ID" dirty="0"/>
              <a:t>Prioritas</a:t>
            </a:r>
          </a:p>
          <a:p>
            <a:r>
              <a:rPr lang="id-ID" dirty="0" err="1"/>
              <a:t>Round</a:t>
            </a:r>
            <a:r>
              <a:rPr lang="id-ID" dirty="0"/>
              <a:t> Robin (RR)</a:t>
            </a:r>
          </a:p>
        </p:txBody>
      </p:sp>
    </p:spTree>
    <p:extLst>
      <p:ext uri="{BB962C8B-B14F-4D97-AF65-F5344CB8AC3E}">
        <p14:creationId xmlns:p14="http://schemas.microsoft.com/office/powerpoint/2010/main" val="311635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386</Words>
  <Application>Microsoft Office PowerPoint</Application>
  <PresentationFormat>Widescreen</PresentationFormat>
  <Paragraphs>57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Office Theme</vt:lpstr>
      <vt:lpstr>PowerPoint Presentation</vt:lpstr>
      <vt:lpstr>Permasalahan Critical section</vt:lpstr>
      <vt:lpstr>Permasalahan Critical section</vt:lpstr>
      <vt:lpstr>Semaphore</vt:lpstr>
      <vt:lpstr>Deadlock dan Starvation</vt:lpstr>
      <vt:lpstr>Deadlock</vt:lpstr>
      <vt:lpstr>Cara Mengatasi Deadlock</vt:lpstr>
      <vt:lpstr>Masalah Klasik pada Sinkronisasi</vt:lpstr>
      <vt:lpstr>Penjadwalan</vt:lpstr>
      <vt:lpstr>Kriteria Penjadwalan </vt:lpstr>
      <vt:lpstr>Algoritma Penjadwalan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184</cp:revision>
  <dcterms:created xsi:type="dcterms:W3CDTF">2018-01-15T03:36:45Z</dcterms:created>
  <dcterms:modified xsi:type="dcterms:W3CDTF">2020-08-31T07:12:43Z</dcterms:modified>
</cp:coreProperties>
</file>