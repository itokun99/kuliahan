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4630" autoAdjust="0"/>
  </p:normalViewPr>
  <p:slideViewPr>
    <p:cSldViewPr snapToGrid="0">
      <p:cViewPr varScale="1">
        <p:scale>
          <a:sx n="64" d="100"/>
          <a:sy n="64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 dirty="0"/>
              <a:t>MATERI PENGAYAAAN </a:t>
            </a:r>
          </a:p>
          <a:p>
            <a:pPr algn="ctr">
              <a:buNone/>
            </a:pPr>
            <a:r>
              <a:rPr lang="id-ID" sz="2400" b="1" dirty="0"/>
              <a:t>MSIM4201 SISTEM OPERASI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2800906" y="3059668"/>
            <a:ext cx="644048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 dirty="0"/>
              <a:t>SESI 1 </a:t>
            </a:r>
          </a:p>
          <a:p>
            <a:pPr algn="ctr">
              <a:spcBef>
                <a:spcPct val="0"/>
              </a:spcBef>
              <a:buNone/>
            </a:pPr>
            <a:r>
              <a:rPr lang="id-ID" sz="4000" dirty="0"/>
              <a:t>Manajemen Memori </a:t>
            </a:r>
          </a:p>
          <a:p>
            <a:pPr algn="ctr">
              <a:spcBef>
                <a:spcPct val="0"/>
              </a:spcBef>
              <a:buNone/>
            </a:pPr>
            <a:r>
              <a:rPr lang="id-ID" sz="4000" dirty="0"/>
              <a:t>(</a:t>
            </a:r>
            <a:r>
              <a:rPr lang="id-ID" sz="4000" dirty="0" err="1"/>
              <a:t>Caching</a:t>
            </a:r>
            <a:r>
              <a:rPr lang="id-ID" sz="4000" dirty="0"/>
              <a:t> dan Virtual </a:t>
            </a:r>
            <a:r>
              <a:rPr lang="id-ID" sz="4000" dirty="0" err="1"/>
              <a:t>Memory</a:t>
            </a:r>
            <a:r>
              <a:rPr lang="id-ID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i="1" dirty="0" err="1"/>
              <a:t>Cache</a:t>
            </a:r>
            <a:r>
              <a:rPr lang="id-ID" i="1" dirty="0"/>
              <a:t> </a:t>
            </a:r>
            <a:r>
              <a:rPr lang="id-ID" i="1" dirty="0" err="1"/>
              <a:t>Memory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Cache</a:t>
            </a:r>
            <a:r>
              <a:rPr lang="id-ID" dirty="0"/>
              <a:t> </a:t>
            </a:r>
            <a:r>
              <a:rPr lang="id-ID" dirty="0" err="1"/>
              <a:t>memory</a:t>
            </a:r>
            <a:r>
              <a:rPr lang="id-ID" dirty="0"/>
              <a:t> merupakan sebuah memori </a:t>
            </a:r>
            <a:r>
              <a:rPr lang="id-ID" dirty="0" err="1"/>
              <a:t>semiconductor</a:t>
            </a:r>
            <a:r>
              <a:rPr lang="id-ID" dirty="0"/>
              <a:t> berukuran kecil, berfungsi sebagai </a:t>
            </a:r>
            <a:r>
              <a:rPr lang="id-ID" dirty="0" err="1"/>
              <a:t>buffer</a:t>
            </a:r>
            <a:r>
              <a:rPr lang="id-ID" dirty="0"/>
              <a:t> untuk menyimpan </a:t>
            </a:r>
            <a:r>
              <a:rPr lang="id-ID" dirty="0" err="1"/>
              <a:t>serangkaian</a:t>
            </a:r>
            <a:r>
              <a:rPr lang="id-ID" dirty="0"/>
              <a:t> data atau instruksi yang berasal dari memori lain yang relatif lebih lambat</a:t>
            </a:r>
            <a:r>
              <a:rPr lang="id-ID" i="1" dirty="0"/>
              <a:t>, </a:t>
            </a:r>
            <a:r>
              <a:rPr lang="id-ID" dirty="0"/>
              <a:t>Biasanya </a:t>
            </a:r>
            <a:r>
              <a:rPr lang="id-ID" dirty="0" err="1"/>
              <a:t>cache</a:t>
            </a:r>
            <a:r>
              <a:rPr lang="id-ID" dirty="0"/>
              <a:t> </a:t>
            </a:r>
            <a:r>
              <a:rPr lang="id-ID" dirty="0" err="1"/>
              <a:t>memory</a:t>
            </a:r>
            <a:r>
              <a:rPr lang="id-ID" dirty="0"/>
              <a:t> berkecepatan tinggi yang digunakan komputer untuk menampung sebagian isi memori utama yang sedang digunakan.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id-ID" dirty="0"/>
              <a:t>Penggambaran piramida tersebut menampilkan semakin </a:t>
            </a:r>
            <a:r>
              <a:rPr lang="id-ID" dirty="0" err="1"/>
              <a:t>keatas</a:t>
            </a:r>
            <a:r>
              <a:rPr lang="id-ID" dirty="0"/>
              <a:t> ukuran semakin kecil, dan kecepatan semakin </a:t>
            </a:r>
            <a:r>
              <a:rPr lang="id-ID" dirty="0" err="1"/>
              <a:t>keatas</a:t>
            </a:r>
            <a:r>
              <a:rPr lang="id-ID" dirty="0"/>
              <a:t> semakin cepat, serta harga semakin </a:t>
            </a:r>
            <a:r>
              <a:rPr lang="id-ID" dirty="0" err="1"/>
              <a:t>keatas</a:t>
            </a:r>
            <a:r>
              <a:rPr lang="id-ID" dirty="0"/>
              <a:t> semakin mahal. Sebaliknya, Berdasarkan kapasitas dari atas ke bawah ukuran kapasitas semakin besar dan kecepatan makin lambat serta biaya makin murah.</a:t>
            </a:r>
          </a:p>
          <a:p>
            <a:endParaRPr lang="id-ID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9CAE5B-6654-4064-A420-6B3E9AF1B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0" r="8537"/>
          <a:stretch>
            <a:fillRect/>
          </a:stretch>
        </p:blipFill>
        <p:spPr bwMode="auto">
          <a:xfrm>
            <a:off x="5943086" y="1727994"/>
            <a:ext cx="6248914" cy="476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212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id-ID" dirty="0"/>
              <a:t>Elemen Perancangan </a:t>
            </a:r>
            <a:r>
              <a:rPr lang="id-ID" i="1" dirty="0" err="1"/>
              <a:t>Cache</a:t>
            </a:r>
            <a:r>
              <a:rPr lang="id-ID" i="1" dirty="0"/>
              <a:t> </a:t>
            </a:r>
            <a:r>
              <a:rPr lang="id-ID" i="1" dirty="0" err="1"/>
              <a:t>Memory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i="1" dirty="0" err="1"/>
              <a:t>Cache</a:t>
            </a:r>
            <a:r>
              <a:rPr lang="id-ID" i="1" dirty="0"/>
              <a:t> </a:t>
            </a:r>
            <a:r>
              <a:rPr lang="id-ID" i="1" dirty="0" err="1"/>
              <a:t>Address</a:t>
            </a:r>
            <a:endParaRPr lang="id-ID" i="1" dirty="0"/>
          </a:p>
          <a:p>
            <a:r>
              <a:rPr lang="id-ID" i="1" dirty="0" err="1"/>
              <a:t>Cache</a:t>
            </a:r>
            <a:r>
              <a:rPr lang="id-ID" i="1" dirty="0"/>
              <a:t> </a:t>
            </a:r>
            <a:r>
              <a:rPr lang="id-ID" i="1" dirty="0" err="1"/>
              <a:t>Size</a:t>
            </a:r>
            <a:endParaRPr lang="id-ID" i="1" dirty="0"/>
          </a:p>
          <a:p>
            <a:r>
              <a:rPr lang="id-ID" i="1" dirty="0" err="1"/>
              <a:t>Mapping</a:t>
            </a:r>
            <a:r>
              <a:rPr lang="id-ID" i="1" dirty="0"/>
              <a:t> </a:t>
            </a:r>
            <a:r>
              <a:rPr lang="id-ID" i="1" dirty="0" err="1"/>
              <a:t>Function</a:t>
            </a:r>
            <a:endParaRPr lang="id-ID" i="1" dirty="0"/>
          </a:p>
          <a:p>
            <a:r>
              <a:rPr lang="id-ID" i="1" dirty="0" err="1"/>
              <a:t>Replacement</a:t>
            </a:r>
            <a:r>
              <a:rPr lang="id-ID" i="1" dirty="0"/>
              <a:t> </a:t>
            </a:r>
            <a:r>
              <a:rPr lang="id-ID" i="1" dirty="0" err="1"/>
              <a:t>Algorithms</a:t>
            </a:r>
            <a:endParaRPr lang="id-ID" i="1" dirty="0"/>
          </a:p>
          <a:p>
            <a:r>
              <a:rPr lang="id-ID" i="1" dirty="0" err="1"/>
              <a:t>Write</a:t>
            </a:r>
            <a:r>
              <a:rPr lang="id-ID" i="1" dirty="0"/>
              <a:t> </a:t>
            </a:r>
            <a:r>
              <a:rPr lang="id-ID" i="1" dirty="0" err="1"/>
              <a:t>Policy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138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i="1" dirty="0" err="1"/>
              <a:t>Swapping</a:t>
            </a:r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98843" cy="4351338"/>
          </a:xfrm>
        </p:spPr>
        <p:txBody>
          <a:bodyPr/>
          <a:lstStyle/>
          <a:p>
            <a:r>
              <a:rPr lang="id-ID" dirty="0"/>
              <a:t>Peranan </a:t>
            </a:r>
            <a:r>
              <a:rPr lang="id-ID" dirty="0" err="1"/>
              <a:t>backing</a:t>
            </a:r>
            <a:r>
              <a:rPr lang="id-ID" dirty="0"/>
              <a:t> </a:t>
            </a:r>
            <a:r>
              <a:rPr lang="id-ID" dirty="0" err="1"/>
              <a:t>store</a:t>
            </a:r>
            <a:r>
              <a:rPr lang="id-ID" dirty="0"/>
              <a:t>, sebagai </a:t>
            </a:r>
            <a:r>
              <a:rPr lang="id-ID" dirty="0" err="1"/>
              <a:t>disk</a:t>
            </a:r>
            <a:r>
              <a:rPr lang="id-ID" dirty="0"/>
              <a:t> yang cepat dan cukup besar untuk mengakomodasi </a:t>
            </a:r>
            <a:r>
              <a:rPr lang="id-ID" dirty="0" err="1"/>
              <a:t>copy</a:t>
            </a:r>
            <a:r>
              <a:rPr lang="id-ID" dirty="0"/>
              <a:t> semua memori </a:t>
            </a:r>
            <a:r>
              <a:rPr lang="id-ID" dirty="0" err="1"/>
              <a:t>image</a:t>
            </a:r>
            <a:r>
              <a:rPr lang="id-ID" dirty="0"/>
              <a:t> pada semua </a:t>
            </a:r>
            <a:r>
              <a:rPr lang="id-ID" dirty="0" err="1"/>
              <a:t>user</a:t>
            </a:r>
            <a:r>
              <a:rPr lang="id-ID" dirty="0"/>
              <a:t>; menyediakan akses langsung ke memori </a:t>
            </a:r>
            <a:r>
              <a:rPr lang="id-ID" dirty="0" err="1"/>
              <a:t>image</a:t>
            </a:r>
            <a:r>
              <a:rPr lang="id-ID" dirty="0"/>
              <a:t> (Kusumadewi, 2002)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A8857422-9799-486B-90C1-36C0B3B17460}"/>
              </a:ext>
            </a:extLst>
          </p:cNvPr>
          <p:cNvGrpSpPr>
            <a:grpSpLocks/>
          </p:cNvGrpSpPr>
          <p:nvPr/>
        </p:nvGrpSpPr>
        <p:grpSpPr bwMode="auto">
          <a:xfrm>
            <a:off x="5933660" y="1450823"/>
            <a:ext cx="5420139" cy="3598256"/>
            <a:chOff x="1918" y="2450"/>
            <a:chExt cx="9930" cy="7491"/>
          </a:xfrm>
        </p:grpSpPr>
        <p:pic>
          <p:nvPicPr>
            <p:cNvPr id="2051" name="Picture 3">
              <a:extLst>
                <a:ext uri="{FF2B5EF4-FFF2-40B4-BE49-F238E27FC236}">
                  <a16:creationId xmlns:a16="http://schemas.microsoft.com/office/drawing/2014/main" id="{8AC6DDB1-914B-4A70-8DCC-D40EE21CE2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8" y="2539"/>
              <a:ext cx="9750" cy="73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7DF010AD-13CB-4D32-8C99-B7559D657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5" y="2450"/>
              <a:ext cx="0" cy="7490"/>
            </a:xfrm>
            <a:prstGeom prst="line">
              <a:avLst/>
            </a:prstGeom>
            <a:noFill/>
            <a:ln w="3429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178B7650-9513-4C7A-B934-47546142D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2" y="2477"/>
              <a:ext cx="9822" cy="0"/>
            </a:xfrm>
            <a:prstGeom prst="line">
              <a:avLst/>
            </a:prstGeom>
            <a:noFill/>
            <a:ln w="3429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9C23B928-0E7B-4AA7-A9C8-DB49EB018C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1" y="2450"/>
              <a:ext cx="0" cy="7490"/>
            </a:xfrm>
            <a:prstGeom prst="line">
              <a:avLst/>
            </a:prstGeom>
            <a:noFill/>
            <a:ln w="3429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F31E773A-4EC1-4508-901C-AD0849BA10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2" y="9913"/>
              <a:ext cx="9822" cy="0"/>
            </a:xfrm>
            <a:prstGeom prst="line">
              <a:avLst/>
            </a:prstGeom>
            <a:noFill/>
            <a:ln w="3429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28D982F-345D-4400-BE17-854511607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9" y="2522"/>
              <a:ext cx="0" cy="7346"/>
            </a:xfrm>
            <a:prstGeom prst="line">
              <a:avLst/>
            </a:prstGeom>
            <a:noFill/>
            <a:ln w="1143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454D8269-E9E8-4B03-BE87-EFB179849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8" y="2531"/>
              <a:ext cx="9750" cy="0"/>
            </a:xfrm>
            <a:prstGeom prst="line">
              <a:avLst/>
            </a:prstGeom>
            <a:noFill/>
            <a:ln w="1142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061ABA41-8E0F-448A-AE02-976697FB5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67" y="2522"/>
              <a:ext cx="0" cy="7346"/>
            </a:xfrm>
            <a:prstGeom prst="line">
              <a:avLst/>
            </a:prstGeom>
            <a:noFill/>
            <a:ln w="1143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F58A933E-5D97-4155-BC2B-71AEBF68F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8" y="9859"/>
              <a:ext cx="9750" cy="0"/>
            </a:xfrm>
            <a:prstGeom prst="line">
              <a:avLst/>
            </a:prstGeom>
            <a:noFill/>
            <a:ln w="1143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1C9D651-C4C7-4DBE-811D-C2B78E4F6281}"/>
              </a:ext>
            </a:extLst>
          </p:cNvPr>
          <p:cNvSpPr/>
          <p:nvPr/>
        </p:nvSpPr>
        <p:spPr>
          <a:xfrm>
            <a:off x="5595729" y="517420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id-ID" dirty="0" err="1"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Swapping</a:t>
            </a:r>
            <a:r>
              <a:rPr lang="id-ID" dirty="0"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Dua Proses Menggunakan </a:t>
            </a:r>
            <a:r>
              <a:rPr lang="id-ID" dirty="0" err="1"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id-ID" dirty="0"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sebagai Penyimpanan Sementara</a:t>
            </a:r>
          </a:p>
        </p:txBody>
      </p:sp>
    </p:spTree>
    <p:extLst>
      <p:ext uri="{BB962C8B-B14F-4D97-AF65-F5344CB8AC3E}">
        <p14:creationId xmlns:p14="http://schemas.microsoft.com/office/powerpoint/2010/main" val="216037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Contiguous</a:t>
            </a:r>
            <a:r>
              <a:rPr lang="id-ID" dirty="0"/>
              <a:t> </a:t>
            </a:r>
            <a:r>
              <a:rPr lang="id-ID" dirty="0" err="1"/>
              <a:t>Memory</a:t>
            </a:r>
            <a:r>
              <a:rPr lang="id-ID" dirty="0"/>
              <a:t> </a:t>
            </a:r>
            <a:r>
              <a:rPr lang="id-ID" dirty="0" err="1"/>
              <a:t>Allocation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Pada alokasi memori yang berdekatan, biasanya membandingkan dua bagian memori utama yaitu:</a:t>
            </a:r>
          </a:p>
          <a:p>
            <a:pPr lvl="1"/>
            <a:r>
              <a:rPr lang="id-ID" i="1" dirty="0" err="1"/>
              <a:t>Resident</a:t>
            </a:r>
            <a:r>
              <a:rPr lang="id-ID" i="1" dirty="0"/>
              <a:t> </a:t>
            </a:r>
            <a:r>
              <a:rPr lang="id-ID" i="1" dirty="0" err="1"/>
              <a:t>operating</a:t>
            </a:r>
            <a:r>
              <a:rPr lang="id-ID" i="1" dirty="0"/>
              <a:t> </a:t>
            </a:r>
            <a:r>
              <a:rPr lang="id-ID" i="1" dirty="0" err="1"/>
              <a:t>system</a:t>
            </a:r>
            <a:r>
              <a:rPr lang="id-ID" dirty="0"/>
              <a:t>, pada bagian ini biasanya tersimpan dialamat memori rendah termasuk </a:t>
            </a:r>
            <a:r>
              <a:rPr lang="id-ID" i="1" dirty="0" err="1"/>
              <a:t>interrupt</a:t>
            </a:r>
            <a:r>
              <a:rPr lang="id-ID" i="1" dirty="0"/>
              <a:t> </a:t>
            </a:r>
            <a:r>
              <a:rPr lang="id-ID" i="1" dirty="0" err="1"/>
              <a:t>vector</a:t>
            </a:r>
            <a:r>
              <a:rPr lang="id-ID" dirty="0"/>
              <a:t>.</a:t>
            </a:r>
          </a:p>
          <a:p>
            <a:pPr lvl="1"/>
            <a:r>
              <a:rPr lang="id-ID" i="1" dirty="0" err="1"/>
              <a:t>User</a:t>
            </a:r>
            <a:r>
              <a:rPr lang="id-ID" i="1" dirty="0"/>
              <a:t> </a:t>
            </a:r>
            <a:r>
              <a:rPr lang="id-ID" i="1" dirty="0" err="1"/>
              <a:t>process</a:t>
            </a:r>
            <a:r>
              <a:rPr lang="id-ID" dirty="0"/>
              <a:t>, pada bagian ini biasanya menggunakan memori beralamat tinggi/besar.</a:t>
            </a:r>
          </a:p>
          <a:p>
            <a:r>
              <a:rPr lang="id-ID" dirty="0"/>
              <a:t>Sementara pada saat yang bersamaan, proses berada di memori secara bersamaan sehingga memerlukan beberapa pertimbangan untuk mengalokasikan memori yang tersedia, yaitu </a:t>
            </a:r>
            <a:r>
              <a:rPr lang="id-ID" b="1" dirty="0"/>
              <a:t>proteksi memori, </a:t>
            </a:r>
            <a:r>
              <a:rPr lang="id-ID" b="1" dirty="0" err="1"/>
              <a:t>memory</a:t>
            </a:r>
            <a:r>
              <a:rPr lang="id-ID" b="1" dirty="0"/>
              <a:t> </a:t>
            </a:r>
            <a:r>
              <a:rPr lang="id-ID" b="1" dirty="0" err="1"/>
              <a:t>allocation</a:t>
            </a:r>
            <a:r>
              <a:rPr lang="id-ID" b="1" dirty="0"/>
              <a:t>, </a:t>
            </a:r>
            <a:r>
              <a:rPr lang="id-ID" b="1" dirty="0" err="1"/>
              <a:t>fragmentation</a:t>
            </a:r>
            <a:r>
              <a:rPr lang="id-ID" dirty="0"/>
              <a:t>.</a:t>
            </a:r>
          </a:p>
          <a:p>
            <a:endParaRPr lang="id-ID" dirty="0"/>
          </a:p>
          <a:p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7235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i="1" dirty="0" err="1"/>
              <a:t>Segmentation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Segmentasi merupakan skema manajemen memori yang mendukung cara pandang seorang </a:t>
            </a:r>
            <a:r>
              <a:rPr lang="id-ID" dirty="0" err="1"/>
              <a:t>programmer</a:t>
            </a:r>
            <a:r>
              <a:rPr lang="id-ID" dirty="0"/>
              <a:t> terhadap memori. </a:t>
            </a:r>
          </a:p>
        </p:txBody>
      </p:sp>
      <p:pic>
        <p:nvPicPr>
          <p:cNvPr id="3074" name="Picture 6">
            <a:extLst>
              <a:ext uri="{FF2B5EF4-FFF2-40B4-BE49-F238E27FC236}">
                <a16:creationId xmlns:a16="http://schemas.microsoft.com/office/drawing/2014/main" id="{95D9B91F-8C53-4A5A-8148-5704AC652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356" y="2716395"/>
            <a:ext cx="3951287" cy="287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051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Paging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i="1" dirty="0" err="1"/>
              <a:t>Paging</a:t>
            </a:r>
            <a:r>
              <a:rPr lang="id-ID" dirty="0"/>
              <a:t> merupakan </a:t>
            </a:r>
            <a:r>
              <a:rPr lang="id-ID" dirty="0" err="1"/>
              <a:t>metoda</a:t>
            </a:r>
            <a:r>
              <a:rPr lang="id-ID" dirty="0"/>
              <a:t> dasar yang digunakan dengan memecah </a:t>
            </a:r>
            <a:r>
              <a:rPr lang="id-ID" dirty="0" err="1"/>
              <a:t>physical</a:t>
            </a:r>
            <a:r>
              <a:rPr lang="id-ID" dirty="0"/>
              <a:t> </a:t>
            </a:r>
            <a:r>
              <a:rPr lang="id-ID" dirty="0" err="1"/>
              <a:t>memory</a:t>
            </a:r>
            <a:r>
              <a:rPr lang="id-ID" dirty="0"/>
              <a:t> menjadi blok-blok berukuran tetap yang akan disebut sebagai </a:t>
            </a:r>
            <a:r>
              <a:rPr lang="id-ID" dirty="0" err="1"/>
              <a:t>frame</a:t>
            </a:r>
            <a:endParaRPr lang="id-ID" dirty="0"/>
          </a:p>
        </p:txBody>
      </p:sp>
      <p:pic>
        <p:nvPicPr>
          <p:cNvPr id="4098" name="Picture 7">
            <a:extLst>
              <a:ext uri="{FF2B5EF4-FFF2-40B4-BE49-F238E27FC236}">
                <a16:creationId xmlns:a16="http://schemas.microsoft.com/office/drawing/2014/main" id="{31BEAF97-F1C2-43F2-981D-5F4BC2B06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743" y="3091149"/>
            <a:ext cx="2830513" cy="278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ADD16-A32B-42FD-A08C-0049CD5DADD8}"/>
              </a:ext>
            </a:extLst>
          </p:cNvPr>
          <p:cNvSpPr/>
          <p:nvPr/>
        </p:nvSpPr>
        <p:spPr>
          <a:xfrm>
            <a:off x="5670241" y="5959094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Paging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3390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i="1" dirty="0"/>
              <a:t>Virtual </a:t>
            </a:r>
            <a:r>
              <a:rPr lang="id-ID" i="1" dirty="0" err="1"/>
              <a:t>Memory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Memori virtual adalah teknik yang memisahkan memori logis dan memori fisik. Memori logis merupakan kumpulan keseluruhan halaman dari suatu program. (Royong, 2006)</a:t>
            </a:r>
          </a:p>
        </p:txBody>
      </p:sp>
    </p:spTree>
    <p:extLst>
      <p:ext uri="{BB962C8B-B14F-4D97-AF65-F5344CB8AC3E}">
        <p14:creationId xmlns:p14="http://schemas.microsoft.com/office/powerpoint/2010/main" val="356765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Demand</a:t>
            </a:r>
            <a:r>
              <a:rPr lang="id-ID" dirty="0"/>
              <a:t> </a:t>
            </a:r>
            <a:r>
              <a:rPr lang="id-ID" dirty="0" err="1"/>
              <a:t>Paging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i="1" dirty="0" err="1"/>
              <a:t>Demand</a:t>
            </a:r>
            <a:r>
              <a:rPr lang="id-ID" i="1" dirty="0"/>
              <a:t> </a:t>
            </a:r>
            <a:r>
              <a:rPr lang="id-ID" i="1" dirty="0" err="1"/>
              <a:t>paging</a:t>
            </a:r>
            <a:r>
              <a:rPr lang="id-ID" i="1" dirty="0"/>
              <a:t> </a:t>
            </a:r>
            <a:r>
              <a:rPr lang="id-ID" dirty="0"/>
              <a:t>atau permintaan pemberian halaman adalah salah satu implementasi dari memori virtual yang paling umum digunakan. </a:t>
            </a:r>
            <a:r>
              <a:rPr lang="id-ID" dirty="0" err="1"/>
              <a:t>Demand</a:t>
            </a:r>
            <a:r>
              <a:rPr lang="id-ID" dirty="0"/>
              <a:t> </a:t>
            </a:r>
            <a:r>
              <a:rPr lang="id-ID" dirty="0" err="1"/>
              <a:t>paging</a:t>
            </a:r>
            <a:r>
              <a:rPr lang="id-ID" i="1" dirty="0"/>
              <a:t> </a:t>
            </a:r>
            <a:r>
              <a:rPr lang="id-ID" dirty="0"/>
              <a:t>pada prinsipnya hampir sama dengan permintaan halaman (</a:t>
            </a:r>
            <a:r>
              <a:rPr lang="id-ID" i="1" dirty="0" err="1"/>
              <a:t>paging</a:t>
            </a:r>
            <a:r>
              <a:rPr lang="id-ID" dirty="0"/>
              <a:t>) hanya saja halaman (</a:t>
            </a:r>
            <a:r>
              <a:rPr lang="id-ID" i="1" dirty="0" err="1"/>
              <a:t>page</a:t>
            </a:r>
            <a:r>
              <a:rPr lang="id-ID" dirty="0"/>
              <a:t>) tidak akan dibawa ke dalam memori fisik sampai ia benar-benar diperlukan</a:t>
            </a:r>
          </a:p>
        </p:txBody>
      </p:sp>
    </p:spTree>
    <p:extLst>
      <p:ext uri="{BB962C8B-B14F-4D97-AF65-F5344CB8AC3E}">
        <p14:creationId xmlns:p14="http://schemas.microsoft.com/office/powerpoint/2010/main" val="36733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368</Words>
  <Application>Microsoft Office PowerPoint</Application>
  <PresentationFormat>Widescreen</PresentationFormat>
  <Paragraphs>38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Times New Roman</vt:lpstr>
      <vt:lpstr>Trebuchet MS</vt:lpstr>
      <vt:lpstr>Office Theme</vt:lpstr>
      <vt:lpstr>PowerPoint Presentation</vt:lpstr>
      <vt:lpstr>Cache Memory</vt:lpstr>
      <vt:lpstr>PowerPoint Presentation</vt:lpstr>
      <vt:lpstr>Elemen Perancangan Cache Memory</vt:lpstr>
      <vt:lpstr>Swapping </vt:lpstr>
      <vt:lpstr>Contiguous Memory Allocation</vt:lpstr>
      <vt:lpstr>Segmentation</vt:lpstr>
      <vt:lpstr>Paging</vt:lpstr>
      <vt:lpstr>Virtual Memory</vt:lpstr>
      <vt:lpstr>Demand Paging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184</cp:revision>
  <dcterms:created xsi:type="dcterms:W3CDTF">2018-01-15T03:36:45Z</dcterms:created>
  <dcterms:modified xsi:type="dcterms:W3CDTF">2020-08-31T07:24:20Z</dcterms:modified>
</cp:coreProperties>
</file>