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MSIM4201 SISTEM OPERASI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2562347" y="3059668"/>
            <a:ext cx="69175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6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Manajemen </a:t>
            </a:r>
            <a:r>
              <a:rPr lang="id-ID" sz="4000" dirty="0" err="1"/>
              <a:t>File</a:t>
            </a:r>
            <a:r>
              <a:rPr lang="id-ID" sz="4000" dirty="0"/>
              <a:t> Sistem Operasi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(</a:t>
            </a:r>
            <a:r>
              <a:rPr lang="id-ID" sz="4000" dirty="0" err="1"/>
              <a:t>File</a:t>
            </a:r>
            <a:r>
              <a:rPr lang="id-ID" sz="4000" dirty="0"/>
              <a:t> System dan </a:t>
            </a:r>
            <a:r>
              <a:rPr lang="id-ID" sz="4000" dirty="0" err="1"/>
              <a:t>Storage</a:t>
            </a:r>
            <a:r>
              <a:rPr lang="id-ID" sz="4000" dirty="0"/>
              <a:t> </a:t>
            </a:r>
            <a:r>
              <a:rPr lang="id-ID" sz="4000" dirty="0" err="1"/>
              <a:t>Device</a:t>
            </a:r>
            <a:r>
              <a:rPr lang="id-ID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 : Konsep Dasar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Berkas adalah kumpulan dari berbagai macam data yang saling berhubungan dan diberi nama pada perangkat penyimpanan. Berkas dapat menyimpan berbagai macam tipe data seperti teks, grafik, </a:t>
            </a:r>
            <a:r>
              <a:rPr lang="id-ID" dirty="0" err="1"/>
              <a:t>database</a:t>
            </a:r>
            <a:r>
              <a:rPr lang="id-ID" dirty="0"/>
              <a:t>, suara, dan sebagainya</a:t>
            </a:r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Atribut pada Berkas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Beberapa atribut umum yang ada pada berkas </a:t>
            </a:r>
            <a:r>
              <a:rPr lang="id-ID" dirty="0" err="1"/>
              <a:t>diantaranya</a:t>
            </a:r>
            <a:r>
              <a:rPr lang="id-ID" dirty="0"/>
              <a:t> yaitu:</a:t>
            </a:r>
          </a:p>
          <a:p>
            <a:pPr lvl="1"/>
            <a:r>
              <a:rPr lang="id-ID" dirty="0"/>
              <a:t>Nama (</a:t>
            </a:r>
            <a:r>
              <a:rPr lang="id-ID" i="1" dirty="0" err="1"/>
              <a:t>Name</a:t>
            </a:r>
            <a:r>
              <a:rPr lang="id-ID" dirty="0"/>
              <a:t>): membantu mengidentifikasi dan menemukan berkas di dalam sistem.</a:t>
            </a:r>
          </a:p>
          <a:p>
            <a:pPr lvl="1"/>
            <a:r>
              <a:rPr lang="id-ID" dirty="0"/>
              <a:t>Ukuran (</a:t>
            </a:r>
            <a:r>
              <a:rPr lang="id-ID" i="1" dirty="0" err="1"/>
              <a:t>Size</a:t>
            </a:r>
            <a:r>
              <a:rPr lang="id-ID" dirty="0"/>
              <a:t>): menyimpan informasi tentang ukuran berkas saat ini (dalam </a:t>
            </a:r>
            <a:r>
              <a:rPr lang="id-ID" dirty="0" err="1"/>
              <a:t>bytes</a:t>
            </a:r>
            <a:r>
              <a:rPr lang="id-ID" dirty="0"/>
              <a:t>, </a:t>
            </a:r>
            <a:r>
              <a:rPr lang="id-ID" dirty="0" err="1"/>
              <a:t>words</a:t>
            </a:r>
            <a:r>
              <a:rPr lang="id-ID" dirty="0"/>
              <a:t>, atau </a:t>
            </a:r>
            <a:r>
              <a:rPr lang="id-ID" dirty="0" err="1"/>
              <a:t>blocks</a:t>
            </a:r>
            <a:r>
              <a:rPr lang="id-ID" dirty="0"/>
              <a:t>).</a:t>
            </a:r>
          </a:p>
          <a:p>
            <a:pPr lvl="1"/>
            <a:r>
              <a:rPr lang="id-ID" dirty="0"/>
              <a:t>Tipe (</a:t>
            </a:r>
            <a:r>
              <a:rPr lang="id-ID" i="1" dirty="0" err="1"/>
              <a:t>Type</a:t>
            </a:r>
            <a:r>
              <a:rPr lang="id-ID" dirty="0"/>
              <a:t>): membantu sistem operasi untuk mengenali dan menggunakan aplikasi yang direkomendasikan untuk membuka tipe berkas tertentu.</a:t>
            </a:r>
          </a:p>
          <a:p>
            <a:pPr lvl="1"/>
            <a:r>
              <a:rPr lang="id-ID" dirty="0" err="1"/>
              <a:t>Pengidentifikasi</a:t>
            </a:r>
            <a:r>
              <a:rPr lang="id-ID" dirty="0"/>
              <a:t> (</a:t>
            </a:r>
            <a:r>
              <a:rPr lang="id-ID" i="1" dirty="0" err="1"/>
              <a:t>Identifier</a:t>
            </a:r>
            <a:r>
              <a:rPr lang="id-ID" dirty="0"/>
              <a:t>): </a:t>
            </a:r>
            <a:r>
              <a:rPr lang="id-ID" dirty="0" err="1"/>
              <a:t>tag</a:t>
            </a:r>
            <a:r>
              <a:rPr lang="id-ID" dirty="0"/>
              <a:t> yang bersifat unik, biasanya berupa angka yang membantu sistem berkas untuk mengenali berkas di dalam sistem.</a:t>
            </a:r>
          </a:p>
          <a:p>
            <a:pPr lvl="1"/>
            <a:r>
              <a:rPr lang="id-ID" dirty="0"/>
              <a:t>Lokasi (</a:t>
            </a:r>
            <a:r>
              <a:rPr lang="id-ID" i="1" dirty="0" err="1"/>
              <a:t>Location</a:t>
            </a:r>
            <a:r>
              <a:rPr lang="id-ID" dirty="0"/>
              <a:t>): petunjuk yang menyimpan informasi lokasi dari perangkat dan lokasi dari berkas yang ada di perangkat.</a:t>
            </a:r>
          </a:p>
          <a:p>
            <a:pPr lvl="1"/>
            <a:r>
              <a:rPr lang="id-ID" dirty="0"/>
              <a:t>Tanggal dan Waktu (</a:t>
            </a:r>
            <a:r>
              <a:rPr lang="id-ID" i="1" dirty="0"/>
              <a:t>Date </a:t>
            </a:r>
            <a:r>
              <a:rPr lang="id-ID" i="1" dirty="0" err="1"/>
              <a:t>and</a:t>
            </a:r>
            <a:r>
              <a:rPr lang="id-ID" i="1" dirty="0"/>
              <a:t> </a:t>
            </a:r>
            <a:r>
              <a:rPr lang="id-ID" i="1" dirty="0" err="1"/>
              <a:t>Time</a:t>
            </a:r>
            <a:r>
              <a:rPr lang="id-ID" dirty="0"/>
              <a:t>): menyimpan informasi yang berkaitan dengan berkas, seperti pembuatan, terakhir dimodifikasi, dan terakhir digunakan.</a:t>
            </a:r>
          </a:p>
          <a:p>
            <a:pPr lvl="1"/>
            <a:r>
              <a:rPr lang="id-ID" dirty="0"/>
              <a:t>Proteksi (</a:t>
            </a:r>
            <a:r>
              <a:rPr lang="id-ID" i="1" dirty="0" err="1"/>
              <a:t>Protection</a:t>
            </a:r>
            <a:r>
              <a:rPr lang="id-ID" dirty="0"/>
              <a:t>):</a:t>
            </a:r>
            <a:r>
              <a:rPr lang="id-ID" b="1" dirty="0"/>
              <a:t> </a:t>
            </a:r>
            <a:r>
              <a:rPr lang="id-ID" dirty="0"/>
              <a:t>menyimpan informasi tentang kontrol akses dari pengguna (</a:t>
            </a:r>
            <a:r>
              <a:rPr lang="id-ID" i="1" dirty="0" err="1"/>
              <a:t>read</a:t>
            </a:r>
            <a:r>
              <a:rPr lang="id-ID" i="1" dirty="0"/>
              <a:t>, </a:t>
            </a:r>
            <a:r>
              <a:rPr lang="id-ID" i="1" dirty="0" err="1"/>
              <a:t>write</a:t>
            </a:r>
            <a:r>
              <a:rPr lang="id-ID" i="1" dirty="0"/>
              <a:t>, </a:t>
            </a:r>
            <a:r>
              <a:rPr lang="id-ID" i="1" dirty="0" err="1"/>
              <a:t>execute</a:t>
            </a:r>
            <a:r>
              <a:rPr lang="id-ID" dirty="0"/>
              <a:t>).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5802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Operasi pada Berkas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b="1" i="1" dirty="0" err="1"/>
              <a:t>Create</a:t>
            </a:r>
            <a:endParaRPr lang="id-ID" b="1" dirty="0"/>
          </a:p>
          <a:p>
            <a:r>
              <a:rPr lang="id-ID" b="1" i="1" dirty="0"/>
              <a:t>Open</a:t>
            </a:r>
            <a:endParaRPr lang="id-ID" b="1" dirty="0"/>
          </a:p>
          <a:p>
            <a:r>
              <a:rPr lang="id-ID" b="1" i="1" dirty="0" err="1"/>
              <a:t>Write</a:t>
            </a:r>
            <a:endParaRPr lang="id-ID" b="1" dirty="0"/>
          </a:p>
          <a:p>
            <a:r>
              <a:rPr lang="id-ID" b="1" i="1" dirty="0" err="1"/>
              <a:t>Read</a:t>
            </a:r>
            <a:endParaRPr lang="id-ID" b="1" dirty="0"/>
          </a:p>
          <a:p>
            <a:r>
              <a:rPr lang="id-ID" dirty="0"/>
              <a:t> </a:t>
            </a:r>
            <a:r>
              <a:rPr lang="id-ID" b="1" i="1" dirty="0" err="1"/>
              <a:t>Close</a:t>
            </a:r>
            <a:endParaRPr lang="id-ID" b="1" dirty="0"/>
          </a:p>
          <a:p>
            <a:r>
              <a:rPr lang="id-ID" dirty="0"/>
              <a:t> </a:t>
            </a:r>
            <a:r>
              <a:rPr lang="id-ID" b="1" i="1" dirty="0" err="1"/>
              <a:t>Delete</a:t>
            </a:r>
            <a:endParaRPr lang="id-ID" b="1" dirty="0"/>
          </a:p>
          <a:p>
            <a:r>
              <a:rPr lang="id-ID" dirty="0"/>
              <a:t> </a:t>
            </a:r>
            <a:r>
              <a:rPr lang="id-ID" b="1" i="1" dirty="0" err="1"/>
              <a:t>Rename</a:t>
            </a:r>
            <a:endParaRPr lang="id-ID" b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8539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Jenis Berkas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044406-83DF-4793-91FB-01F6089E9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512670"/>
              </p:ext>
            </p:extLst>
          </p:nvPr>
        </p:nvGraphicFramePr>
        <p:xfrm>
          <a:off x="389744" y="1455714"/>
          <a:ext cx="10964054" cy="50253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3920">
                  <a:extLst>
                    <a:ext uri="{9D8B030D-6E8A-4147-A177-3AD203B41FA5}">
                      <a16:colId xmlns:a16="http://schemas.microsoft.com/office/drawing/2014/main" val="1477948620"/>
                    </a:ext>
                  </a:extLst>
                </a:gridCol>
                <a:gridCol w="2185181">
                  <a:extLst>
                    <a:ext uri="{9D8B030D-6E8A-4147-A177-3AD203B41FA5}">
                      <a16:colId xmlns:a16="http://schemas.microsoft.com/office/drawing/2014/main" val="1263476639"/>
                    </a:ext>
                  </a:extLst>
                </a:gridCol>
                <a:gridCol w="6454953">
                  <a:extLst>
                    <a:ext uri="{9D8B030D-6E8A-4147-A177-3AD203B41FA5}">
                      <a16:colId xmlns:a16="http://schemas.microsoft.com/office/drawing/2014/main" val="3382620076"/>
                    </a:ext>
                  </a:extLst>
                </a:gridCol>
              </a:tblGrid>
              <a:tr h="2204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Tipe Berkas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Ekstensi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Penjelasan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646265330"/>
                  </a:ext>
                </a:extLst>
              </a:tr>
              <a:tr h="48290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 err="1">
                          <a:effectLst/>
                        </a:rPr>
                        <a:t>Archive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arc, zip, tar, rar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>
                          <a:effectLst/>
                        </a:rPr>
                        <a:t>Berkas yang berhubungan dikompresi dan dikelompokkan secara bersamaan menjadi satu berkas tunggal sebagai penyimpanan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2344924162"/>
                  </a:ext>
                </a:extLst>
              </a:tr>
              <a:tr h="4683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 err="1">
                          <a:effectLst/>
                        </a:rPr>
                        <a:t>Batch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bat, sh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serangkaian perintah yang dapat dieksekusi dengan satu perintah tunggal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2248075284"/>
                  </a:ext>
                </a:extLst>
              </a:tr>
              <a:tr h="48290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 err="1">
                          <a:effectLst/>
                        </a:rPr>
                        <a:t>Backup</a:t>
                      </a:r>
                      <a:r>
                        <a:rPr lang="id-ID" sz="1400" dirty="0">
                          <a:effectLst/>
                        </a:rPr>
                        <a:t> </a:t>
                      </a:r>
                      <a:r>
                        <a:rPr lang="id-ID" sz="1400" dirty="0" err="1">
                          <a:effectLst/>
                        </a:rPr>
                        <a:t>file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bak, bkf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salinan data pada perangkat penyimpanan, digunakan untuk memulihkan kerusakan sistem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1626001399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Executable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exe, com, bin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digunakan untuk menjalankan berbagai program aplikasi pada komputer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1798885710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Library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lib, a, so, dll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pustaka rutin dari program aplikasi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4000136655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Image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bmp, jpeg, gif, jfif, dib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gambar dan grafik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1965077679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Multimedia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mpeg, mp3, mppa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>
                          <a:effectLst/>
                        </a:rPr>
                        <a:t>Berkas yang menyimpan informasi suara dan/atau gambar bergerak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2339622181"/>
                  </a:ext>
                </a:extLst>
              </a:tr>
              <a:tr h="48290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Object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obj, o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berisi bahasa pemrograman, telah dikompilasi sebelumnya, digunakan untuk menghasilkan keluaran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1712381668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System file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inf, ini, drv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informasi sistem untuk pemuatan dan manajemen berbagai macam aplikasi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307823111"/>
                  </a:ext>
                </a:extLst>
              </a:tr>
              <a:tr h="22045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Text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txt, doc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Berkas yang menyimpan data tekstual, dokumen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584283229"/>
                  </a:ext>
                </a:extLst>
              </a:tr>
              <a:tr h="3516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Word processor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>
                          <a:effectLst/>
                        </a:rPr>
                        <a:t>wp, txt, doc, rrf</a:t>
                      </a:r>
                      <a:endParaRPr lang="id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6695" algn="l"/>
                        </a:tabLst>
                      </a:pPr>
                      <a:r>
                        <a:rPr lang="id-ID" sz="1400" dirty="0">
                          <a:effectLst/>
                        </a:rPr>
                        <a:t>Berkas yang menyimpan berbagai macam format pengolah kata</a:t>
                      </a:r>
                      <a:endParaRPr lang="id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471" marR="50471" marT="50471" marB="50471"/>
                </a:tc>
                <a:extLst>
                  <a:ext uri="{0D108BD9-81ED-4DB2-BD59-A6C34878D82A}">
                    <a16:rowId xmlns:a16="http://schemas.microsoft.com/office/drawing/2014/main" val="338847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7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Struktur Berkas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b="1" i="1" dirty="0" err="1"/>
              <a:t>Byte</a:t>
            </a:r>
            <a:r>
              <a:rPr lang="id-ID" b="1" i="1" dirty="0"/>
              <a:t> </a:t>
            </a:r>
            <a:r>
              <a:rPr lang="id-ID" b="1" i="1" dirty="0" err="1"/>
              <a:t>Sequence</a:t>
            </a:r>
            <a:endParaRPr lang="id-ID" b="1" dirty="0"/>
          </a:p>
          <a:p>
            <a:r>
              <a:rPr lang="id-ID" dirty="0"/>
              <a:t> </a:t>
            </a:r>
            <a:r>
              <a:rPr lang="id-ID" b="1" i="1" dirty="0" err="1"/>
              <a:t>Record</a:t>
            </a:r>
            <a:r>
              <a:rPr lang="id-ID" b="1" i="1" dirty="0"/>
              <a:t> </a:t>
            </a:r>
            <a:r>
              <a:rPr lang="id-ID" b="1" i="1" dirty="0" err="1"/>
              <a:t>Sequence</a:t>
            </a:r>
            <a:endParaRPr lang="id-ID" b="1" dirty="0"/>
          </a:p>
          <a:p>
            <a:r>
              <a:rPr lang="id-ID" b="1" i="1" dirty="0"/>
              <a:t>Tree </a:t>
            </a:r>
            <a:r>
              <a:rPr lang="id-ID" b="1" i="1" dirty="0" err="1"/>
              <a:t>Structure</a:t>
            </a:r>
            <a:endParaRPr lang="id-ID" b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6450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Akses Berkas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Informasi yang disimpan pada berkas dapat diakses dengan salah satu dari dua cara yang ada, yaitu </a:t>
            </a:r>
            <a:r>
              <a:rPr lang="id-ID" b="1" i="1" dirty="0" err="1"/>
              <a:t>sequential</a:t>
            </a:r>
            <a:r>
              <a:rPr lang="id-ID" b="1" i="1" dirty="0"/>
              <a:t> </a:t>
            </a:r>
            <a:r>
              <a:rPr lang="id-ID" b="1" i="1" dirty="0" err="1"/>
              <a:t>access</a:t>
            </a:r>
            <a:r>
              <a:rPr lang="id-ID" b="1" i="1" dirty="0"/>
              <a:t> </a:t>
            </a:r>
            <a:r>
              <a:rPr lang="id-ID" dirty="0"/>
              <a:t>dan </a:t>
            </a:r>
            <a:r>
              <a:rPr lang="id-ID" b="1" i="1" dirty="0" err="1"/>
              <a:t>direct</a:t>
            </a:r>
            <a:r>
              <a:rPr lang="id-ID" b="1" i="1" dirty="0"/>
              <a:t> </a:t>
            </a:r>
            <a:r>
              <a:rPr lang="id-ID" b="1" i="1" dirty="0" err="1"/>
              <a:t>access</a:t>
            </a:r>
            <a:r>
              <a:rPr lang="id-ID" b="1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8778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Tipe Akses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Akses operasi berkas yang dapat diatur dengan berbagai tipe izin sebagai berikut.</a:t>
            </a:r>
          </a:p>
          <a:p>
            <a:pPr lvl="1"/>
            <a:r>
              <a:rPr lang="id-ID" i="1" dirty="0" err="1"/>
              <a:t>Read</a:t>
            </a:r>
            <a:r>
              <a:rPr lang="id-ID" b="1" dirty="0"/>
              <a:t>:</a:t>
            </a:r>
            <a:r>
              <a:rPr lang="id-ID" dirty="0"/>
              <a:t> mengizinkan untuk membaca berkas.</a:t>
            </a:r>
          </a:p>
          <a:p>
            <a:pPr lvl="1"/>
            <a:r>
              <a:rPr lang="id-ID" i="1" dirty="0" err="1"/>
              <a:t>Write</a:t>
            </a:r>
            <a:r>
              <a:rPr lang="id-ID" b="1" dirty="0"/>
              <a:t>: </a:t>
            </a:r>
            <a:r>
              <a:rPr lang="id-ID" dirty="0"/>
              <a:t>mengizinkan untuk menulis atau menulis ulang berkas.</a:t>
            </a:r>
          </a:p>
          <a:p>
            <a:pPr lvl="1"/>
            <a:r>
              <a:rPr lang="id-ID" i="1" dirty="0" err="1"/>
              <a:t>Execute</a:t>
            </a:r>
            <a:r>
              <a:rPr lang="id-ID" b="1" dirty="0"/>
              <a:t>: </a:t>
            </a:r>
            <a:r>
              <a:rPr lang="id-ID" dirty="0"/>
              <a:t>mengizinkan untuk menjalankan program atau aplikasi.</a:t>
            </a:r>
          </a:p>
          <a:p>
            <a:pPr lvl="1"/>
            <a:r>
              <a:rPr lang="id-ID" i="1" dirty="0" err="1"/>
              <a:t>Append</a:t>
            </a:r>
            <a:r>
              <a:rPr lang="id-ID" b="1" dirty="0"/>
              <a:t>: </a:t>
            </a:r>
            <a:r>
              <a:rPr lang="id-ID" dirty="0"/>
              <a:t>mengizinkan untuk membuat informasi baru di akhir berkas.</a:t>
            </a:r>
          </a:p>
          <a:p>
            <a:pPr lvl="1"/>
            <a:r>
              <a:rPr lang="id-ID" i="1" dirty="0" err="1"/>
              <a:t>Copy</a:t>
            </a:r>
            <a:r>
              <a:rPr lang="id-ID" b="1" dirty="0"/>
              <a:t>: </a:t>
            </a:r>
            <a:r>
              <a:rPr lang="id-ID" dirty="0"/>
              <a:t>mengizinkan untuk menyalin berkas.</a:t>
            </a:r>
          </a:p>
          <a:p>
            <a:pPr lvl="1"/>
            <a:r>
              <a:rPr lang="id-ID" i="1" dirty="0" err="1"/>
              <a:t>Rename</a:t>
            </a:r>
            <a:r>
              <a:rPr lang="id-ID" b="1" dirty="0"/>
              <a:t>: </a:t>
            </a:r>
            <a:r>
              <a:rPr lang="id-ID" dirty="0"/>
              <a:t>mengizinkan untuk mengganti nama.</a:t>
            </a:r>
          </a:p>
          <a:p>
            <a:pPr lvl="1"/>
            <a:r>
              <a:rPr lang="id-ID" i="1" dirty="0"/>
              <a:t>Edit</a:t>
            </a:r>
            <a:r>
              <a:rPr lang="id-ID" b="1" dirty="0"/>
              <a:t>: </a:t>
            </a:r>
            <a:r>
              <a:rPr lang="id-ID" dirty="0"/>
              <a:t>mengizinkan untuk menambah dan menghapus informasi dari berkas.</a:t>
            </a:r>
          </a:p>
          <a:p>
            <a:pPr lvl="1"/>
            <a:r>
              <a:rPr lang="id-ID" i="1" dirty="0" err="1"/>
              <a:t>Delete</a:t>
            </a:r>
            <a:r>
              <a:rPr lang="id-ID" b="1" dirty="0"/>
              <a:t>: </a:t>
            </a:r>
            <a:r>
              <a:rPr lang="id-ID" dirty="0"/>
              <a:t>mengizinkan untuk menghapus berkas dan melepas ruang penyimpanan yang sebelumnya terpakai.</a:t>
            </a:r>
          </a:p>
        </p:txBody>
      </p:sp>
    </p:spTree>
    <p:extLst>
      <p:ext uri="{BB962C8B-B14F-4D97-AF65-F5344CB8AC3E}">
        <p14:creationId xmlns:p14="http://schemas.microsoft.com/office/powerpoint/2010/main" val="133425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Berkas: Akses Kontrol Berkas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1.	Kata Sandi / </a:t>
            </a:r>
            <a:r>
              <a:rPr lang="id-ID" b="1" i="1" dirty="0" err="1"/>
              <a:t>Password</a:t>
            </a:r>
            <a:endParaRPr lang="id-ID" b="1" dirty="0"/>
          </a:p>
          <a:p>
            <a:r>
              <a:rPr lang="id-ID" b="1" dirty="0"/>
              <a:t>2.	Akses Kontrol </a:t>
            </a:r>
            <a:r>
              <a:rPr lang="id-ID" b="1" dirty="0" err="1"/>
              <a:t>List</a:t>
            </a:r>
            <a:r>
              <a:rPr lang="id-ID" b="1" dirty="0"/>
              <a:t> / </a:t>
            </a:r>
            <a:r>
              <a:rPr lang="id-ID" b="1" i="1" dirty="0"/>
              <a:t>Access </a:t>
            </a:r>
            <a:r>
              <a:rPr lang="id-ID" b="1" i="1" dirty="0" err="1"/>
              <a:t>Control</a:t>
            </a:r>
            <a:r>
              <a:rPr lang="id-ID" b="1" i="1" dirty="0"/>
              <a:t> </a:t>
            </a:r>
            <a:r>
              <a:rPr lang="id-ID" b="1" i="1" dirty="0" err="1"/>
              <a:t>List</a:t>
            </a:r>
            <a:endParaRPr lang="id-ID" b="1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25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Direktori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Struktur </a:t>
            </a:r>
            <a:r>
              <a:rPr lang="id-ID" dirty="0" err="1"/>
              <a:t>direktori</a:t>
            </a:r>
            <a:r>
              <a:rPr lang="id-ID" dirty="0"/>
              <a:t> yang umumnya digunakan yaitu </a:t>
            </a:r>
            <a:r>
              <a:rPr lang="id-ID" b="1" i="1" dirty="0" err="1"/>
              <a:t>single</a:t>
            </a:r>
            <a:r>
              <a:rPr lang="id-ID" b="1" dirty="0"/>
              <a:t>-</a:t>
            </a:r>
            <a:r>
              <a:rPr lang="id-ID" b="1" i="1" dirty="0"/>
              <a:t>level</a:t>
            </a:r>
            <a:r>
              <a:rPr lang="id-ID" b="1" dirty="0"/>
              <a:t>, </a:t>
            </a:r>
            <a:r>
              <a:rPr lang="id-ID" b="1" i="1" dirty="0" err="1"/>
              <a:t>two</a:t>
            </a:r>
            <a:r>
              <a:rPr lang="id-ID" b="1" dirty="0"/>
              <a:t>-</a:t>
            </a:r>
            <a:r>
              <a:rPr lang="id-ID" b="1" i="1" dirty="0"/>
              <a:t>level</a:t>
            </a:r>
            <a:r>
              <a:rPr lang="id-ID" b="1" dirty="0"/>
              <a:t>, dan </a:t>
            </a:r>
            <a:r>
              <a:rPr lang="id-ID" b="1" i="1" dirty="0" err="1"/>
              <a:t>hierarchical</a:t>
            </a:r>
            <a:r>
              <a:rPr lang="id-ID" dirty="0"/>
              <a:t>. Banyak operasi yang dapat dilakukan pada </a:t>
            </a:r>
            <a:r>
              <a:rPr lang="id-ID" dirty="0" err="1"/>
              <a:t>direktori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195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d-ID" dirty="0" err="1"/>
              <a:t>Direktori</a:t>
            </a:r>
            <a:r>
              <a:rPr lang="id-ID" dirty="0"/>
              <a:t>: Operasi pada </a:t>
            </a:r>
            <a:r>
              <a:rPr lang="id-ID" dirty="0" err="1"/>
              <a:t>Direktori</a:t>
            </a:r>
            <a:endParaRPr lang="id-ID" dirty="0"/>
          </a:p>
          <a:p>
            <a:r>
              <a:rPr lang="id-ID" dirty="0" err="1"/>
              <a:t>Direktori</a:t>
            </a:r>
            <a:r>
              <a:rPr lang="id-ID" dirty="0"/>
              <a:t>: Implementasi </a:t>
            </a:r>
            <a:r>
              <a:rPr lang="id-ID" dirty="0" err="1"/>
              <a:t>Direktori</a:t>
            </a:r>
            <a:endParaRPr lang="id-ID" dirty="0"/>
          </a:p>
          <a:p>
            <a:r>
              <a:rPr lang="id-ID" dirty="0"/>
              <a:t>Struktur Sistem Berkas</a:t>
            </a:r>
          </a:p>
          <a:p>
            <a:r>
              <a:rPr lang="id-ID" dirty="0"/>
              <a:t>Organisasi Sistem Berkas</a:t>
            </a:r>
          </a:p>
          <a:p>
            <a:r>
              <a:rPr lang="id-ID" dirty="0"/>
              <a:t>Metode Alokasi Sistem Berkas</a:t>
            </a:r>
          </a:p>
          <a:p>
            <a:r>
              <a:rPr lang="id-ID" dirty="0"/>
              <a:t>Kinerja Alokasi Sistem Berkas</a:t>
            </a:r>
          </a:p>
          <a:p>
            <a:r>
              <a:rPr lang="id-ID" dirty="0"/>
              <a:t>Manajemen Ruang Kosong (</a:t>
            </a:r>
            <a:r>
              <a:rPr lang="id-ID" i="1" dirty="0" err="1"/>
              <a:t>Free</a:t>
            </a:r>
            <a:r>
              <a:rPr lang="id-ID" i="1" dirty="0"/>
              <a:t> </a:t>
            </a:r>
            <a:r>
              <a:rPr lang="id-ID" i="1" dirty="0" err="1"/>
              <a:t>Space</a:t>
            </a:r>
            <a:r>
              <a:rPr lang="id-ID" dirty="0"/>
              <a:t>)</a:t>
            </a:r>
          </a:p>
          <a:p>
            <a:r>
              <a:rPr lang="id-ID" dirty="0"/>
              <a:t>Efisiensi Sistem Berkas</a:t>
            </a:r>
          </a:p>
          <a:p>
            <a:r>
              <a:rPr lang="id-ID" dirty="0"/>
              <a:t>Kinerja Sistem Berkas</a:t>
            </a:r>
          </a:p>
          <a:p>
            <a:r>
              <a:rPr lang="id-ID" dirty="0"/>
              <a:t>Pemulihan Sistem Berkas (</a:t>
            </a:r>
            <a:r>
              <a:rPr lang="id-ID" i="1" dirty="0" err="1"/>
              <a:t>Recovery</a:t>
            </a:r>
            <a:r>
              <a:rPr lang="id-ID" dirty="0"/>
              <a:t>)</a:t>
            </a:r>
          </a:p>
          <a:p>
            <a:r>
              <a:rPr lang="id-ID" dirty="0"/>
              <a:t>Sistem Berkas pada Windows</a:t>
            </a:r>
          </a:p>
          <a:p>
            <a:r>
              <a:rPr lang="id-ID" dirty="0"/>
              <a:t>Sistem Berkas pada UNIX</a:t>
            </a:r>
          </a:p>
          <a:p>
            <a:r>
              <a:rPr lang="id-ID" dirty="0"/>
              <a:t>Perbandingan Sistem Berkas pada Windows dan UNIX</a:t>
            </a:r>
          </a:p>
        </p:txBody>
      </p:sp>
    </p:spTree>
    <p:extLst>
      <p:ext uri="{BB962C8B-B14F-4D97-AF65-F5344CB8AC3E}">
        <p14:creationId xmlns:p14="http://schemas.microsoft.com/office/powerpoint/2010/main" val="229912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Struktur Media Penyimpanan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/>
              <a:t>Struktur </a:t>
            </a:r>
            <a:r>
              <a:rPr lang="id-ID" i="1" dirty="0" err="1"/>
              <a:t>Disk</a:t>
            </a:r>
            <a:endParaRPr lang="id-ID" i="1" dirty="0"/>
          </a:p>
          <a:p>
            <a:r>
              <a:rPr lang="id-ID" dirty="0"/>
              <a:t>Struktur </a:t>
            </a:r>
            <a:r>
              <a:rPr lang="id-ID" i="1" dirty="0" err="1"/>
              <a:t>Disk</a:t>
            </a:r>
            <a:r>
              <a:rPr lang="id-ID" dirty="0"/>
              <a:t>: Struktur Magnetik </a:t>
            </a:r>
            <a:r>
              <a:rPr lang="id-ID" i="1" dirty="0" err="1"/>
              <a:t>Disk</a:t>
            </a:r>
            <a:endParaRPr lang="id-ID" i="1" dirty="0"/>
          </a:p>
          <a:p>
            <a:r>
              <a:rPr lang="id-ID" dirty="0"/>
              <a:t>Struktur </a:t>
            </a:r>
            <a:r>
              <a:rPr lang="id-ID" i="1" dirty="0" err="1"/>
              <a:t>Disk</a:t>
            </a:r>
            <a:r>
              <a:rPr lang="id-ID" dirty="0"/>
              <a:t>: Akses Data </a:t>
            </a:r>
            <a:r>
              <a:rPr lang="id-ID" i="1" dirty="0" err="1"/>
              <a:t>Disk</a:t>
            </a:r>
            <a:endParaRPr lang="id-ID" i="1" dirty="0"/>
          </a:p>
          <a:p>
            <a:r>
              <a:rPr lang="id-ID" dirty="0"/>
              <a:t>Manajemen </a:t>
            </a:r>
            <a:r>
              <a:rPr lang="id-ID" i="1" dirty="0" err="1"/>
              <a:t>Disk</a:t>
            </a:r>
            <a:endParaRPr lang="id-ID" i="1" dirty="0"/>
          </a:p>
          <a:p>
            <a:r>
              <a:rPr lang="id-ID" dirty="0"/>
              <a:t>Manajemen Ruang SWAP</a:t>
            </a:r>
          </a:p>
          <a:p>
            <a:r>
              <a:rPr lang="id-ID" dirty="0" err="1"/>
              <a:t>Kehandalan</a:t>
            </a:r>
            <a:r>
              <a:rPr lang="id-ID" dirty="0"/>
              <a:t> </a:t>
            </a:r>
            <a:r>
              <a:rPr lang="id-ID" i="1" dirty="0" err="1"/>
              <a:t>Disk</a:t>
            </a:r>
            <a:endParaRPr lang="id-ID" i="1" dirty="0"/>
          </a:p>
          <a:p>
            <a:r>
              <a:rPr lang="id-ID" dirty="0"/>
              <a:t>RAID</a:t>
            </a:r>
          </a:p>
          <a:p>
            <a:r>
              <a:rPr lang="id-ID" dirty="0"/>
              <a:t>RAID: Konsep RAID</a:t>
            </a:r>
          </a:p>
          <a:p>
            <a:r>
              <a:rPr lang="id-ID" dirty="0" err="1"/>
              <a:t>Disk</a:t>
            </a:r>
            <a:r>
              <a:rPr lang="id-ID" dirty="0"/>
              <a:t> </a:t>
            </a:r>
            <a:r>
              <a:rPr lang="id-ID" dirty="0" err="1"/>
              <a:t>Attachment</a:t>
            </a:r>
            <a:endParaRPr lang="id-ID" dirty="0"/>
          </a:p>
          <a:p>
            <a:r>
              <a:rPr lang="id-ID" dirty="0"/>
              <a:t>Implementasi </a:t>
            </a:r>
            <a:r>
              <a:rPr lang="id-ID" dirty="0" err="1"/>
              <a:t>Stable-storage</a:t>
            </a:r>
            <a:endParaRPr lang="id-ID" dirty="0"/>
          </a:p>
          <a:p>
            <a:r>
              <a:rPr lang="id-ID" i="1" dirty="0" err="1"/>
              <a:t>Cloud</a:t>
            </a:r>
            <a:r>
              <a:rPr lang="id-ID" i="1" dirty="0"/>
              <a:t> </a:t>
            </a:r>
            <a:r>
              <a:rPr lang="id-ID" i="1" dirty="0" err="1"/>
              <a:t>Storage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314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700</Words>
  <Application>Microsoft Office PowerPoint</Application>
  <PresentationFormat>Widescreen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Berkas : Konsep Dasar</vt:lpstr>
      <vt:lpstr>Berkas: Atribut pada Berkas</vt:lpstr>
      <vt:lpstr>Berkas: Operasi pada Berkas</vt:lpstr>
      <vt:lpstr>Berkas: Jenis Berkas</vt:lpstr>
      <vt:lpstr>Berkas: Struktur Berkas</vt:lpstr>
      <vt:lpstr>Berkas: Akses Berkas</vt:lpstr>
      <vt:lpstr>Berkas: Tipe Akses</vt:lpstr>
      <vt:lpstr>Berkas: Akses Kontrol Berkas</vt:lpstr>
      <vt:lpstr>Direktori</vt:lpstr>
      <vt:lpstr>PowerPoint Presentation</vt:lpstr>
      <vt:lpstr>Struktur Media Penyimpanan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186</cp:revision>
  <dcterms:created xsi:type="dcterms:W3CDTF">2018-01-15T03:36:45Z</dcterms:created>
  <dcterms:modified xsi:type="dcterms:W3CDTF">2020-08-31T07:46:24Z</dcterms:modified>
</cp:coreProperties>
</file>