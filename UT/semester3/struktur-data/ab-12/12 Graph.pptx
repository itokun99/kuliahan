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78" r:id="rId3"/>
    <p:sldId id="287" r:id="rId4"/>
    <p:sldId id="288" r:id="rId5"/>
    <p:sldId id="286" r:id="rId6"/>
    <p:sldId id="284" r:id="rId7"/>
    <p:sldId id="27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9" autoAdjust="0"/>
    <p:restoredTop sz="94697" autoAdjust="0"/>
  </p:normalViewPr>
  <p:slideViewPr>
    <p:cSldViewPr snapToGrid="0">
      <p:cViewPr varScale="1">
        <p:scale>
          <a:sx n="85" d="100"/>
          <a:sy n="85" d="100"/>
        </p:scale>
        <p:origin x="13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726B1-4A41-46F7-83D4-8F7A06E2177E}" type="doc">
      <dgm:prSet loTypeId="urn:microsoft.com/office/officeart/2009/3/layout/StepUpProcess" loCatId="process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76E8285-9AF6-4CE0-A508-E22048EFC234}">
      <dgm:prSet phldrT="[Text]" custT="1"/>
      <dgm:spPr/>
      <dgm:t>
        <a:bodyPr/>
        <a:lstStyle/>
        <a:p>
          <a:r>
            <a:rPr lang="en-US" sz="1600" dirty="0" err="1"/>
            <a:t>Semoga</a:t>
          </a:r>
          <a:r>
            <a:rPr lang="en-US" sz="1600" dirty="0"/>
            <a:t> </a:t>
          </a:r>
          <a:r>
            <a:rPr lang="en-US" sz="1600" dirty="0" err="1"/>
            <a:t>ilmunya</a:t>
          </a:r>
          <a:r>
            <a:rPr lang="en-US" sz="1600" dirty="0"/>
            <a:t> </a:t>
          </a:r>
          <a:r>
            <a:rPr lang="en-US" sz="1600" dirty="0" err="1"/>
            <a:t>bermanfaat</a:t>
          </a:r>
          <a:r>
            <a:rPr lang="en-US" sz="1600" dirty="0"/>
            <a:t>.</a:t>
          </a:r>
        </a:p>
      </dgm:t>
    </dgm:pt>
    <dgm:pt modelId="{660CB2B3-DD32-48A3-9DC8-EBC7140C3BEC}" type="parTrans" cxnId="{C64C83B1-6CB5-4BF5-ABDD-DD502939C2BD}">
      <dgm:prSet/>
      <dgm:spPr/>
      <dgm:t>
        <a:bodyPr/>
        <a:lstStyle/>
        <a:p>
          <a:endParaRPr lang="en-US" sz="1600"/>
        </a:p>
      </dgm:t>
    </dgm:pt>
    <dgm:pt modelId="{5861F86C-A090-4B59-BEBF-38A9993FB0E7}" type="sibTrans" cxnId="{C64C83B1-6CB5-4BF5-ABDD-DD502939C2BD}">
      <dgm:prSet/>
      <dgm:spPr/>
      <dgm:t>
        <a:bodyPr/>
        <a:lstStyle/>
        <a:p>
          <a:endParaRPr lang="en-US" sz="1600"/>
        </a:p>
      </dgm:t>
    </dgm:pt>
    <dgm:pt modelId="{C0DBF704-87C4-495C-8476-124308F435A3}">
      <dgm:prSet phldrT="[Text]" custT="1"/>
      <dgm:spPr/>
      <dgm:t>
        <a:bodyPr/>
        <a:lstStyle/>
        <a:p>
          <a:r>
            <a:rPr lang="en-US" sz="1600" dirty="0" err="1"/>
            <a:t>Sampai</a:t>
          </a:r>
          <a:r>
            <a:rPr lang="en-US" sz="1600" dirty="0"/>
            <a:t> </a:t>
          </a:r>
          <a:r>
            <a:rPr lang="en-US" sz="1600" dirty="0" err="1"/>
            <a:t>berjumpa</a:t>
          </a:r>
          <a:r>
            <a:rPr lang="en-US" sz="1600" dirty="0"/>
            <a:t> </a:t>
          </a:r>
          <a:r>
            <a:rPr lang="en-US" sz="1600" dirty="0" err="1"/>
            <a:t>lagi</a:t>
          </a:r>
          <a:r>
            <a:rPr lang="en-US" sz="1600" dirty="0"/>
            <a:t> di </a:t>
          </a:r>
          <a:r>
            <a:rPr lang="en-US" sz="1600" dirty="0" err="1"/>
            <a:t>inisiasi</a:t>
          </a:r>
          <a:r>
            <a:rPr lang="en-US" sz="1600" dirty="0"/>
            <a:t> </a:t>
          </a:r>
          <a:r>
            <a:rPr lang="en-US" sz="1600" dirty="0" err="1"/>
            <a:t>berikutnya</a:t>
          </a:r>
          <a:r>
            <a:rPr lang="en-US" sz="1600" dirty="0"/>
            <a:t> </a:t>
          </a:r>
          <a:r>
            <a:rPr lang="en-US" sz="1600" dirty="0" err="1"/>
            <a:t>Struktur</a:t>
          </a:r>
          <a:r>
            <a:rPr lang="en-US" sz="1600" dirty="0"/>
            <a:t> Data</a:t>
          </a:r>
        </a:p>
      </dgm:t>
    </dgm:pt>
    <dgm:pt modelId="{957424C2-1652-4267-9B22-E8E64B6A938F}" type="parTrans" cxnId="{3B458A9F-E2CC-4361-8022-4A62A703F743}">
      <dgm:prSet/>
      <dgm:spPr/>
      <dgm:t>
        <a:bodyPr/>
        <a:lstStyle/>
        <a:p>
          <a:endParaRPr lang="en-US" sz="1600"/>
        </a:p>
      </dgm:t>
    </dgm:pt>
    <dgm:pt modelId="{3145A2C8-EBC8-4218-9208-8154C0FE7396}" type="sibTrans" cxnId="{3B458A9F-E2CC-4361-8022-4A62A703F743}">
      <dgm:prSet/>
      <dgm:spPr/>
      <dgm:t>
        <a:bodyPr/>
        <a:lstStyle/>
        <a:p>
          <a:endParaRPr lang="en-US" sz="1600"/>
        </a:p>
      </dgm:t>
    </dgm:pt>
    <dgm:pt modelId="{D26B2535-4A9F-4E42-9014-DA4C9B28E598}" type="pres">
      <dgm:prSet presAssocID="{596726B1-4A41-46F7-83D4-8F7A06E2177E}" presName="rootnode" presStyleCnt="0">
        <dgm:presLayoutVars>
          <dgm:chMax/>
          <dgm:chPref/>
          <dgm:dir/>
          <dgm:animLvl val="lvl"/>
        </dgm:presLayoutVars>
      </dgm:prSet>
      <dgm:spPr/>
    </dgm:pt>
    <dgm:pt modelId="{8C04BE91-C908-4196-A599-BD9EEDD1858A}" type="pres">
      <dgm:prSet presAssocID="{376E8285-9AF6-4CE0-A508-E22048EFC234}" presName="composite" presStyleCnt="0"/>
      <dgm:spPr/>
    </dgm:pt>
    <dgm:pt modelId="{257928BB-E10A-4FB9-A769-790FF4CE7EEA}" type="pres">
      <dgm:prSet presAssocID="{376E8285-9AF6-4CE0-A508-E22048EFC234}" presName="LShape" presStyleLbl="alignNode1" presStyleIdx="0" presStyleCnt="3"/>
      <dgm:spPr/>
    </dgm:pt>
    <dgm:pt modelId="{034CB31E-96EA-427C-99CE-001CD08227E5}" type="pres">
      <dgm:prSet presAssocID="{376E8285-9AF6-4CE0-A508-E22048EFC234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6C0A7AD-E1E2-40C4-94BA-6677C720CDE0}" type="pres">
      <dgm:prSet presAssocID="{376E8285-9AF6-4CE0-A508-E22048EFC234}" presName="Triangle" presStyleLbl="alignNode1" presStyleIdx="1" presStyleCnt="3"/>
      <dgm:spPr/>
    </dgm:pt>
    <dgm:pt modelId="{330DF984-F85B-4F9C-A2DA-DE6A14930F48}" type="pres">
      <dgm:prSet presAssocID="{5861F86C-A090-4B59-BEBF-38A9993FB0E7}" presName="sibTrans" presStyleCnt="0"/>
      <dgm:spPr/>
    </dgm:pt>
    <dgm:pt modelId="{B212AA0B-168D-4105-85B3-945217B0FCA0}" type="pres">
      <dgm:prSet presAssocID="{5861F86C-A090-4B59-BEBF-38A9993FB0E7}" presName="space" presStyleCnt="0"/>
      <dgm:spPr/>
    </dgm:pt>
    <dgm:pt modelId="{2D38AA14-CFF0-4667-BC5F-76427C3276BB}" type="pres">
      <dgm:prSet presAssocID="{C0DBF704-87C4-495C-8476-124308F435A3}" presName="composite" presStyleCnt="0"/>
      <dgm:spPr/>
    </dgm:pt>
    <dgm:pt modelId="{2735098C-9475-4DE1-813A-F503B0485EDB}" type="pres">
      <dgm:prSet presAssocID="{C0DBF704-87C4-495C-8476-124308F435A3}" presName="LShape" presStyleLbl="alignNode1" presStyleIdx="2" presStyleCnt="3"/>
      <dgm:spPr/>
    </dgm:pt>
    <dgm:pt modelId="{DDD86BEE-E67D-4B30-B5E2-663820FC4B0E}" type="pres">
      <dgm:prSet presAssocID="{C0DBF704-87C4-495C-8476-124308F435A3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404DA10D-BB54-4136-B3D6-21B3BBBE32A5}" type="presOf" srcId="{596726B1-4A41-46F7-83D4-8F7A06E2177E}" destId="{D26B2535-4A9F-4E42-9014-DA4C9B28E598}" srcOrd="0" destOrd="0" presId="urn:microsoft.com/office/officeart/2009/3/layout/StepUpProcess"/>
    <dgm:cxn modelId="{682BB452-F2B1-4C36-8371-E2F350FD90F7}" type="presOf" srcId="{C0DBF704-87C4-495C-8476-124308F435A3}" destId="{DDD86BEE-E67D-4B30-B5E2-663820FC4B0E}" srcOrd="0" destOrd="0" presId="urn:microsoft.com/office/officeart/2009/3/layout/StepUpProcess"/>
    <dgm:cxn modelId="{3B458A9F-E2CC-4361-8022-4A62A703F743}" srcId="{596726B1-4A41-46F7-83D4-8F7A06E2177E}" destId="{C0DBF704-87C4-495C-8476-124308F435A3}" srcOrd="1" destOrd="0" parTransId="{957424C2-1652-4267-9B22-E8E64B6A938F}" sibTransId="{3145A2C8-EBC8-4218-9208-8154C0FE7396}"/>
    <dgm:cxn modelId="{8B0C68AC-54BA-4DF0-9CC3-6414AC3D55BB}" type="presOf" srcId="{376E8285-9AF6-4CE0-A508-E22048EFC234}" destId="{034CB31E-96EA-427C-99CE-001CD08227E5}" srcOrd="0" destOrd="0" presId="urn:microsoft.com/office/officeart/2009/3/layout/StepUpProcess"/>
    <dgm:cxn modelId="{C64C83B1-6CB5-4BF5-ABDD-DD502939C2BD}" srcId="{596726B1-4A41-46F7-83D4-8F7A06E2177E}" destId="{376E8285-9AF6-4CE0-A508-E22048EFC234}" srcOrd="0" destOrd="0" parTransId="{660CB2B3-DD32-48A3-9DC8-EBC7140C3BEC}" sibTransId="{5861F86C-A090-4B59-BEBF-38A9993FB0E7}"/>
    <dgm:cxn modelId="{F6EBE218-A7D2-418F-9BFC-9F23655AE2B3}" type="presParOf" srcId="{D26B2535-4A9F-4E42-9014-DA4C9B28E598}" destId="{8C04BE91-C908-4196-A599-BD9EEDD1858A}" srcOrd="0" destOrd="0" presId="urn:microsoft.com/office/officeart/2009/3/layout/StepUpProcess"/>
    <dgm:cxn modelId="{026C0D6B-032D-4BBF-B686-697C9FE96F16}" type="presParOf" srcId="{8C04BE91-C908-4196-A599-BD9EEDD1858A}" destId="{257928BB-E10A-4FB9-A769-790FF4CE7EEA}" srcOrd="0" destOrd="0" presId="urn:microsoft.com/office/officeart/2009/3/layout/StepUpProcess"/>
    <dgm:cxn modelId="{EDBC14CE-F298-4A74-A01F-BEEC8549A80B}" type="presParOf" srcId="{8C04BE91-C908-4196-A599-BD9EEDD1858A}" destId="{034CB31E-96EA-427C-99CE-001CD08227E5}" srcOrd="1" destOrd="0" presId="urn:microsoft.com/office/officeart/2009/3/layout/StepUpProcess"/>
    <dgm:cxn modelId="{2EF16787-C572-4427-8E70-EC921DC4D491}" type="presParOf" srcId="{8C04BE91-C908-4196-A599-BD9EEDD1858A}" destId="{86C0A7AD-E1E2-40C4-94BA-6677C720CDE0}" srcOrd="2" destOrd="0" presId="urn:microsoft.com/office/officeart/2009/3/layout/StepUpProcess"/>
    <dgm:cxn modelId="{76FBCB22-6091-45A4-B4E7-6EB0A3F4413F}" type="presParOf" srcId="{D26B2535-4A9F-4E42-9014-DA4C9B28E598}" destId="{330DF984-F85B-4F9C-A2DA-DE6A14930F48}" srcOrd="1" destOrd="0" presId="urn:microsoft.com/office/officeart/2009/3/layout/StepUpProcess"/>
    <dgm:cxn modelId="{0E469D9F-573D-4EE6-A051-2F6E556F222D}" type="presParOf" srcId="{330DF984-F85B-4F9C-A2DA-DE6A14930F48}" destId="{B212AA0B-168D-4105-85B3-945217B0FCA0}" srcOrd="0" destOrd="0" presId="urn:microsoft.com/office/officeart/2009/3/layout/StepUpProcess"/>
    <dgm:cxn modelId="{F966C0A4-B74B-4F2C-9F96-55E77C1F4B85}" type="presParOf" srcId="{D26B2535-4A9F-4E42-9014-DA4C9B28E598}" destId="{2D38AA14-CFF0-4667-BC5F-76427C3276BB}" srcOrd="2" destOrd="0" presId="urn:microsoft.com/office/officeart/2009/3/layout/StepUpProcess"/>
    <dgm:cxn modelId="{62E8DC73-B19F-42FA-97CA-E396C4FC4ED0}" type="presParOf" srcId="{2D38AA14-CFF0-4667-BC5F-76427C3276BB}" destId="{2735098C-9475-4DE1-813A-F503B0485EDB}" srcOrd="0" destOrd="0" presId="urn:microsoft.com/office/officeart/2009/3/layout/StepUpProcess"/>
    <dgm:cxn modelId="{89D45E03-2310-4371-8D3C-FD7A975A48F3}" type="presParOf" srcId="{2D38AA14-CFF0-4667-BC5F-76427C3276BB}" destId="{DDD86BEE-E67D-4B30-B5E2-663820FC4B0E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7928BB-E10A-4FB9-A769-790FF4CE7EEA}">
      <dsp:nvSpPr>
        <dsp:cNvPr id="0" name=""/>
        <dsp:cNvSpPr/>
      </dsp:nvSpPr>
      <dsp:spPr>
        <a:xfrm rot="5400000">
          <a:off x="1947710" y="160678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4CB31E-96EA-427C-99CE-001CD08227E5}">
      <dsp:nvSpPr>
        <dsp:cNvPr id="0" name=""/>
        <dsp:cNvSpPr/>
      </dsp:nvSpPr>
      <dsp:spPr>
        <a:xfrm>
          <a:off x="1730957" y="806257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Semoga</a:t>
          </a:r>
          <a:r>
            <a:rPr lang="en-US" sz="1600" kern="1200" dirty="0"/>
            <a:t> </a:t>
          </a:r>
          <a:r>
            <a:rPr lang="en-US" sz="1600" kern="1200" dirty="0" err="1"/>
            <a:t>ilmunya</a:t>
          </a:r>
          <a:r>
            <a:rPr lang="en-US" sz="1600" kern="1200" dirty="0"/>
            <a:t> </a:t>
          </a:r>
          <a:r>
            <a:rPr lang="en-US" sz="1600" kern="1200" dirty="0" err="1"/>
            <a:t>bermanfaat</a:t>
          </a:r>
          <a:r>
            <a:rPr lang="en-US" sz="1600" kern="1200" dirty="0"/>
            <a:t>.</a:t>
          </a:r>
        </a:p>
      </dsp:txBody>
      <dsp:txXfrm>
        <a:off x="1730957" y="806257"/>
        <a:ext cx="1950678" cy="1709884"/>
      </dsp:txXfrm>
    </dsp:sp>
    <dsp:sp modelId="{86C0A7AD-E1E2-40C4-94BA-6677C720CDE0}">
      <dsp:nvSpPr>
        <dsp:cNvPr id="0" name=""/>
        <dsp:cNvSpPr/>
      </dsp:nvSpPr>
      <dsp:spPr>
        <a:xfrm>
          <a:off x="3313583" y="1606"/>
          <a:ext cx="368052" cy="368052"/>
        </a:xfrm>
        <a:prstGeom prst="triangle">
          <a:avLst>
            <a:gd name="adj" fmla="val 100000"/>
          </a:avLst>
        </a:prstGeom>
        <a:gradFill rotWithShape="0">
          <a:gsLst>
            <a:gs pos="0">
              <a:schemeClr val="accent4">
                <a:hueOff val="5197846"/>
                <a:satOff val="-23984"/>
                <a:lumOff val="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5197846"/>
                <a:satOff val="-23984"/>
                <a:lumOff val="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5197846"/>
                <a:satOff val="-23984"/>
                <a:lumOff val="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735098C-9475-4DE1-813A-F503B0485EDB}">
      <dsp:nvSpPr>
        <dsp:cNvPr id="0" name=""/>
        <dsp:cNvSpPr/>
      </dsp:nvSpPr>
      <dsp:spPr>
        <a:xfrm rot="5400000">
          <a:off x="4335722" y="-430237"/>
          <a:ext cx="1298506" cy="2160685"/>
        </a:xfrm>
        <a:prstGeom prst="corner">
          <a:avLst>
            <a:gd name="adj1" fmla="val 16120"/>
            <a:gd name="adj2" fmla="val 16110"/>
          </a:avLst>
        </a:prstGeom>
        <a:gradFill rotWithShape="0">
          <a:gsLst>
            <a:gs pos="0">
              <a:schemeClr val="accent4">
                <a:hueOff val="10395692"/>
                <a:satOff val="-47968"/>
                <a:lumOff val="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10395692"/>
                <a:satOff val="-47968"/>
                <a:lumOff val="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10395692"/>
                <a:satOff val="-47968"/>
                <a:lumOff val="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DD86BEE-E67D-4B30-B5E2-663820FC4B0E}">
      <dsp:nvSpPr>
        <dsp:cNvPr id="0" name=""/>
        <dsp:cNvSpPr/>
      </dsp:nvSpPr>
      <dsp:spPr>
        <a:xfrm>
          <a:off x="4118969" y="215341"/>
          <a:ext cx="1950678" cy="17098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Sampai</a:t>
          </a:r>
          <a:r>
            <a:rPr lang="en-US" sz="1600" kern="1200" dirty="0"/>
            <a:t> </a:t>
          </a:r>
          <a:r>
            <a:rPr lang="en-US" sz="1600" kern="1200" dirty="0" err="1"/>
            <a:t>berjumpa</a:t>
          </a:r>
          <a:r>
            <a:rPr lang="en-US" sz="1600" kern="1200" dirty="0"/>
            <a:t> </a:t>
          </a:r>
          <a:r>
            <a:rPr lang="en-US" sz="1600" kern="1200" dirty="0" err="1"/>
            <a:t>lagi</a:t>
          </a:r>
          <a:r>
            <a:rPr lang="en-US" sz="1600" kern="1200" dirty="0"/>
            <a:t> di </a:t>
          </a:r>
          <a:r>
            <a:rPr lang="en-US" sz="1600" kern="1200" dirty="0" err="1"/>
            <a:t>inisiasi</a:t>
          </a:r>
          <a:r>
            <a:rPr lang="en-US" sz="1600" kern="1200" dirty="0"/>
            <a:t> </a:t>
          </a:r>
          <a:r>
            <a:rPr lang="en-US" sz="1600" kern="1200" dirty="0" err="1"/>
            <a:t>berikutnya</a:t>
          </a:r>
          <a:r>
            <a:rPr lang="en-US" sz="1600" kern="1200" dirty="0"/>
            <a:t> </a:t>
          </a:r>
          <a:r>
            <a:rPr lang="en-US" sz="1600" kern="1200" dirty="0" err="1"/>
            <a:t>Struktur</a:t>
          </a:r>
          <a:r>
            <a:rPr lang="en-US" sz="1600" kern="1200" dirty="0"/>
            <a:t> Data</a:t>
          </a:r>
        </a:p>
      </dsp:txBody>
      <dsp:txXfrm>
        <a:off x="4118969" y="215341"/>
        <a:ext cx="1950678" cy="17098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FF502-55E4-40A7-B8B9-019A639A219E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DE070-8B48-4B25-99A3-108D88F9B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68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63DD617-6359-4ADA-974D-7CC774EA6C12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0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BF5111-AC8A-4C9B-B4E5-1AF30EB51150}" type="slidenum">
              <a:rPr lang="en-US" altLang="en-US" sz="12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55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82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32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52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43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99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90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9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518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6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" name="whoosh.wav"/>
          </p:stSnd>
        </p:sndAc>
      </p:transition>
    </mc:Choice>
    <mc:Fallback xmlns="">
      <p:transition spd="slow">
        <p:blinds dir="vert"/>
        <p:sndAc>
          <p:stSnd>
            <p:snd r:embed="rId3" name="whoosh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wav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8004F-299B-411C-9CA5-288D55D0283C}" type="datetimeFigureOut">
              <a:rPr lang="en-US" smtClean="0"/>
              <a:t>8/30/23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18D7B-460E-40A3-AA98-7C2642151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580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13" name="whoosh.wav"/>
          </p:stSnd>
        </p:sndAc>
      </p:transition>
    </mc:Choice>
    <mc:Fallback xmlns="">
      <p:transition spd="slow">
        <p:blinds dir="vert"/>
        <p:sndAc>
          <p:stSnd>
            <p:snd r:embed="rId15" name="whoosh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9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wav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extBox 6"/>
          <p:cNvSpPr txBox="1">
            <a:spLocks noChangeArrowheads="1"/>
          </p:cNvSpPr>
          <p:nvPr/>
        </p:nvSpPr>
        <p:spPr bwMode="auto">
          <a:xfrm>
            <a:off x="1734894" y="1656396"/>
            <a:ext cx="8572500" cy="92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5441" dirty="0">
                <a:latin typeface="Britannic Bold" panose="020B0903060703020204" pitchFamily="34" charset="0"/>
              </a:rPr>
              <a:t>Graph</a:t>
            </a:r>
            <a:endParaRPr lang="id-ID" altLang="en-US" sz="2902" dirty="0">
              <a:solidFill>
                <a:srgbClr val="FF0000"/>
              </a:solidFill>
              <a:latin typeface="Britannic Bold" panose="020B090306070302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0614000-9694-462F-9B29-110BDC1ECA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7" y="4975578"/>
            <a:ext cx="2762295" cy="1096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Sistem</a:t>
            </a:r>
            <a:r>
              <a:rPr lang="en-US" altLang="en-US" sz="2176" b="1" dirty="0">
                <a:latin typeface="Century Gothic" panose="020B0502020202020204" pitchFamily="34" charset="0"/>
              </a:rPr>
              <a:t> </a:t>
            </a:r>
            <a:r>
              <a:rPr lang="en-US" altLang="en-US" sz="2176" b="1" dirty="0" err="1">
                <a:latin typeface="Century Gothic" panose="020B0502020202020204" pitchFamily="34" charset="0"/>
              </a:rPr>
              <a:t>Informasi</a:t>
            </a:r>
            <a:endParaRPr lang="en-US" altLang="en-US" sz="2176" b="1" dirty="0">
              <a:latin typeface="Century Gothic" panose="020B0502020202020204" pitchFamily="34" charset="0"/>
            </a:endParaRPr>
          </a:p>
          <a:p>
            <a:pPr algn="ctr" eaLnBrk="1" hangingPunct="1"/>
            <a:r>
              <a:rPr lang="en-US" altLang="en-US" sz="2176" b="1" dirty="0">
                <a:latin typeface="Century Gothic" panose="020B0502020202020204" pitchFamily="34" charset="0"/>
              </a:rPr>
              <a:t>FMIPA</a:t>
            </a:r>
          </a:p>
          <a:p>
            <a:pPr algn="ctr" eaLnBrk="1" hangingPunct="1"/>
            <a:r>
              <a:rPr lang="en-US" altLang="en-US" sz="2176" b="1" dirty="0" err="1">
                <a:latin typeface="Century Gothic" panose="020B0502020202020204" pitchFamily="34" charset="0"/>
              </a:rPr>
              <a:t>Universitas</a:t>
            </a:r>
            <a:r>
              <a:rPr lang="en-US" altLang="en-US" sz="2176" b="1" dirty="0">
                <a:latin typeface="Century Gothic" panose="020B0502020202020204" pitchFamily="34" charset="0"/>
              </a:rPr>
              <a:t> Terbuka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1B309-90EA-4D24-9B61-440B515CC326}"/>
              </a:ext>
            </a:extLst>
          </p:cNvPr>
          <p:cNvSpPr txBox="1"/>
          <p:nvPr/>
        </p:nvSpPr>
        <p:spPr>
          <a:xfrm>
            <a:off x="5055174" y="3815118"/>
            <a:ext cx="1931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MV Boli" panose="02000500030200090000" pitchFamily="2" charset="0"/>
                <a:cs typeface="MV Boli" panose="02000500030200090000" pitchFamily="2" charset="0"/>
              </a:rPr>
              <a:t>Dian Nursantika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38EEA-D6E0-4883-87C6-BA97582A9113}"/>
              </a:ext>
            </a:extLst>
          </p:cNvPr>
          <p:cNvSpPr/>
          <p:nvPr/>
        </p:nvSpPr>
        <p:spPr>
          <a:xfrm>
            <a:off x="2836507" y="443369"/>
            <a:ext cx="9318171" cy="750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4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/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Isi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3000096" y="1946851"/>
            <a:ext cx="2555394" cy="677585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ms-MY" dirty="0"/>
              <a:t>Graphs</a:t>
            </a:r>
            <a:endParaRPr lang="en-US" sz="11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ms-MY" dirty="0" err="1"/>
              <a:t>AdjacencyMatrix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1997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Contoh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Kasus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Penulis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1855352" y="2076450"/>
            <a:ext cx="4240648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Contoh</a:t>
            </a:r>
            <a:r>
              <a:rPr lang="en-US" dirty="0"/>
              <a:t> Graph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nama-nama</a:t>
            </a:r>
            <a:r>
              <a:rPr lang="en-US" dirty="0"/>
              <a:t> </a:t>
            </a:r>
            <a:r>
              <a:rPr lang="en-US" dirty="0" err="1"/>
              <a:t>penulis</a:t>
            </a:r>
            <a:r>
              <a:rPr lang="en-US" dirty="0"/>
              <a:t>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berelasi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Graph.</a:t>
            </a:r>
            <a:r>
              <a:rPr lang="en-US" sz="1100" dirty="0"/>
              <a:t> 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C1C267-1835-4446-8601-BB6B3AD5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216" y="2076450"/>
            <a:ext cx="4143375" cy="270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875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Contoh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Kasus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Jadwal</a:t>
            </a: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 </a:t>
            </a:r>
            <a:r>
              <a:rPr lang="en-US" altLang="en-US" sz="2539" dirty="0" err="1">
                <a:latin typeface="Berlin Sans FB" panose="020E0602020502020306" pitchFamily="34" charset="0"/>
                <a:cs typeface="MV Boli" panose="02000500030200090000" pitchFamily="2" charset="0"/>
              </a:rPr>
              <a:t>Penerbangan</a:t>
            </a:r>
            <a:endParaRPr lang="en-US" altLang="en-US" sz="2539" dirty="0">
              <a:latin typeface="Berlin Sans FB" panose="020E0602020502020306" pitchFamily="34" charset="0"/>
              <a:cs typeface="MV Boli" panose="0200050003020009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1855352" y="2076450"/>
            <a:ext cx="4240648" cy="1258372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Contoh</a:t>
            </a:r>
            <a:r>
              <a:rPr lang="en-US" dirty="0"/>
              <a:t> Graph </a:t>
            </a: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dirty="0" err="1"/>
              <a:t>jadwal</a:t>
            </a:r>
            <a:r>
              <a:rPr lang="en-US" dirty="0"/>
              <a:t> </a:t>
            </a:r>
            <a:r>
              <a:rPr lang="en-US" dirty="0" err="1"/>
              <a:t>penerbangan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pesawat</a:t>
            </a:r>
            <a:r>
              <a:rPr lang="en-US" dirty="0"/>
              <a:t> yang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berelasi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membentuk</a:t>
            </a:r>
            <a:r>
              <a:rPr lang="en-US" dirty="0"/>
              <a:t> Graph.</a:t>
            </a:r>
            <a:r>
              <a:rPr lang="en-US" sz="1100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60C55E-EC96-4559-86D7-9518DAAB9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606" y="2339140"/>
            <a:ext cx="412432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34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Graph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3E14DF-47AF-49BE-942D-DDF5BE63A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7138" y="2258429"/>
            <a:ext cx="3743325" cy="2628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1E9DD9D-CB34-4FD5-816A-3DF104705E6D}"/>
              </a:ext>
            </a:extLst>
          </p:cNvPr>
          <p:cNvSpPr txBox="1"/>
          <p:nvPr/>
        </p:nvSpPr>
        <p:spPr>
          <a:xfrm>
            <a:off x="1556234" y="1796764"/>
            <a:ext cx="5571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Alur</a:t>
            </a:r>
            <a:r>
              <a:rPr lang="en-US" dirty="0"/>
              <a:t> yang </a:t>
            </a:r>
            <a:r>
              <a:rPr lang="en-US" dirty="0" err="1"/>
              <a:t>dilewati</a:t>
            </a:r>
            <a:r>
              <a:rPr lang="en-US" dirty="0"/>
              <a:t> graph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berbentuk</a:t>
            </a:r>
            <a:r>
              <a:rPr lang="en-US" dirty="0"/>
              <a:t> </a:t>
            </a:r>
            <a:r>
              <a:rPr lang="en-US" dirty="0" err="1"/>
              <a:t>pohon</a:t>
            </a:r>
            <a:r>
              <a:rPr lang="en-US" dirty="0"/>
              <a:t>.</a:t>
            </a:r>
          </a:p>
          <a:p>
            <a:r>
              <a:rPr lang="en-US" dirty="0"/>
              <a:t>Graph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yang </a:t>
            </a:r>
            <a:r>
              <a:rPr lang="en-US" dirty="0" err="1"/>
              <a:t>dituju</a:t>
            </a:r>
            <a:r>
              <a:rPr lang="en-US" dirty="0"/>
              <a:t>,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node “0” </a:t>
            </a:r>
            <a:r>
              <a:rPr lang="en-US" dirty="0" err="1"/>
              <a:t>ke</a:t>
            </a:r>
            <a:r>
              <a:rPr lang="en-US" dirty="0"/>
              <a:t> node “1”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635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4" name="whoosh.wav"/>
          </p:stSnd>
        </p:sndAc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673FB7D-5B68-48F2-ACBA-BD7D42E9FA9F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>
                <a:latin typeface="Berlin Sans FB" panose="020E0602020502020306" pitchFamily="34" charset="0"/>
                <a:cs typeface="MV Boli" panose="02000500030200090000" pitchFamily="2" charset="0"/>
              </a:rPr>
              <a:t>Adjacency Matrix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BDB7-FFE3-483B-8E71-9FBF95F88D32}"/>
              </a:ext>
            </a:extLst>
          </p:cNvPr>
          <p:cNvSpPr txBox="1"/>
          <p:nvPr/>
        </p:nvSpPr>
        <p:spPr>
          <a:xfrm>
            <a:off x="900363" y="1426439"/>
            <a:ext cx="7916259" cy="967978"/>
          </a:xfrm>
          <a:prstGeom prst="round2Same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Menampilkan</a:t>
            </a:r>
            <a:r>
              <a:rPr lang="en-US" dirty="0"/>
              <a:t> graph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matrik</a:t>
            </a:r>
            <a:r>
              <a:rPr lang="en-US" dirty="0"/>
              <a:t>,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maka</a:t>
            </a:r>
            <a:r>
              <a:rPr lang="en-US" dirty="0"/>
              <a:t> di </a:t>
            </a:r>
            <a:r>
              <a:rPr lang="en-US" dirty="0" err="1"/>
              <a:t>beri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1. </a:t>
            </a:r>
            <a:r>
              <a:rPr lang="en-US" dirty="0" err="1"/>
              <a:t>Misalkan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graph node “0” </a:t>
            </a:r>
            <a:r>
              <a:rPr lang="en-US" dirty="0" err="1"/>
              <a:t>menuju</a:t>
            </a:r>
            <a:r>
              <a:rPr lang="en-US" dirty="0"/>
              <a:t> node “1”,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</a:t>
            </a:r>
            <a:r>
              <a:rPr lang="en-US" dirty="0" err="1"/>
              <a:t>lihat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baris</a:t>
            </a:r>
            <a:r>
              <a:rPr lang="en-US" dirty="0"/>
              <a:t> “0”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kolom</a:t>
            </a:r>
            <a:r>
              <a:rPr lang="en-US" dirty="0"/>
              <a:t> “1”, </a:t>
            </a:r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diisi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 “1”.</a:t>
            </a:r>
            <a:endParaRPr lang="en-US" sz="11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E95F81-9101-46B4-8EB5-3D11970B3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941" y="2574061"/>
            <a:ext cx="4733925" cy="3086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F52513-7284-4BEF-9F15-3EA0CFF35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342" y="2802661"/>
            <a:ext cx="3743325" cy="26289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9219F7A-6E74-4457-88AB-A69FA4C2D0B3}"/>
              </a:ext>
            </a:extLst>
          </p:cNvPr>
          <p:cNvSpPr/>
          <p:nvPr/>
        </p:nvSpPr>
        <p:spPr>
          <a:xfrm>
            <a:off x="7687734" y="2847817"/>
            <a:ext cx="225777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A2891B1-97E9-4220-A0A7-943593728979}"/>
              </a:ext>
            </a:extLst>
          </p:cNvPr>
          <p:cNvSpPr/>
          <p:nvPr/>
        </p:nvSpPr>
        <p:spPr>
          <a:xfrm>
            <a:off x="6084711" y="3745867"/>
            <a:ext cx="310382" cy="474468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A1A3F1A-EF45-4181-9D32-B073B9C20C0E}"/>
              </a:ext>
            </a:extLst>
          </p:cNvPr>
          <p:cNvSpPr/>
          <p:nvPr/>
        </p:nvSpPr>
        <p:spPr>
          <a:xfrm>
            <a:off x="7363985" y="3754501"/>
            <a:ext cx="225777" cy="2286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3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2" name="whoosh.wav"/>
          </p:stSnd>
        </p:sndAc>
      </p:transition>
    </mc:Choice>
    <mc:Fallback xmlns="">
      <p:transition spd="slow">
        <p:blinds dir="vert"/>
        <p:sndAc>
          <p:stSnd>
            <p:snd r:embed="rId5" name="whoosh.wav"/>
          </p:stSnd>
        </p:sndAc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"/>
          <p:cNvSpPr txBox="1">
            <a:spLocks noChangeArrowheads="1"/>
          </p:cNvSpPr>
          <p:nvPr/>
        </p:nvSpPr>
        <p:spPr bwMode="auto">
          <a:xfrm rot="10800000" flipH="1" flipV="1">
            <a:off x="3000096" y="604240"/>
            <a:ext cx="5571045" cy="474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907" tIns="41454" rIns="82907" bIns="41454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953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539" dirty="0" err="1">
                <a:latin typeface="MV Boli" panose="02000500030200090000" pitchFamily="2" charset="0"/>
                <a:cs typeface="MV Boli" panose="02000500030200090000" pitchFamily="2" charset="0"/>
              </a:rPr>
              <a:t>Penutup</a:t>
            </a:r>
            <a:endParaRPr lang="en-US" altLang="en-US" sz="2539" dirty="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D3EB03-E8C0-48B1-B363-B5BCA5E58A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885468"/>
              </p:ext>
            </p:extLst>
          </p:nvPr>
        </p:nvGraphicFramePr>
        <p:xfrm>
          <a:off x="2121257" y="2721935"/>
          <a:ext cx="7586269" cy="25169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3172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  <p:sndAc>
          <p:stSnd>
            <p:snd r:embed="rId3" name="whoosh.wav"/>
          </p:stSnd>
        </p:sndAc>
      </p:transition>
    </mc:Choice>
    <mc:Fallback xmlns="">
      <p:transition spd="slow">
        <p:blinds dir="vert"/>
        <p:sndAc>
          <p:stSnd>
            <p:snd r:embed="rId9" name="whoosh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1075</TotalTime>
  <Words>146</Words>
  <Application>Microsoft Macintosh PowerPoint</Application>
  <PresentationFormat>Widescreen</PresentationFormat>
  <Paragraphs>22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Berlin Sans FB</vt:lpstr>
      <vt:lpstr>Britannic Bold</vt:lpstr>
      <vt:lpstr>Calibri</vt:lpstr>
      <vt:lpstr>Calibri Light</vt:lpstr>
      <vt:lpstr>Century Gothic</vt:lpstr>
      <vt:lpstr>MV Boli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user</dc:creator>
  <cp:lastModifiedBy>Dian Nursantika, S.Kom., M.Cs.</cp:lastModifiedBy>
  <cp:revision>81</cp:revision>
  <dcterms:created xsi:type="dcterms:W3CDTF">2018-01-15T03:36:45Z</dcterms:created>
  <dcterms:modified xsi:type="dcterms:W3CDTF">2023-08-30T16:06:55Z</dcterms:modified>
</cp:coreProperties>
</file>