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63" r:id="rId5"/>
    <p:sldId id="282" r:id="rId6"/>
    <p:sldId id="264" r:id="rId7"/>
    <p:sldId id="287" r:id="rId8"/>
    <p:sldId id="288" r:id="rId9"/>
    <p:sldId id="315" r:id="rId10"/>
    <p:sldId id="289" r:id="rId11"/>
    <p:sldId id="291" r:id="rId12"/>
    <p:sldId id="290" r:id="rId13"/>
    <p:sldId id="292" r:id="rId14"/>
    <p:sldId id="293" r:id="rId15"/>
    <p:sldId id="294" r:id="rId16"/>
    <p:sldId id="295" r:id="rId17"/>
    <p:sldId id="285" r:id="rId18"/>
    <p:sldId id="259" r:id="rId19"/>
    <p:sldId id="262" r:id="rId20"/>
    <p:sldId id="261" r:id="rId21"/>
    <p:sldId id="265" r:id="rId22"/>
    <p:sldId id="267" r:id="rId23"/>
    <p:sldId id="296" r:id="rId24"/>
    <p:sldId id="301" r:id="rId25"/>
    <p:sldId id="268" r:id="rId26"/>
    <p:sldId id="322" r:id="rId27"/>
    <p:sldId id="323" r:id="rId28"/>
    <p:sldId id="269" r:id="rId29"/>
    <p:sldId id="270" r:id="rId30"/>
    <p:sldId id="271" r:id="rId31"/>
    <p:sldId id="276" r:id="rId32"/>
    <p:sldId id="279" r:id="rId33"/>
    <p:sldId id="283" r:id="rId34"/>
    <p:sldId id="284" r:id="rId35"/>
    <p:sldId id="319" r:id="rId36"/>
    <p:sldId id="324" r:id="rId37"/>
    <p:sldId id="307" r:id="rId38"/>
    <p:sldId id="272" r:id="rId39"/>
    <p:sldId id="273" r:id="rId40"/>
    <p:sldId id="274" r:id="rId41"/>
    <p:sldId id="298" r:id="rId42"/>
    <p:sldId id="300" r:id="rId43"/>
    <p:sldId id="302" r:id="rId44"/>
    <p:sldId id="308" r:id="rId45"/>
    <p:sldId id="304" r:id="rId46"/>
    <p:sldId id="305" r:id="rId47"/>
    <p:sldId id="309" r:id="rId48"/>
    <p:sldId id="310" r:id="rId49"/>
    <p:sldId id="312" r:id="rId50"/>
    <p:sldId id="313" r:id="rId51"/>
    <p:sldId id="314" r:id="rId52"/>
    <p:sldId id="317" r:id="rId53"/>
    <p:sldId id="320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104"/>
    <a:srgbClr val="0066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5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Diagonal Corner Rectangle 10"/>
          <p:cNvSpPr/>
          <p:nvPr userDrawn="1"/>
        </p:nvSpPr>
        <p:spPr>
          <a:xfrm>
            <a:off x="228600" y="228600"/>
            <a:ext cx="8686800" cy="2819400"/>
          </a:xfrm>
          <a:prstGeom prst="round2DiagRect">
            <a:avLst>
              <a:gd name="adj1" fmla="val 28769"/>
              <a:gd name="adj2" fmla="val 0"/>
            </a:avLst>
          </a:prstGeom>
          <a:solidFill>
            <a:srgbClr val="006600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 userDrawn="1"/>
        </p:nvSpPr>
        <p:spPr>
          <a:xfrm>
            <a:off x="228600" y="152400"/>
            <a:ext cx="8686800" cy="1219200"/>
          </a:xfrm>
          <a:prstGeom prst="round2DiagRect">
            <a:avLst>
              <a:gd name="adj1" fmla="val 23384"/>
              <a:gd name="adj2" fmla="val 0"/>
            </a:avLst>
          </a:prstGeom>
          <a:solidFill>
            <a:srgbClr val="006600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  <a:lvl2pPr>
              <a:defRPr>
                <a:solidFill>
                  <a:schemeClr val="accent4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4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4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4">
                    <a:lumMod val="40000"/>
                    <a:lumOff val="60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Diagonal Corner Rectangle 9"/>
          <p:cNvSpPr/>
          <p:nvPr userDrawn="1"/>
        </p:nvSpPr>
        <p:spPr>
          <a:xfrm>
            <a:off x="228600" y="152400"/>
            <a:ext cx="8686800" cy="3124200"/>
          </a:xfrm>
          <a:prstGeom prst="round2DiagRect">
            <a:avLst>
              <a:gd name="adj1" fmla="val 28769"/>
              <a:gd name="adj2" fmla="val 0"/>
            </a:avLst>
          </a:prstGeom>
          <a:solidFill>
            <a:srgbClr val="006600"/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Diagonal Corner Rectangle 7"/>
          <p:cNvSpPr/>
          <p:nvPr userDrawn="1"/>
        </p:nvSpPr>
        <p:spPr>
          <a:xfrm>
            <a:off x="228600" y="152400"/>
            <a:ext cx="8686800" cy="1219200"/>
          </a:xfrm>
          <a:prstGeom prst="round2DiagRect">
            <a:avLst/>
          </a:prstGeom>
          <a:solidFill>
            <a:srgbClr val="006600"/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Diagonal Corner Rectangle 9"/>
          <p:cNvSpPr/>
          <p:nvPr userDrawn="1"/>
        </p:nvSpPr>
        <p:spPr>
          <a:xfrm>
            <a:off x="228600" y="152400"/>
            <a:ext cx="8686800" cy="1219200"/>
          </a:xfrm>
          <a:prstGeom prst="round2DiagRect">
            <a:avLst/>
          </a:prstGeom>
          <a:solidFill>
            <a:srgbClr val="006600"/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Diagonal Corner Rectangle 5"/>
          <p:cNvSpPr/>
          <p:nvPr userDrawn="1"/>
        </p:nvSpPr>
        <p:spPr>
          <a:xfrm>
            <a:off x="228600" y="152400"/>
            <a:ext cx="8686800" cy="1219200"/>
          </a:xfrm>
          <a:prstGeom prst="round2DiagRect">
            <a:avLst/>
          </a:prstGeom>
          <a:solidFill>
            <a:srgbClr val="006600"/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4"/>
          <p:cNvSpPr/>
          <p:nvPr userDrawn="1"/>
        </p:nvSpPr>
        <p:spPr>
          <a:xfrm>
            <a:off x="228600" y="152400"/>
            <a:ext cx="8686800" cy="1219200"/>
          </a:xfrm>
          <a:prstGeom prst="round2DiagRect">
            <a:avLst/>
          </a:prstGeom>
          <a:solidFill>
            <a:srgbClr val="006600"/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8A207AC-3AB8-4C82-9F2C-58645FEA6343}" type="datetimeFigureOut">
              <a:rPr lang="en-US" smtClean="0"/>
              <a:pPr/>
              <a:t>8/18/2020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72241BAA-9492-490C-95E8-B3B1E6254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 spd="med">
    <p:random/>
  </p:transition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accent4">
              <a:lumMod val="40000"/>
              <a:lumOff val="60000"/>
            </a:schemeClr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accent4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accent4">
              <a:lumMod val="40000"/>
              <a:lumOff val="60000"/>
            </a:schemeClr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accent4">
              <a:lumMod val="40000"/>
              <a:lumOff val="60000"/>
            </a:schemeClr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accent4">
              <a:lumMod val="40000"/>
              <a:lumOff val="60000"/>
            </a:schemeClr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://howstuffworks.com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hyperlink" Target="file:///E:\AA-PEKERTI\ContohMediaPembelajaran\MEDIA%20PEMBELAJARAN%20KIMIA%20BERBASIS%20ICT.pps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E:\AA-PEKERTI\ContohMediaPembelajaran\Peredaran%20darah.ppsx" TargetMode="External"/><Relationship Id="rId5" Type="http://schemas.openxmlformats.org/officeDocument/2006/relationships/image" Target="../media/image46.png"/><Relationship Id="rId4" Type="http://schemas.openxmlformats.org/officeDocument/2006/relationships/hyperlink" Target="file:///E:\AA-PEKERTI\ContohMediaPembelajaran\Pencernaan%20Manusia.ppsx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9200"/>
            <a:ext cx="8013192" cy="1636776"/>
          </a:xfrm>
        </p:spPr>
        <p:txBody>
          <a:bodyPr>
            <a:normAutofit/>
          </a:bodyPr>
          <a:lstStyle/>
          <a:p>
            <a:r>
              <a:rPr lang="en-US" sz="40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RAGAM MEDIA PEMBELAJARAN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8022336" cy="685800"/>
          </a:xfrm>
        </p:spPr>
        <p:txBody>
          <a:bodyPr anchor="ctr"/>
          <a:lstStyle/>
          <a:p>
            <a:r>
              <a:rPr lang="en-US" b="1" spc="5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Wawan Laksito YS, S.Si, M.Kom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56388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cap="all" spc="12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Pelatihan Applied Approach (AA) </a:t>
            </a:r>
          </a:p>
          <a:p>
            <a:pPr algn="ctr"/>
            <a:r>
              <a:rPr lang="en-US" sz="2400" b="1" cap="all" spc="12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Dosen PTS Kopertis Wilayah VI Jawa  Tengah</a:t>
            </a: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Kompetensi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/>
              <a:t>Standar Kompetensi</a:t>
            </a:r>
          </a:p>
          <a:p>
            <a:pPr marL="460375" lvl="1" indent="19050">
              <a:buNone/>
            </a:pPr>
            <a:r>
              <a:rPr lang="en-US" b="1"/>
              <a:t>Dapat menjelaskan adanya beragam media yang dapat dipilih sebagai media pembelajaran</a:t>
            </a:r>
          </a:p>
          <a:p>
            <a:pPr marL="460375" lvl="1" indent="19050">
              <a:buNone/>
            </a:pPr>
            <a:endParaRPr lang="en-US" b="1"/>
          </a:p>
          <a:p>
            <a:pPr marL="465138" indent="-279400">
              <a:tabLst>
                <a:tab pos="749300" algn="l"/>
              </a:tabLst>
            </a:pPr>
            <a:r>
              <a:rPr lang="en-US" b="1"/>
              <a:t>Kompetensi Dasar</a:t>
            </a:r>
            <a:endParaRPr lang="en-US"/>
          </a:p>
          <a:p>
            <a:pPr marL="749808" lvl="1" indent="-457200">
              <a:spcBef>
                <a:spcPct val="25000"/>
              </a:spcBef>
              <a:spcAft>
                <a:spcPct val="25000"/>
              </a:spcAft>
              <a:tabLst>
                <a:tab pos="749300" algn="l"/>
              </a:tabLst>
            </a:pPr>
            <a:r>
              <a:rPr lang="en-US" b="1"/>
              <a:t>Menjelaskan makna media</a:t>
            </a:r>
          </a:p>
          <a:p>
            <a:pPr marL="749808" lvl="1" indent="-457200">
              <a:spcBef>
                <a:spcPct val="25000"/>
              </a:spcBef>
              <a:spcAft>
                <a:spcPct val="25000"/>
              </a:spcAft>
              <a:tabLst>
                <a:tab pos="749300" algn="l"/>
              </a:tabLst>
            </a:pPr>
            <a:r>
              <a:rPr lang="en-US" b="1"/>
              <a:t>Menjelaskan peran media dalam proses pembelajaran</a:t>
            </a:r>
          </a:p>
          <a:p>
            <a:pPr marL="749808" lvl="1" indent="-457200">
              <a:spcBef>
                <a:spcPct val="25000"/>
              </a:spcBef>
              <a:spcAft>
                <a:spcPct val="25000"/>
              </a:spcAft>
              <a:tabLst>
                <a:tab pos="749300" algn="l"/>
              </a:tabLst>
            </a:pPr>
            <a:r>
              <a:rPr lang="en-US" b="1"/>
              <a:t>Menyebutkan macam-macam media menurut penggolongan</a:t>
            </a:r>
          </a:p>
          <a:p>
            <a:pPr marL="749808" lvl="1" indent="-457200">
              <a:spcBef>
                <a:spcPct val="25000"/>
              </a:spcBef>
              <a:spcAft>
                <a:spcPct val="25000"/>
              </a:spcAft>
              <a:tabLst>
                <a:tab pos="749300" algn="l"/>
              </a:tabLst>
            </a:pPr>
            <a:r>
              <a:rPr lang="en-US" b="1"/>
              <a:t>Menjelaskan kriteria pemilihan media</a:t>
            </a:r>
          </a:p>
          <a:p>
            <a:pPr marL="749808" lvl="1" indent="-457200">
              <a:spcBef>
                <a:spcPct val="25000"/>
              </a:spcBef>
              <a:spcAft>
                <a:spcPct val="25000"/>
              </a:spcAft>
              <a:tabLst>
                <a:tab pos="749300" algn="l"/>
              </a:tabLst>
            </a:pPr>
            <a:r>
              <a:rPr lang="en-US" b="1"/>
              <a:t>Membuat media berbasis ICT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5448"/>
            <a:ext cx="8534400" cy="1252728"/>
          </a:xfrm>
        </p:spPr>
        <p:txBody>
          <a:bodyPr>
            <a:noAutofit/>
          </a:bodyPr>
          <a:lstStyle/>
          <a:p>
            <a:pPr algn="ctr"/>
            <a:r>
              <a:rPr lang="en-US" sz="38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Proses Komunikasi dalam Pembelajaran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57200" y="1752600"/>
            <a:ext cx="7982768" cy="4373563"/>
            <a:chOff x="457200" y="1752600"/>
            <a:chExt cx="7982768" cy="4373563"/>
          </a:xfrm>
        </p:grpSpPr>
        <p:grpSp>
          <p:nvGrpSpPr>
            <p:cNvPr id="22" name="Group 21"/>
            <p:cNvGrpSpPr/>
            <p:nvPr/>
          </p:nvGrpSpPr>
          <p:grpSpPr>
            <a:xfrm>
              <a:off x="457200" y="2087710"/>
              <a:ext cx="7982768" cy="4038453"/>
              <a:chOff x="457200" y="2087710"/>
              <a:chExt cx="7982768" cy="4038453"/>
            </a:xfrm>
          </p:grpSpPr>
          <p:sp>
            <p:nvSpPr>
              <p:cNvPr id="4" name="Freeform 3"/>
              <p:cNvSpPr>
                <a:spLocks/>
              </p:cNvSpPr>
              <p:nvPr/>
            </p:nvSpPr>
            <p:spPr bwMode="auto">
              <a:xfrm>
                <a:off x="1687406" y="4365977"/>
                <a:ext cx="5619770" cy="1430353"/>
              </a:xfrm>
              <a:custGeom>
                <a:avLst/>
                <a:gdLst/>
                <a:ahLst/>
                <a:cxnLst>
                  <a:cxn ang="0">
                    <a:pos x="3384" y="0"/>
                  </a:cxn>
                  <a:cxn ang="0">
                    <a:pos x="3384" y="888"/>
                  </a:cxn>
                  <a:cxn ang="0">
                    <a:pos x="0" y="876"/>
                  </a:cxn>
                  <a:cxn ang="0">
                    <a:pos x="0" y="84"/>
                  </a:cxn>
                </a:cxnLst>
                <a:rect l="0" t="0" r="r" b="b"/>
                <a:pathLst>
                  <a:path w="3385" h="889">
                    <a:moveTo>
                      <a:pt x="3384" y="0"/>
                    </a:moveTo>
                    <a:lnTo>
                      <a:pt x="3384" y="888"/>
                    </a:lnTo>
                    <a:lnTo>
                      <a:pt x="0" y="876"/>
                    </a:lnTo>
                    <a:lnTo>
                      <a:pt x="0" y="84"/>
                    </a:lnTo>
                  </a:path>
                </a:pathLst>
              </a:cu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4"/>
              <p:cNvSpPr>
                <a:spLocks/>
              </p:cNvSpPr>
              <p:nvPr/>
            </p:nvSpPr>
            <p:spPr bwMode="auto">
              <a:xfrm>
                <a:off x="1707328" y="2087710"/>
                <a:ext cx="5619770" cy="1430353"/>
              </a:xfrm>
              <a:custGeom>
                <a:avLst/>
                <a:gdLst/>
                <a:ahLst/>
                <a:cxnLst>
                  <a:cxn ang="0">
                    <a:pos x="0" y="888"/>
                  </a:cxn>
                  <a:cxn ang="0">
                    <a:pos x="0" y="0"/>
                  </a:cxn>
                  <a:cxn ang="0">
                    <a:pos x="3384" y="12"/>
                  </a:cxn>
                  <a:cxn ang="0">
                    <a:pos x="3384" y="804"/>
                  </a:cxn>
                </a:cxnLst>
                <a:rect l="0" t="0" r="r" b="b"/>
                <a:pathLst>
                  <a:path w="3385" h="889">
                    <a:moveTo>
                      <a:pt x="0" y="888"/>
                    </a:moveTo>
                    <a:lnTo>
                      <a:pt x="0" y="0"/>
                    </a:lnTo>
                    <a:lnTo>
                      <a:pt x="3384" y="12"/>
                    </a:lnTo>
                    <a:lnTo>
                      <a:pt x="3384" y="804"/>
                    </a:lnTo>
                  </a:path>
                </a:pathLst>
              </a:cu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5"/>
              <p:cNvSpPr>
                <a:spLocks/>
              </p:cNvSpPr>
              <p:nvPr/>
            </p:nvSpPr>
            <p:spPr bwMode="auto">
              <a:xfrm>
                <a:off x="2726690" y="5427881"/>
                <a:ext cx="3546183" cy="698282"/>
              </a:xfrm>
              <a:custGeom>
                <a:avLst/>
                <a:gdLst/>
                <a:ahLst/>
                <a:cxnLst>
                  <a:cxn ang="0">
                    <a:pos x="339" y="0"/>
                  </a:cxn>
                  <a:cxn ang="0">
                    <a:pos x="270" y="5"/>
                  </a:cxn>
                  <a:cxn ang="0">
                    <a:pos x="207" y="17"/>
                  </a:cxn>
                  <a:cxn ang="0">
                    <a:pos x="151" y="39"/>
                  </a:cxn>
                  <a:cxn ang="0">
                    <a:pos x="100" y="62"/>
                  </a:cxn>
                  <a:cxn ang="0">
                    <a:pos x="56" y="95"/>
                  </a:cxn>
                  <a:cxn ang="0">
                    <a:pos x="25" y="129"/>
                  </a:cxn>
                  <a:cxn ang="0">
                    <a:pos x="6" y="169"/>
                  </a:cxn>
                  <a:cxn ang="0">
                    <a:pos x="0" y="214"/>
                  </a:cxn>
                  <a:cxn ang="0">
                    <a:pos x="6" y="259"/>
                  </a:cxn>
                  <a:cxn ang="0">
                    <a:pos x="25" y="298"/>
                  </a:cxn>
                  <a:cxn ang="0">
                    <a:pos x="56" y="337"/>
                  </a:cxn>
                  <a:cxn ang="0">
                    <a:pos x="100" y="371"/>
                  </a:cxn>
                  <a:cxn ang="0">
                    <a:pos x="151" y="394"/>
                  </a:cxn>
                  <a:cxn ang="0">
                    <a:pos x="207" y="416"/>
                  </a:cxn>
                  <a:cxn ang="0">
                    <a:pos x="270" y="427"/>
                  </a:cxn>
                  <a:cxn ang="0">
                    <a:pos x="339" y="433"/>
                  </a:cxn>
                  <a:cxn ang="0">
                    <a:pos x="1790" y="433"/>
                  </a:cxn>
                  <a:cxn ang="0">
                    <a:pos x="1859" y="427"/>
                  </a:cxn>
                  <a:cxn ang="0">
                    <a:pos x="1921" y="416"/>
                  </a:cxn>
                  <a:cxn ang="0">
                    <a:pos x="1984" y="394"/>
                  </a:cxn>
                  <a:cxn ang="0">
                    <a:pos x="2035" y="371"/>
                  </a:cxn>
                  <a:cxn ang="0">
                    <a:pos x="2078" y="337"/>
                  </a:cxn>
                  <a:cxn ang="0">
                    <a:pos x="2110" y="298"/>
                  </a:cxn>
                  <a:cxn ang="0">
                    <a:pos x="2129" y="259"/>
                  </a:cxn>
                  <a:cxn ang="0">
                    <a:pos x="2135" y="214"/>
                  </a:cxn>
                  <a:cxn ang="0">
                    <a:pos x="2129" y="169"/>
                  </a:cxn>
                  <a:cxn ang="0">
                    <a:pos x="2110" y="129"/>
                  </a:cxn>
                  <a:cxn ang="0">
                    <a:pos x="2078" y="95"/>
                  </a:cxn>
                  <a:cxn ang="0">
                    <a:pos x="2035" y="62"/>
                  </a:cxn>
                  <a:cxn ang="0">
                    <a:pos x="1984" y="39"/>
                  </a:cxn>
                  <a:cxn ang="0">
                    <a:pos x="1921" y="17"/>
                  </a:cxn>
                  <a:cxn ang="0">
                    <a:pos x="1859" y="5"/>
                  </a:cxn>
                  <a:cxn ang="0">
                    <a:pos x="1790" y="0"/>
                  </a:cxn>
                  <a:cxn ang="0">
                    <a:pos x="339" y="0"/>
                  </a:cxn>
                </a:cxnLst>
                <a:rect l="0" t="0" r="r" b="b"/>
                <a:pathLst>
                  <a:path w="2136" h="434">
                    <a:moveTo>
                      <a:pt x="339" y="0"/>
                    </a:moveTo>
                    <a:lnTo>
                      <a:pt x="270" y="5"/>
                    </a:lnTo>
                    <a:lnTo>
                      <a:pt x="207" y="17"/>
                    </a:lnTo>
                    <a:lnTo>
                      <a:pt x="151" y="39"/>
                    </a:lnTo>
                    <a:lnTo>
                      <a:pt x="100" y="62"/>
                    </a:lnTo>
                    <a:lnTo>
                      <a:pt x="56" y="95"/>
                    </a:lnTo>
                    <a:lnTo>
                      <a:pt x="25" y="129"/>
                    </a:lnTo>
                    <a:lnTo>
                      <a:pt x="6" y="169"/>
                    </a:lnTo>
                    <a:lnTo>
                      <a:pt x="0" y="214"/>
                    </a:lnTo>
                    <a:lnTo>
                      <a:pt x="6" y="259"/>
                    </a:lnTo>
                    <a:lnTo>
                      <a:pt x="25" y="298"/>
                    </a:lnTo>
                    <a:lnTo>
                      <a:pt x="56" y="337"/>
                    </a:lnTo>
                    <a:lnTo>
                      <a:pt x="100" y="371"/>
                    </a:lnTo>
                    <a:lnTo>
                      <a:pt x="151" y="394"/>
                    </a:lnTo>
                    <a:lnTo>
                      <a:pt x="207" y="416"/>
                    </a:lnTo>
                    <a:lnTo>
                      <a:pt x="270" y="427"/>
                    </a:lnTo>
                    <a:lnTo>
                      <a:pt x="339" y="433"/>
                    </a:lnTo>
                    <a:lnTo>
                      <a:pt x="1790" y="433"/>
                    </a:lnTo>
                    <a:lnTo>
                      <a:pt x="1859" y="427"/>
                    </a:lnTo>
                    <a:lnTo>
                      <a:pt x="1921" y="416"/>
                    </a:lnTo>
                    <a:lnTo>
                      <a:pt x="1984" y="394"/>
                    </a:lnTo>
                    <a:lnTo>
                      <a:pt x="2035" y="371"/>
                    </a:lnTo>
                    <a:lnTo>
                      <a:pt x="2078" y="337"/>
                    </a:lnTo>
                    <a:lnTo>
                      <a:pt x="2110" y="298"/>
                    </a:lnTo>
                    <a:lnTo>
                      <a:pt x="2129" y="259"/>
                    </a:lnTo>
                    <a:lnTo>
                      <a:pt x="2135" y="214"/>
                    </a:lnTo>
                    <a:lnTo>
                      <a:pt x="2129" y="169"/>
                    </a:lnTo>
                    <a:lnTo>
                      <a:pt x="2110" y="129"/>
                    </a:lnTo>
                    <a:lnTo>
                      <a:pt x="2078" y="95"/>
                    </a:lnTo>
                    <a:lnTo>
                      <a:pt x="2035" y="62"/>
                    </a:lnTo>
                    <a:lnTo>
                      <a:pt x="1984" y="39"/>
                    </a:lnTo>
                    <a:lnTo>
                      <a:pt x="1921" y="17"/>
                    </a:lnTo>
                    <a:lnTo>
                      <a:pt x="1859" y="5"/>
                    </a:lnTo>
                    <a:lnTo>
                      <a:pt x="1790" y="0"/>
                    </a:lnTo>
                    <a:lnTo>
                      <a:pt x="339" y="0"/>
                    </a:lnTo>
                  </a:path>
                </a:pathLst>
              </a:custGeom>
              <a:solidFill>
                <a:srgbClr val="CCFFCC"/>
              </a:solidFill>
              <a:ln w="12699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Oval 8"/>
              <p:cNvSpPr>
                <a:spLocks noChangeArrowheads="1"/>
              </p:cNvSpPr>
              <p:nvPr/>
            </p:nvSpPr>
            <p:spPr bwMode="auto">
              <a:xfrm>
                <a:off x="3805818" y="3349123"/>
                <a:ext cx="1421129" cy="1222799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457200" y="3394174"/>
                <a:ext cx="2404503" cy="101309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90487" tIns="44450" rIns="90487" bIns="44450">
                <a:spAutoFit/>
              </a:bodyPr>
              <a:lstStyle/>
              <a:p>
                <a:pPr>
                  <a:lnSpc>
                    <a:spcPct val="140000"/>
                  </a:lnSpc>
                  <a:spcBef>
                    <a:spcPct val="20000"/>
                  </a:spcBef>
                </a:pPr>
                <a:r>
                  <a:rPr lang="en-US" sz="200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charset="0"/>
                  </a:rPr>
                  <a:t> Sumber Informasi</a:t>
                </a:r>
              </a:p>
              <a:p>
                <a:pPr>
                  <a:lnSpc>
                    <a:spcPct val="140000"/>
                  </a:lnSpc>
                  <a:spcBef>
                    <a:spcPct val="20000"/>
                  </a:spcBef>
                </a:pPr>
                <a:r>
                  <a:rPr lang="en-US" sz="200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charset="0"/>
                  </a:rPr>
                  <a:t>Penerima Informasi</a:t>
                </a:r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535229" y="3958914"/>
                <a:ext cx="2284171" cy="3486"/>
              </a:xfrm>
              <a:prstGeom prst="line">
                <a:avLst/>
              </a:prstGeom>
              <a:noFill/>
              <a:ln w="12699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3883848" y="3587247"/>
                <a:ext cx="1308236" cy="707936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/>
            </p:spPr>
            <p:txBody>
              <a:bodyPr wrap="none" lIns="90487" tIns="44450" rIns="90487" bIns="44450">
                <a:spAutoFit/>
              </a:bodyPr>
              <a:lstStyle/>
              <a:p>
                <a:pPr algn="ctr"/>
                <a:r>
                  <a:rPr lang="en-US" sz="2000" b="1">
                    <a:solidFill>
                      <a:srgbClr val="FFFF00"/>
                    </a:solidFill>
                  </a:rPr>
                  <a:t>Media</a:t>
                </a:r>
                <a:endParaRPr lang="en-US" b="1">
                  <a:solidFill>
                    <a:srgbClr val="FFFF00"/>
                  </a:solidFill>
                </a:endParaRPr>
              </a:p>
              <a:p>
                <a:pPr algn="ctr"/>
                <a:r>
                  <a:rPr lang="en-US" sz="2000" b="1">
                    <a:solidFill>
                      <a:srgbClr val="FFFF00"/>
                    </a:solidFill>
                  </a:rPr>
                  <a:t>Informasi</a:t>
                </a: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6035465" y="3413481"/>
                <a:ext cx="2404503" cy="95609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none" lIns="90487" tIns="44450" rIns="90487" bIns="4445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charset="0"/>
                  </a:rPr>
                  <a:t>Penerima Informasi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Arial" charset="0"/>
                  </a:rPr>
                  <a:t> Sumber Informasi</a:t>
                </a:r>
              </a:p>
            </p:txBody>
          </p:sp>
          <p:sp>
            <p:nvSpPr>
              <p:cNvPr id="16" name="Line 15"/>
              <p:cNvSpPr>
                <a:spLocks noChangeShapeType="1"/>
              </p:cNvSpPr>
              <p:nvPr/>
            </p:nvSpPr>
            <p:spPr bwMode="auto">
              <a:xfrm flipV="1">
                <a:off x="6068669" y="3962400"/>
                <a:ext cx="2313331" cy="2950"/>
              </a:xfrm>
              <a:prstGeom prst="line">
                <a:avLst/>
              </a:prstGeom>
              <a:noFill/>
              <a:ln w="12699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/>
            </p:nvSpPr>
            <p:spPr bwMode="auto">
              <a:xfrm>
                <a:off x="3166643" y="5580731"/>
                <a:ext cx="2843918" cy="399018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  <a:effectLst/>
            </p:spPr>
            <p:txBody>
              <a:bodyPr wrap="none" lIns="90487" tIns="44450" rIns="90487" bIns="44450">
                <a:spAutoFit/>
              </a:bodyPr>
              <a:lstStyle/>
              <a:p>
                <a:r>
                  <a:rPr lang="en-US" sz="2000" b="1">
                    <a:solidFill>
                      <a:srgbClr val="024608"/>
                    </a:solidFill>
                    <a:latin typeface="Arial" charset="0"/>
                  </a:rPr>
                  <a:t>Metode Instruksional</a:t>
                </a:r>
              </a:p>
            </p:txBody>
          </p:sp>
          <p:sp>
            <p:nvSpPr>
              <p:cNvPr id="18" name="AutoShape 17"/>
              <p:cNvSpPr>
                <a:spLocks noChangeArrowheads="1"/>
              </p:cNvSpPr>
              <p:nvPr/>
            </p:nvSpPr>
            <p:spPr bwMode="auto">
              <a:xfrm>
                <a:off x="3188225" y="3484275"/>
                <a:ext cx="624234" cy="296046"/>
              </a:xfrm>
              <a:prstGeom prst="rightArrow">
                <a:avLst>
                  <a:gd name="adj1" fmla="val 50000"/>
                  <a:gd name="adj2" fmla="val 102221"/>
                </a:avLst>
              </a:prstGeom>
              <a:ln>
                <a:headEnd/>
                <a:tailEnd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AutoShape 18"/>
              <p:cNvSpPr>
                <a:spLocks noChangeArrowheads="1"/>
              </p:cNvSpPr>
              <p:nvPr/>
            </p:nvSpPr>
            <p:spPr bwMode="auto">
              <a:xfrm>
                <a:off x="5260152" y="3445660"/>
                <a:ext cx="624234" cy="296046"/>
              </a:xfrm>
              <a:prstGeom prst="rightArrow">
                <a:avLst>
                  <a:gd name="adj1" fmla="val 50000"/>
                  <a:gd name="adj2" fmla="val 102221"/>
                </a:avLst>
              </a:prstGeom>
              <a:ln>
                <a:headEnd/>
                <a:tailEnd/>
              </a:ln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AutoShape 19"/>
              <p:cNvSpPr>
                <a:spLocks noChangeArrowheads="1"/>
              </p:cNvSpPr>
              <p:nvPr/>
            </p:nvSpPr>
            <p:spPr bwMode="auto">
              <a:xfrm flipH="1">
                <a:off x="3188225" y="4121417"/>
                <a:ext cx="624234" cy="296046"/>
              </a:xfrm>
              <a:prstGeom prst="rightArrow">
                <a:avLst>
                  <a:gd name="adj1" fmla="val 50000"/>
                  <a:gd name="adj2" fmla="val 102221"/>
                </a:avLst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AutoShape 20"/>
              <p:cNvSpPr>
                <a:spLocks noChangeArrowheads="1"/>
              </p:cNvSpPr>
              <p:nvPr/>
            </p:nvSpPr>
            <p:spPr bwMode="auto">
              <a:xfrm flipH="1">
                <a:off x="5260152" y="4102110"/>
                <a:ext cx="624234" cy="296046"/>
              </a:xfrm>
              <a:prstGeom prst="rightArrow">
                <a:avLst>
                  <a:gd name="adj1" fmla="val 50000"/>
                  <a:gd name="adj2" fmla="val 102221"/>
                </a:avLst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2819400" y="1752600"/>
              <a:ext cx="3546183" cy="698282"/>
            </a:xfrm>
            <a:custGeom>
              <a:avLst/>
              <a:gdLst/>
              <a:ahLst/>
              <a:cxnLst>
                <a:cxn ang="0">
                  <a:pos x="339" y="0"/>
                </a:cxn>
                <a:cxn ang="0">
                  <a:pos x="270" y="5"/>
                </a:cxn>
                <a:cxn ang="0">
                  <a:pos x="207" y="17"/>
                </a:cxn>
                <a:cxn ang="0">
                  <a:pos x="151" y="39"/>
                </a:cxn>
                <a:cxn ang="0">
                  <a:pos x="100" y="62"/>
                </a:cxn>
                <a:cxn ang="0">
                  <a:pos x="56" y="95"/>
                </a:cxn>
                <a:cxn ang="0">
                  <a:pos x="25" y="129"/>
                </a:cxn>
                <a:cxn ang="0">
                  <a:pos x="6" y="169"/>
                </a:cxn>
                <a:cxn ang="0">
                  <a:pos x="0" y="214"/>
                </a:cxn>
                <a:cxn ang="0">
                  <a:pos x="6" y="259"/>
                </a:cxn>
                <a:cxn ang="0">
                  <a:pos x="25" y="298"/>
                </a:cxn>
                <a:cxn ang="0">
                  <a:pos x="56" y="337"/>
                </a:cxn>
                <a:cxn ang="0">
                  <a:pos x="100" y="371"/>
                </a:cxn>
                <a:cxn ang="0">
                  <a:pos x="151" y="394"/>
                </a:cxn>
                <a:cxn ang="0">
                  <a:pos x="207" y="416"/>
                </a:cxn>
                <a:cxn ang="0">
                  <a:pos x="270" y="427"/>
                </a:cxn>
                <a:cxn ang="0">
                  <a:pos x="339" y="433"/>
                </a:cxn>
                <a:cxn ang="0">
                  <a:pos x="1790" y="433"/>
                </a:cxn>
                <a:cxn ang="0">
                  <a:pos x="1859" y="427"/>
                </a:cxn>
                <a:cxn ang="0">
                  <a:pos x="1921" y="416"/>
                </a:cxn>
                <a:cxn ang="0">
                  <a:pos x="1984" y="394"/>
                </a:cxn>
                <a:cxn ang="0">
                  <a:pos x="2035" y="371"/>
                </a:cxn>
                <a:cxn ang="0">
                  <a:pos x="2078" y="337"/>
                </a:cxn>
                <a:cxn ang="0">
                  <a:pos x="2110" y="298"/>
                </a:cxn>
                <a:cxn ang="0">
                  <a:pos x="2129" y="259"/>
                </a:cxn>
                <a:cxn ang="0">
                  <a:pos x="2135" y="214"/>
                </a:cxn>
                <a:cxn ang="0">
                  <a:pos x="2129" y="169"/>
                </a:cxn>
                <a:cxn ang="0">
                  <a:pos x="2110" y="129"/>
                </a:cxn>
                <a:cxn ang="0">
                  <a:pos x="2078" y="95"/>
                </a:cxn>
                <a:cxn ang="0">
                  <a:pos x="2035" y="62"/>
                </a:cxn>
                <a:cxn ang="0">
                  <a:pos x="1984" y="39"/>
                </a:cxn>
                <a:cxn ang="0">
                  <a:pos x="1921" y="17"/>
                </a:cxn>
                <a:cxn ang="0">
                  <a:pos x="1859" y="5"/>
                </a:cxn>
                <a:cxn ang="0">
                  <a:pos x="1790" y="0"/>
                </a:cxn>
                <a:cxn ang="0">
                  <a:pos x="339" y="0"/>
                </a:cxn>
              </a:cxnLst>
              <a:rect l="0" t="0" r="r" b="b"/>
              <a:pathLst>
                <a:path w="2136" h="434">
                  <a:moveTo>
                    <a:pt x="339" y="0"/>
                  </a:moveTo>
                  <a:lnTo>
                    <a:pt x="270" y="5"/>
                  </a:lnTo>
                  <a:lnTo>
                    <a:pt x="207" y="17"/>
                  </a:lnTo>
                  <a:lnTo>
                    <a:pt x="151" y="39"/>
                  </a:lnTo>
                  <a:lnTo>
                    <a:pt x="100" y="62"/>
                  </a:lnTo>
                  <a:lnTo>
                    <a:pt x="56" y="95"/>
                  </a:lnTo>
                  <a:lnTo>
                    <a:pt x="25" y="129"/>
                  </a:lnTo>
                  <a:lnTo>
                    <a:pt x="6" y="169"/>
                  </a:lnTo>
                  <a:lnTo>
                    <a:pt x="0" y="214"/>
                  </a:lnTo>
                  <a:lnTo>
                    <a:pt x="6" y="259"/>
                  </a:lnTo>
                  <a:lnTo>
                    <a:pt x="25" y="298"/>
                  </a:lnTo>
                  <a:lnTo>
                    <a:pt x="56" y="337"/>
                  </a:lnTo>
                  <a:lnTo>
                    <a:pt x="100" y="371"/>
                  </a:lnTo>
                  <a:lnTo>
                    <a:pt x="151" y="394"/>
                  </a:lnTo>
                  <a:lnTo>
                    <a:pt x="207" y="416"/>
                  </a:lnTo>
                  <a:lnTo>
                    <a:pt x="270" y="427"/>
                  </a:lnTo>
                  <a:lnTo>
                    <a:pt x="339" y="433"/>
                  </a:lnTo>
                  <a:lnTo>
                    <a:pt x="1790" y="433"/>
                  </a:lnTo>
                  <a:lnTo>
                    <a:pt x="1859" y="427"/>
                  </a:lnTo>
                  <a:lnTo>
                    <a:pt x="1921" y="416"/>
                  </a:lnTo>
                  <a:lnTo>
                    <a:pt x="1984" y="394"/>
                  </a:lnTo>
                  <a:lnTo>
                    <a:pt x="2035" y="371"/>
                  </a:lnTo>
                  <a:lnTo>
                    <a:pt x="2078" y="337"/>
                  </a:lnTo>
                  <a:lnTo>
                    <a:pt x="2110" y="298"/>
                  </a:lnTo>
                  <a:lnTo>
                    <a:pt x="2129" y="259"/>
                  </a:lnTo>
                  <a:lnTo>
                    <a:pt x="2135" y="214"/>
                  </a:lnTo>
                  <a:lnTo>
                    <a:pt x="2129" y="169"/>
                  </a:lnTo>
                  <a:lnTo>
                    <a:pt x="2110" y="129"/>
                  </a:lnTo>
                  <a:lnTo>
                    <a:pt x="2078" y="95"/>
                  </a:lnTo>
                  <a:lnTo>
                    <a:pt x="2035" y="62"/>
                  </a:lnTo>
                  <a:lnTo>
                    <a:pt x="1984" y="39"/>
                  </a:lnTo>
                  <a:lnTo>
                    <a:pt x="1921" y="17"/>
                  </a:lnTo>
                  <a:lnTo>
                    <a:pt x="1859" y="5"/>
                  </a:lnTo>
                  <a:lnTo>
                    <a:pt x="1790" y="0"/>
                  </a:lnTo>
                  <a:lnTo>
                    <a:pt x="339" y="0"/>
                  </a:lnTo>
                </a:path>
              </a:pathLst>
            </a:custGeom>
            <a:solidFill>
              <a:srgbClr val="CCFFCC"/>
            </a:solidFill>
            <a:ln w="12699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3259353" y="1905450"/>
              <a:ext cx="2843918" cy="399018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b="1">
                  <a:solidFill>
                    <a:srgbClr val="024608"/>
                  </a:solidFill>
                  <a:latin typeface="Arial" charset="0"/>
                </a:rPr>
                <a:t>Metode Instruksional</a:t>
              </a:r>
            </a:p>
          </p:txBody>
        </p:sp>
      </p:grp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Tujuan Pengunaan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05800" cy="1676399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Membuat konkret konsep yang abstrak</a:t>
            </a:r>
          </a:p>
          <a:p>
            <a:r>
              <a:rPr lang="en-US"/>
              <a:t>Memperjelas penyajian pesan agar tidak terlalu bersifat verbalistis (dalam bentuk kata-kata tertulis atau lisan belaka)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10892" y="3505200"/>
            <a:ext cx="8070771" cy="3067050"/>
            <a:chOff x="610892" y="3505200"/>
            <a:chExt cx="8070771" cy="3067050"/>
          </a:xfrm>
        </p:grpSpPr>
        <p:pic>
          <p:nvPicPr>
            <p:cNvPr id="2048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81400" y="3505200"/>
              <a:ext cx="5100263" cy="306705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048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10892" y="3505200"/>
              <a:ext cx="2894308" cy="294421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Tujuan Pengunaan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191000" cy="5029200"/>
          </a:xfrm>
        </p:spPr>
        <p:txBody>
          <a:bodyPr>
            <a:normAutofit fontScale="92500" lnSpcReduction="10000"/>
          </a:bodyPr>
          <a:lstStyle/>
          <a:p>
            <a:r>
              <a:rPr lang="de-DE" sz="2400"/>
              <a:t>Mengatasi keterbatasan ruang, waktu, dan daya indera.</a:t>
            </a:r>
          </a:p>
          <a:p>
            <a:endParaRPr lang="de-DE" sz="2400"/>
          </a:p>
          <a:p>
            <a:r>
              <a:rPr lang="en-US" sz="2400"/>
              <a:t>Penggunaan media pendidikan secara tepat dan bervariasi dapat mengatasi sikap pasif anak didik.</a:t>
            </a:r>
          </a:p>
          <a:p>
            <a:endParaRPr lang="en-US" sz="2400"/>
          </a:p>
          <a:p>
            <a:r>
              <a:rPr lang="en-US" sz="2400"/>
              <a:t>Mempersamakan rangsangan, pengalaman dan persepsi.</a:t>
            </a:r>
          </a:p>
          <a:p>
            <a:endParaRPr lang="en-US" sz="2400"/>
          </a:p>
          <a:p>
            <a:r>
              <a:rPr lang="en-US" sz="2400"/>
              <a:t>Media pembelajaran yang memungkinkan adanya interaksi langsung antarapeserta didik dengan lingkungannya</a:t>
            </a:r>
          </a:p>
          <a:p>
            <a:endParaRPr lang="en-US" sz="240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4474951"/>
            <a:ext cx="31242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1676400"/>
            <a:ext cx="3124200" cy="2659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Bentuk Media Pembelajaran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/>
              <a:t>Media Penyaji</a:t>
            </a:r>
          </a:p>
          <a:p>
            <a:pPr lvl="1">
              <a:buNone/>
            </a:pPr>
            <a:r>
              <a:rPr lang="en-US"/>
              <a:t>media yang mampu menyajikan informasi</a:t>
            </a:r>
          </a:p>
          <a:p>
            <a:pPr marL="465138" lvl="1" indent="-7938">
              <a:buNone/>
            </a:pPr>
            <a:r>
              <a:rPr lang="en-US" sz="2000">
                <a:solidFill>
                  <a:schemeClr val="accent1">
                    <a:lumMod val="40000"/>
                    <a:lumOff val="60000"/>
                  </a:schemeClr>
                </a:solidFill>
              </a:rPr>
              <a:t>(</a:t>
            </a:r>
            <a:r>
              <a:rPr lang="es-ES" sz="2000">
                <a:solidFill>
                  <a:schemeClr val="accent1">
                    <a:lumMod val="40000"/>
                    <a:lumOff val="60000"/>
                  </a:schemeClr>
                </a:solidFill>
              </a:rPr>
              <a:t>grafis, bahan cetak, dan gambar diam; media proyeksi diam; media audio; audio dan visual diam; gambar hidup; televisi; dan multimedia)</a:t>
            </a:r>
          </a:p>
          <a:p>
            <a:pPr marL="465138" indent="-301625"/>
            <a:r>
              <a:rPr lang="en-US" sz="2800" b="1"/>
              <a:t>Media Objek</a:t>
            </a:r>
          </a:p>
          <a:p>
            <a:pPr marL="465138" lvl="1" indent="-9525">
              <a:buNone/>
            </a:pPr>
            <a:r>
              <a:rPr lang="en-US" sz="2400"/>
              <a:t>benda tiga dimensi yang mengandung </a:t>
            </a:r>
          </a:p>
          <a:p>
            <a:pPr marL="465138" lvl="1" indent="-9525">
              <a:buNone/>
            </a:pPr>
            <a:r>
              <a:rPr lang="en-US" sz="2400"/>
              <a:t>informasi  tidak dalam bentuk penyajian </a:t>
            </a:r>
          </a:p>
          <a:p>
            <a:pPr marL="465138" lvl="1" indent="-9525">
              <a:buNone/>
            </a:pPr>
            <a:r>
              <a:rPr lang="en-US" sz="2400"/>
              <a:t>tetapi melalui ciri fisiknya</a:t>
            </a:r>
          </a:p>
          <a:p>
            <a:pPr marL="465138" lvl="1" indent="-9525">
              <a:buNone/>
            </a:pPr>
            <a:r>
              <a:rPr lang="en-US" sz="2000">
                <a:solidFill>
                  <a:schemeClr val="accent1">
                    <a:lumMod val="40000"/>
                    <a:lumOff val="60000"/>
                  </a:schemeClr>
                </a:solidFill>
              </a:rPr>
              <a:t>(Objek alami, Objek buatan)</a:t>
            </a:r>
          </a:p>
          <a:p>
            <a:pPr marL="465138" indent="-303213"/>
            <a:r>
              <a:rPr lang="en-US" sz="2800" b="1"/>
              <a:t>Media Interaktif</a:t>
            </a:r>
          </a:p>
          <a:p>
            <a:pPr marL="465138" lvl="1" indent="-11113">
              <a:buNone/>
            </a:pPr>
            <a:r>
              <a:rPr lang="en-US" sz="2600"/>
              <a:t>siswa tidak hanya memperhatikan penyajian atau objek, tetapi dipaksa untuk berinteraksi selama mengikuti pelajaran</a:t>
            </a:r>
            <a:r>
              <a:rPr lang="en-US" sz="2000"/>
              <a:t>.</a:t>
            </a:r>
          </a:p>
          <a:p>
            <a:pPr marL="465138" lvl="1" indent="-11113">
              <a:buNone/>
            </a:pPr>
            <a:r>
              <a:rPr lang="en-US" sz="2000">
                <a:solidFill>
                  <a:schemeClr val="accent1">
                    <a:lumMod val="40000"/>
                    <a:lumOff val="60000"/>
                  </a:schemeClr>
                </a:solidFill>
              </a:rPr>
              <a:t>(berinteraksi dengan sebuah program, mesin dan berinteraksi antar siswa secara teratur tetapi tidak terprogram)</a:t>
            </a:r>
          </a:p>
          <a:p>
            <a:pPr marL="172530" indent="-11113"/>
            <a:r>
              <a:rPr lang="en-US" sz="2400"/>
              <a:t>    </a:t>
            </a:r>
            <a:r>
              <a:rPr lang="en-US" sz="2600" b="1"/>
              <a:t>Lingkungan sebagai media pembelajaran</a:t>
            </a:r>
            <a:endParaRPr lang="en-US" sz="2600" b="1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3048000"/>
            <a:ext cx="1905000" cy="181690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8032"/>
            <a:ext cx="8229600" cy="83671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r>
              <a:rPr lang="en-US" sz="3600" b="1" cap="all">
                <a:ln/>
                <a:solidFill>
                  <a:srgbClr val="024608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Arial" charset="0"/>
              </a:rPr>
              <a:t>PEMILIHAN MEDIA INSTRUKSIONAL</a:t>
            </a:r>
            <a:endParaRPr lang="en-US" sz="3600" b="1" cap="all">
              <a:ln/>
              <a:solidFill>
                <a:srgbClr val="024608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10" y="2428868"/>
            <a:ext cx="8229600" cy="3983047"/>
          </a:xfrm>
        </p:spPr>
        <p:txBody>
          <a:bodyPr>
            <a:normAutofit fontScale="92500" lnSpcReduction="20000"/>
          </a:bodyPr>
          <a:lstStyle/>
          <a:p>
            <a:pPr marL="681038" indent="-681038">
              <a:buFont typeface="Wingdings" pitchFamily="2" charset="2"/>
              <a:buChar char="l"/>
              <a:tabLst>
                <a:tab pos="1263650" algn="l"/>
              </a:tabLst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Corbel" pitchFamily="34" charset="0"/>
              </a:rPr>
              <a:t>Tujuan yang akan dicapai (</a:t>
            </a:r>
            <a:r>
              <a:rPr lang="en-US"/>
              <a:t>kognitif,afektif, dan psikomotor)</a:t>
            </a:r>
            <a:endParaRPr lang="en-US">
              <a:solidFill>
                <a:schemeClr val="bg1">
                  <a:lumMod val="95000"/>
                </a:schemeClr>
              </a:solidFill>
              <a:latin typeface="Corbel" pitchFamily="34" charset="0"/>
            </a:endParaRPr>
          </a:p>
          <a:p>
            <a:pPr marL="681038" indent="-681038">
              <a:buFont typeface="Wingdings" pitchFamily="2" charset="2"/>
              <a:buNone/>
              <a:tabLst>
                <a:tab pos="1263650" algn="l"/>
              </a:tabLst>
            </a:pPr>
            <a:endParaRPr lang="en-US">
              <a:solidFill>
                <a:schemeClr val="bg1">
                  <a:lumMod val="95000"/>
                </a:schemeClr>
              </a:solidFill>
              <a:latin typeface="Corbel" pitchFamily="34" charset="0"/>
            </a:endParaRPr>
          </a:p>
          <a:p>
            <a:pPr marL="681038" indent="-681038">
              <a:buFont typeface="Wingdings" pitchFamily="2" charset="2"/>
              <a:buChar char="l"/>
              <a:tabLst>
                <a:tab pos="1263650" algn="l"/>
              </a:tabLst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Corbel" pitchFamily="34" charset="0"/>
              </a:rPr>
              <a:t>Kesesuaian media dengan materi (tepat guna)</a:t>
            </a:r>
          </a:p>
          <a:p>
            <a:pPr marL="681038" indent="-681038">
              <a:buFont typeface="Wingdings" pitchFamily="2" charset="2"/>
              <a:buNone/>
              <a:tabLst>
                <a:tab pos="1263650" algn="l"/>
              </a:tabLst>
            </a:pPr>
            <a:endParaRPr lang="en-US">
              <a:solidFill>
                <a:schemeClr val="bg1">
                  <a:lumMod val="95000"/>
                </a:schemeClr>
              </a:solidFill>
              <a:latin typeface="Corbel" pitchFamily="34" charset="0"/>
            </a:endParaRPr>
          </a:p>
          <a:p>
            <a:pPr marL="681038" indent="-681038">
              <a:buFont typeface="Wingdings" pitchFamily="2" charset="2"/>
              <a:buChar char="l"/>
              <a:tabLst>
                <a:tab pos="1263650" algn="l"/>
              </a:tabLst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Corbel" pitchFamily="34" charset="0"/>
              </a:rPr>
              <a:t>Tersedianya sarana dan prasarana</a:t>
            </a:r>
          </a:p>
          <a:p>
            <a:pPr marL="681038" indent="-681038">
              <a:buFont typeface="Wingdings" pitchFamily="2" charset="2"/>
              <a:buChar char="l"/>
              <a:tabLst>
                <a:tab pos="1263650" algn="l"/>
              </a:tabLst>
            </a:pPr>
            <a:endParaRPr lang="en-US">
              <a:solidFill>
                <a:schemeClr val="bg1">
                  <a:lumMod val="95000"/>
                </a:schemeClr>
              </a:solidFill>
              <a:latin typeface="Corbel" pitchFamily="34" charset="0"/>
            </a:endParaRPr>
          </a:p>
          <a:p>
            <a:pPr marL="681038" indent="-681038">
              <a:buFont typeface="Wingdings" pitchFamily="2" charset="2"/>
              <a:buChar char="l"/>
              <a:tabLst>
                <a:tab pos="1263650" algn="l"/>
              </a:tabLst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Corbel" pitchFamily="34" charset="0"/>
              </a:rPr>
              <a:t>Kemampuan pengajar (dosen)</a:t>
            </a:r>
          </a:p>
          <a:p>
            <a:pPr marL="681038" indent="-681038">
              <a:buFont typeface="Wingdings" pitchFamily="2" charset="2"/>
              <a:buNone/>
              <a:tabLst>
                <a:tab pos="1263650" algn="l"/>
              </a:tabLst>
            </a:pPr>
            <a:endParaRPr lang="en-US">
              <a:solidFill>
                <a:schemeClr val="bg1">
                  <a:lumMod val="95000"/>
                </a:schemeClr>
              </a:solidFill>
              <a:latin typeface="Corbel" pitchFamily="34" charset="0"/>
            </a:endParaRPr>
          </a:p>
          <a:p>
            <a:pPr marL="681038" indent="-681038">
              <a:buFont typeface="Wingdings" pitchFamily="2" charset="2"/>
              <a:buChar char="l"/>
              <a:tabLst>
                <a:tab pos="1263650" algn="l"/>
              </a:tabLst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Corbel" pitchFamily="34" charset="0"/>
              </a:rPr>
              <a:t>Karakteristik audience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Corbel" pitchFamily="34" charset="0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642910" y="1419046"/>
            <a:ext cx="8001056" cy="78581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Mempertimbangkan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Corbel" pitchFamily="34" charset="0"/>
              </a:rPr>
              <a:t>Karakteristik audience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http://4.bp.blogspot.com/_4-5gqcdBjs0/ShdDpPuak7I/AAAAAAAAACw/OO_XPjpiWv8/s400/learning_pyrami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752600"/>
            <a:ext cx="5849697" cy="48768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5364" name="Picture 4" descr="http://mjeducation.co/wp-content/uploads/2012/01/gaya-belaja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438400"/>
            <a:ext cx="3219668" cy="39591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Masing-masing individu berbeda</a:t>
            </a: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524000"/>
            <a:ext cx="6781800" cy="5148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1000" y="15240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Contoh</a:t>
            </a:r>
          </a:p>
        </p:txBody>
      </p:sp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KARAKTERISTIK JENIS MEDIA PEMBELAJARAN</a:t>
            </a:r>
            <a:br>
              <a:rPr lang="en-US" sz="2800"/>
            </a:br>
            <a:r>
              <a:rPr lang="en-US" sz="280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1. Media Visual Diam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029200"/>
          </a:xfrm>
        </p:spPr>
        <p:txBody>
          <a:bodyPr>
            <a:normAutofit/>
          </a:bodyPr>
          <a:lstStyle/>
          <a:p>
            <a:pPr marL="633222" indent="-514350">
              <a:buFont typeface="+mj-lt"/>
              <a:buAutoNum type="alphaLcPeriod"/>
            </a:pPr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Gambar</a:t>
            </a:r>
          </a:p>
          <a:p>
            <a:pPr marL="925830" lvl="1" indent="-514350">
              <a:buFont typeface="Arial" pitchFamily="34" charset="0"/>
              <a:buChar char="•"/>
            </a:pPr>
            <a:r>
              <a:rPr lang="en-US" b="1">
                <a:latin typeface="Lucida Handwriting" pitchFamily="66" charset="0"/>
              </a:rPr>
              <a:t>Kelebihan</a:t>
            </a:r>
          </a:p>
          <a:p>
            <a:pPr marL="1191006" lvl="2" indent="-514350">
              <a:buFont typeface="Arial" pitchFamily="34" charset="0"/>
              <a:buChar char="•"/>
            </a:pPr>
            <a:r>
              <a:rPr lang="en-US"/>
              <a:t>sifatnya konkrit, lebih realistik dibandingkan dengan media verbal</a:t>
            </a:r>
          </a:p>
          <a:p>
            <a:pPr marL="1191006" lvl="2" indent="-514350">
              <a:buFont typeface="Arial" pitchFamily="34" charset="0"/>
              <a:buChar char="•"/>
            </a:pPr>
            <a:r>
              <a:rPr lang="en-US"/>
              <a:t>dapat memperjelas suatu masalah dalam bidang apa saja, baik untuk usiamuda maupun tua</a:t>
            </a:r>
          </a:p>
          <a:p>
            <a:pPr marL="1191006" lvl="2" indent="-514350">
              <a:buFont typeface="Arial" pitchFamily="34" charset="0"/>
              <a:buChar char="•"/>
            </a:pPr>
            <a:r>
              <a:rPr lang="en-US"/>
              <a:t>harganya dan tidak memerlukan peralatan khusus dalam penyampaiannya</a:t>
            </a:r>
          </a:p>
          <a:p>
            <a:pPr marL="925830" lvl="1" indent="-514350">
              <a:buFont typeface="Arial" pitchFamily="34" charset="0"/>
              <a:buChar char="•"/>
            </a:pPr>
            <a:r>
              <a:rPr lang="en-US" b="1">
                <a:latin typeface="Lucida Handwriting" pitchFamily="66" charset="0"/>
              </a:rPr>
              <a:t>Kelemahannya</a:t>
            </a:r>
          </a:p>
          <a:p>
            <a:pPr marL="1191006" lvl="2" indent="-514350">
              <a:buFont typeface="Arial" pitchFamily="34" charset="0"/>
              <a:buChar char="•"/>
            </a:pPr>
            <a:r>
              <a:rPr lang="en-US"/>
              <a:t>gambar/foto hanya menekankan persepsi indera mataukurannya sangat terbatas untuk kelompok besar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KARAKTERISTIK JENIS MEDIA PEMBELAJARAN</a:t>
            </a:r>
            <a:br>
              <a:rPr lang="en-US" sz="2800"/>
            </a:br>
            <a:r>
              <a:rPr lang="en-US" sz="280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1. Media Visual Diam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61722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b. Diagram/Bagan</a:t>
            </a:r>
          </a:p>
          <a:p>
            <a:pPr lvl="1" algn="ctr">
              <a:buNone/>
            </a:pPr>
            <a:r>
              <a:rPr lang="en-US" sz="2400"/>
              <a:t>Bagan merupakan media yang berisi tentang gambar-gambar keterangan-keterangan, daftar-daftar dan sebagainya. Bagan digunakan untuk memperagakanpokok-pokok isi bagan secara jelas dan sederhana antara lain: perkembangan,perbandingan, struktur, organisasi, jenis-jenis media bagan antara lain : Treechart, flow chart.</a:t>
            </a:r>
          </a:p>
          <a:p>
            <a:pPr lvl="1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7916" y="1447800"/>
            <a:ext cx="2439884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Picture 2" descr="http://t2.gstatic.com/images?q=tbn:ANd9GcRNu6vl0Q3TzFsOYxewukCQCZNg_p0GiRzyidpPNQIdm2vbZFq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3276600"/>
            <a:ext cx="2409825" cy="1895476"/>
          </a:xfrm>
          <a:prstGeom prst="rect">
            <a:avLst/>
          </a:prstGeom>
          <a:noFill/>
        </p:spPr>
      </p:pic>
      <p:pic>
        <p:nvPicPr>
          <p:cNvPr id="13316" name="Picture 4" descr="http://t1.gstatic.com/images?q=tbn:ANd9GcQIT4XFdIJb8dyMFLrhHo7HLM-KQ1b4zl3vbs0iYj6YysKXr4xj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5257800"/>
            <a:ext cx="3095625" cy="14763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KARAKTERISTIK JENIS MEDIA PEMBELAJARAN</a:t>
            </a:r>
            <a:br>
              <a:rPr lang="en-US" sz="2800"/>
            </a:br>
            <a:r>
              <a:rPr lang="en-US" sz="280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1. Media Visual Diam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590800"/>
            <a:ext cx="8229600" cy="4572000"/>
          </a:xfrm>
        </p:spPr>
        <p:txBody>
          <a:bodyPr>
            <a:normAutofit fontScale="92500" lnSpcReduction="20000"/>
          </a:bodyPr>
          <a:lstStyle/>
          <a:p>
            <a:pPr marL="633222" indent="-514350">
              <a:buNone/>
            </a:pPr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Diagram/Bagan</a:t>
            </a:r>
          </a:p>
          <a:p>
            <a:pPr lvl="1"/>
            <a:r>
              <a:rPr lang="en-US">
                <a:latin typeface="Lucida Handwriting" pitchFamily="66" charset="0"/>
              </a:rPr>
              <a:t>sifat:</a:t>
            </a:r>
          </a:p>
          <a:p>
            <a:pPr lvl="2"/>
            <a:r>
              <a:rPr lang="en-US"/>
              <a:t>simbolis dan abstrak, kadang-kadang sulit dimengerti</a:t>
            </a:r>
          </a:p>
          <a:p>
            <a:pPr lvl="2"/>
            <a:r>
              <a:rPr lang="en-US"/>
              <a:t>untuk dapat membaca diagram diperlukan keahlian khusus dalam bidangnya tentang isi diagram tersebut</a:t>
            </a:r>
          </a:p>
          <a:p>
            <a:pPr lvl="2"/>
            <a:r>
              <a:rPr lang="en-US"/>
              <a:t>walaupun sulit dimengerti, karena sifatnya yang padat diagram dapat memperjelas arti</a:t>
            </a:r>
          </a:p>
          <a:p>
            <a:pPr lvl="1"/>
            <a:r>
              <a:rPr lang="en-US">
                <a:latin typeface="Lucida Handwriting" pitchFamily="66" charset="0"/>
              </a:rPr>
              <a:t>Ciri-ciri diagram yang baik </a:t>
            </a:r>
          </a:p>
          <a:p>
            <a:pPr lvl="2"/>
            <a:r>
              <a:rPr lang="en-US"/>
              <a:t>benar, diagram rapih dan disertai dengan keterangan yang jelas- cukup besar dan ditempatkan secara strategis- penyusunannya disesuaikan dengan pola baca yang umum dari atas kebawah atau dari kiri ke kanan</a:t>
            </a:r>
          </a:p>
          <a:p>
            <a:pPr>
              <a:buNone/>
            </a:pPr>
            <a:r>
              <a:rPr lang="en-US"/>
              <a:t>	</a:t>
            </a:r>
          </a:p>
          <a:p>
            <a:pPr lvl="1"/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447800"/>
            <a:ext cx="3444239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5" name="Picture 7" descr="http://t2.gstatic.com/images?q=tbn:ANd9GcSHicPN6LHa3LgGKF8EETD76ZYTjvcVwpROj-Ji3-mRUAQ2Z-Ihxw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1447800"/>
            <a:ext cx="2476500" cy="18383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KARAKTERISTIK JENIS MEDIA PEMBELAJARAN</a:t>
            </a:r>
            <a:br>
              <a:rPr lang="en-US" sz="2800"/>
            </a:br>
            <a:r>
              <a:rPr lang="en-US" sz="360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 2. Audiotape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229600" cy="5181600"/>
          </a:xfrm>
        </p:spPr>
        <p:txBody>
          <a:bodyPr>
            <a:normAutofit fontScale="77500" lnSpcReduction="20000"/>
          </a:bodyPr>
          <a:lstStyle/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Lucida Handwriting" pitchFamily="66" charset="0"/>
              </a:rPr>
              <a:t>Kelebihan</a:t>
            </a:r>
          </a:p>
          <a:p>
            <a:pPr lvl="1"/>
            <a:r>
              <a:rPr lang="en-US" sz="3100"/>
              <a:t>Baik untuk siswa yang sedang belajar mendengar</a:t>
            </a:r>
          </a:p>
          <a:p>
            <a:pPr lvl="1"/>
            <a:r>
              <a:rPr lang="en-US" sz="3100"/>
              <a:t>pengisi waktu saat menunggu</a:t>
            </a:r>
          </a:p>
          <a:p>
            <a:pPr lvl="1"/>
            <a:r>
              <a:rPr lang="sv-SE" sz="3100"/>
              <a:t>mendengar sambil melakukan mobilitas (kegiatan lain)</a:t>
            </a:r>
          </a:p>
          <a:p>
            <a:pPr lvl="1"/>
            <a:r>
              <a:rPr lang="en-US" sz="3100"/>
              <a:t>merupakan alternatif bagi yang tidak senang membaca atau yangmempunyai kesulitan membaca</a:t>
            </a:r>
          </a:p>
          <a:p>
            <a:pPr lvl="1"/>
            <a:endParaRPr lang="en-US"/>
          </a:p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Lucida Handwriting" pitchFamily="66" charset="0"/>
              </a:rPr>
              <a:t>Kelemahan</a:t>
            </a:r>
          </a:p>
          <a:p>
            <a:pPr lvl="1"/>
            <a:r>
              <a:rPr lang="en-US" sz="3100"/>
              <a:t>kurang fleksibel</a:t>
            </a:r>
          </a:p>
          <a:p>
            <a:pPr lvl="1"/>
            <a:r>
              <a:rPr lang="en-US" sz="3100"/>
              <a:t>tidak memungkinkan melakukan penjelajahan terhadap isi terlebih</a:t>
            </a:r>
          </a:p>
          <a:p>
            <a:pPr lvl="1"/>
            <a:r>
              <a:rPr lang="en-US" sz="3100"/>
              <a:t>hal-hal penting tidak bisa digarisbawahi atau diberi tanda khusus</a:t>
            </a:r>
          </a:p>
          <a:p>
            <a:pPr lvl="1"/>
            <a:r>
              <a:rPr lang="en-US" sz="3100"/>
              <a:t>tidak ada grafik, diagram, atau gambar sebagai bahan klarifikasi</a:t>
            </a:r>
            <a:endParaRPr lang="en-US" sz="310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KARAKTERISTIK JENIS MEDIA PEMBELAJARAN</a:t>
            </a:r>
            <a:br>
              <a:rPr lang="en-US" sz="2800"/>
            </a:br>
            <a:r>
              <a:rPr lang="en-US" sz="360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 3. Video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Lucida Handwriting" pitchFamily="66" charset="0"/>
              </a:rPr>
              <a:t>Kelebihan</a:t>
            </a:r>
          </a:p>
          <a:p>
            <a:pPr lvl="1"/>
            <a:r>
              <a:rPr lang="en-US"/>
              <a:t>baik untuk semua yang sedang belajar mendengar dan melihat</a:t>
            </a:r>
            <a:endParaRPr lang="en-US" sz="3100"/>
          </a:p>
          <a:p>
            <a:pPr lvl="1"/>
            <a:r>
              <a:rPr lang="sv-SE"/>
              <a:t>bisa menampilkan gambar, grafik atau diagram </a:t>
            </a:r>
          </a:p>
          <a:p>
            <a:pPr lvl="1"/>
            <a:r>
              <a:rPr lang="it-IT"/>
              <a:t>bisa dipergunakan di rumah, di luar kelas </a:t>
            </a:r>
          </a:p>
          <a:p>
            <a:pPr lvl="1"/>
            <a:r>
              <a:rPr lang="en-US"/>
              <a:t>bisa diperlambat dan diulang</a:t>
            </a:r>
          </a:p>
          <a:p>
            <a:pPr lvl="1"/>
            <a:r>
              <a:rPr lang="en-US"/>
              <a:t>dapat dipergunakan tidak hanya untuk satu orang</a:t>
            </a:r>
          </a:p>
          <a:p>
            <a:pPr lvl="1"/>
            <a:endParaRPr lang="en-US"/>
          </a:p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Lucida Handwriting" pitchFamily="66" charset="0"/>
              </a:rPr>
              <a:t>Kelemahan</a:t>
            </a:r>
          </a:p>
          <a:p>
            <a:pPr lvl="1"/>
            <a:r>
              <a:rPr lang="sv-SE"/>
              <a:t>Sering dianggap sebagai hiburan TV </a:t>
            </a:r>
          </a:p>
          <a:p>
            <a:pPr lvl="1"/>
            <a:r>
              <a:rPr lang="en-US"/>
              <a:t>kegiatan melihat videotape adalah kegiatan pasif </a:t>
            </a:r>
          </a:p>
          <a:p>
            <a:pPr lvl="1"/>
            <a:endParaRPr lang="en-US" sz="310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KARAKTERISTIK JENIS MEDIA PEMBELAJARAN</a:t>
            </a:r>
            <a:br>
              <a:rPr lang="en-US" sz="2800"/>
            </a:br>
            <a:r>
              <a:rPr lang="en-US" sz="360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 4. Computer Based Training (CBT)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229600" cy="5181600"/>
          </a:xfrm>
        </p:spPr>
        <p:txBody>
          <a:bodyPr>
            <a:normAutofit fontScale="77500" lnSpcReduction="20000"/>
          </a:bodyPr>
          <a:lstStyle/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Lucida Handwriting" pitchFamily="66" charset="0"/>
              </a:rPr>
              <a:t>Kelebihan</a:t>
            </a:r>
          </a:p>
          <a:p>
            <a:pPr lvl="1"/>
            <a:r>
              <a:rPr lang="en-US"/>
              <a:t>Tampilanya bisa menghasilkan kombinasi antara tulisan (teks), suara(audio), gambar (video), serta animasi. </a:t>
            </a:r>
          </a:p>
          <a:p>
            <a:pPr lvl="1"/>
            <a:r>
              <a:rPr lang="en-US"/>
              <a:t>Dapat mengakses informasi secara instan dari manapun yang dicakup dari aplikasi tersebut</a:t>
            </a:r>
          </a:p>
          <a:p>
            <a:pPr lvl="1"/>
            <a:r>
              <a:rPr lang="en-US"/>
              <a:t>Menyediakan fasilitas akses informasi yang lebih banyak</a:t>
            </a:r>
          </a:p>
          <a:p>
            <a:pPr lvl="1"/>
            <a:r>
              <a:rPr lang="en-US"/>
              <a:t>Dapat disesuaikan dengan motivasi, kemampuan dan kecepatanpembelajaran.</a:t>
            </a:r>
          </a:p>
          <a:p>
            <a:pPr lvl="1"/>
            <a:r>
              <a:rPr lang="en-US"/>
              <a:t>Sebagai guru yang sabar, mengurangi kekhawatiran pembelaj ar jika kurang paham</a:t>
            </a:r>
          </a:p>
          <a:p>
            <a:pPr lvl="1"/>
            <a:r>
              <a:rPr lang="en-US"/>
              <a:t>Membagi Ide Dengan Siapa Saja, Dimana Saja, Kapan Saja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Lucida Handwriting" pitchFamily="66" charset="0"/>
              </a:rPr>
              <a:t>Kelemahan</a:t>
            </a:r>
          </a:p>
          <a:p>
            <a:pPr lvl="1"/>
            <a:r>
              <a:rPr lang="en-US"/>
              <a:t>Kelemahan mendasar dari penggunaan program ini adalah tidak adanyaiteraksi antarmanusia</a:t>
            </a:r>
          </a:p>
          <a:p>
            <a:pPr lvl="1"/>
            <a:endParaRPr lang="en-US" sz="310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/>
              <a:t>KARAKTERISTIK JENIS MEDIA PEMBELAJARAN</a:t>
            </a:r>
            <a:br>
              <a:rPr lang="en-US" sz="2800"/>
            </a:br>
            <a:r>
              <a:rPr lang="en-US" sz="360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 5. Web Based Training (WBT)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229600" cy="4953000"/>
          </a:xfrm>
        </p:spPr>
        <p:txBody>
          <a:bodyPr>
            <a:normAutofit fontScale="85000" lnSpcReduction="10000"/>
          </a:bodyPr>
          <a:lstStyle/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Lucida Handwriting" pitchFamily="66" charset="0"/>
              </a:rPr>
              <a:t>Kelebihan</a:t>
            </a:r>
          </a:p>
          <a:p>
            <a:pPr lvl="1"/>
            <a:r>
              <a:rPr lang="nn-NO"/>
              <a:t>Mengkombinasikan kelebihan video, kecepatan komputer, dan akses internet.</a:t>
            </a:r>
          </a:p>
          <a:p>
            <a:pPr lvl="1"/>
            <a:r>
              <a:rPr lang="en-US"/>
              <a:t>Memungkinkan bagi pembelajar untuk aktif berpartisipasi</a:t>
            </a:r>
          </a:p>
          <a:p>
            <a:pPr lvl="1"/>
            <a:r>
              <a:rPr lang="en-US"/>
              <a:t>Memungkinkan akses ke materi/subyek yang diinginkan bagi banyak sekali pembelajar di tempat yang berbeda</a:t>
            </a:r>
          </a:p>
          <a:p>
            <a:pPr lvl="1"/>
            <a:r>
              <a:rPr lang="en-US"/>
              <a:t>Pembelajar dapat berhubungan dengan guru/instruktur, demikiansebaliknya dimanapun mereka berada</a:t>
            </a:r>
          </a:p>
          <a:p>
            <a:pPr lvl="1"/>
            <a:endParaRPr lang="en-US"/>
          </a:p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Lucida Handwriting" pitchFamily="66" charset="0"/>
              </a:rPr>
              <a:t>Kelemahan</a:t>
            </a:r>
          </a:p>
          <a:p>
            <a:pPr lvl="1"/>
            <a:r>
              <a:rPr lang="en-US" sz="3200"/>
              <a:t>Perlu biaya mahal untuk melengkapi peralatan</a:t>
            </a:r>
            <a:endParaRPr lang="en-US" sz="310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Komputer multimedia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105399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Computer Asisted Instructional (CAI)</a:t>
            </a:r>
          </a:p>
          <a:p>
            <a:pPr lvl="1">
              <a:buNone/>
            </a:pPr>
            <a:r>
              <a:rPr lang="en-US"/>
              <a:t>	mahasiswa langsung berinteraksi dengan komputer, mahasiswa dapat berekplorasi ke seluruh program yang disediakan dan memanfaatkaannyasebagai media pembelajaran tanpa perantara dosen.</a:t>
            </a:r>
          </a:p>
          <a:p>
            <a:pPr lvl="1">
              <a:buNone/>
            </a:pPr>
            <a:endParaRPr lang="en-US"/>
          </a:p>
          <a:p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Computer Management Instructional (CMI)</a:t>
            </a:r>
          </a:p>
          <a:p>
            <a:pPr lvl="1">
              <a:buNone/>
            </a:pPr>
            <a:r>
              <a:rPr lang="en-US"/>
              <a:t>	Tutor memanfaatkan komputer untuk mengelola informasi mengenai kamajuan siswadan pilihan sumber belajar agar tetap berada pada jalur yang telah ditentukan danmengendalikan pelajaran perindividu meskipun dalam jumlah yang besar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Manfaat Media Pembelajaran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67199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en-US" sz="2800" b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Proses </a:t>
            </a:r>
            <a:r>
              <a:rPr lang="en-US" sz="2800" b="1" dirty="0" err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instruksional</a:t>
            </a:r>
            <a:r>
              <a:rPr lang="en-US" sz="2800" b="1" dirty="0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lebih</a:t>
            </a:r>
            <a:r>
              <a:rPr lang="en-US" sz="2800" b="1" dirty="0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menarik</a:t>
            </a:r>
            <a:endParaRPr lang="en-US" sz="2800" b="1" dirty="0">
              <a:solidFill>
                <a:schemeClr val="accent2">
                  <a:lumMod val="40000"/>
                  <a:lumOff val="60000"/>
                </a:schemeClr>
              </a:solidFill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en-US" sz="2800" b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Proses</a:t>
            </a: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belajar</a:t>
            </a: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lebih</a:t>
            </a: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interaktif</a:t>
            </a:r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en-US" sz="2800" b="1" dirty="0" err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Jumlah</a:t>
            </a:r>
            <a:r>
              <a:rPr lang="en-US" sz="2800" b="1" dirty="0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waktu</a:t>
            </a:r>
            <a:r>
              <a:rPr lang="en-US" sz="2800" b="1" dirty="0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belajar-mengajar</a:t>
            </a:r>
            <a:r>
              <a:rPr lang="en-US" sz="2800" b="1" dirty="0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dapat</a:t>
            </a:r>
            <a:r>
              <a:rPr lang="en-US" sz="2800" b="1" dirty="0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dikurangi</a:t>
            </a:r>
            <a:endParaRPr lang="en-US" sz="2800" b="1" dirty="0">
              <a:solidFill>
                <a:schemeClr val="accent2">
                  <a:lumMod val="40000"/>
                  <a:lumOff val="60000"/>
                </a:schemeClr>
              </a:solidFill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en-US" sz="2800" b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Kualitas</a:t>
            </a: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 </a:t>
            </a:r>
            <a:r>
              <a:rPr lang="en-US" sz="2800" b="1" err="1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belajar</a:t>
            </a:r>
            <a:r>
              <a:rPr lang="en-US" sz="2800" b="1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 dapat ditingkatkan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en-US" sz="2800" b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Proses belajar dapat terjadi kapan dan di mana saja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en-US" sz="2800" b="1">
                <a:solidFill>
                  <a:schemeClr val="accent2">
                    <a:lumMod val="40000"/>
                    <a:lumOff val="60000"/>
                  </a:schemeClr>
                </a:solidFill>
                <a:cs typeface="Arial" pitchFamily="34" charset="0"/>
              </a:rPr>
              <a:t>Peran dosen berubah ke arah positif dan produktif</a:t>
            </a:r>
            <a:endParaRPr lang="en-US" sz="2800">
              <a:solidFill>
                <a:schemeClr val="accent2">
                  <a:lumMod val="40000"/>
                  <a:lumOff val="60000"/>
                </a:schemeClr>
              </a:solidFill>
              <a:cs typeface="Arial" pitchFamily="34" charset="0"/>
            </a:endParaRPr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1447800"/>
            <a:ext cx="1752600" cy="16296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685800"/>
            <a:ext cx="8534400" cy="1636776"/>
          </a:xfrm>
        </p:spPr>
        <p:txBody>
          <a:bodyPr>
            <a:noAutofit/>
          </a:bodyPr>
          <a:lstStyle/>
          <a:p>
            <a:pPr algn="ctr"/>
            <a:r>
              <a:rPr lang="en-US" sz="40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Pembelajaran Berbasis </a:t>
            </a:r>
            <a:br>
              <a:rPr lang="en-US" sz="40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</a:br>
            <a:r>
              <a:rPr lang="en-US" sz="40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Teknologi Informasi dan Komunikasi</a:t>
            </a: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650" y="3429000"/>
            <a:ext cx="3714750" cy="3162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3429000"/>
            <a:ext cx="3048000" cy="32127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rgbClr val="FFC000"/>
                </a:solidFill>
              </a:rPr>
              <a:t>Perkembangan Media Pembelajaran</a:t>
            </a:r>
            <a:endParaRPr lang="en-US" sz="4000"/>
          </a:p>
        </p:txBody>
      </p:sp>
      <p:graphicFrame>
        <p:nvGraphicFramePr>
          <p:cNvPr id="4" name="Group 87"/>
          <p:cNvGraphicFramePr>
            <a:graphicFrameLocks noGrp="1"/>
          </p:cNvGraphicFramePr>
          <p:nvPr>
            <p:ph idx="1"/>
          </p:nvPr>
        </p:nvGraphicFramePr>
        <p:xfrm>
          <a:off x="457200" y="1774825"/>
          <a:ext cx="8486781" cy="4213013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828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8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9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Alat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Offline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Online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901">
                <a:tc>
                  <a:txBody>
                    <a:bodyPr/>
                    <a:lstStyle/>
                    <a:p>
                      <a:pPr marL="182563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Teks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182563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Buku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973">
                <a:tc>
                  <a:txBody>
                    <a:bodyPr/>
                    <a:lstStyle/>
                    <a:p>
                      <a:pPr marL="342900" marR="0" lvl="0" indent="-1603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Suara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342900" marR="0" lvl="0" indent="-1603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Tape player/recorder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Radio, telepon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748">
                <a:tc>
                  <a:txBody>
                    <a:bodyPr/>
                    <a:lstStyle/>
                    <a:p>
                      <a:pPr marL="342900" marR="0" lvl="0" indent="-1603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Photo, gambar, teks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342900" marR="0" lvl="0" indent="-1603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Slide projector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589">
                <a:tc>
                  <a:txBody>
                    <a:bodyPr/>
                    <a:lstStyle/>
                    <a:p>
                      <a:pPr marL="342900" marR="0" lvl="0" indent="-1603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Film, suara, teks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342900" marR="0" lvl="0" indent="-1603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Film projector</a:t>
                      </a:r>
                      <a:endParaRPr kumimoji="0" lang="en-GB" sz="2000" b="1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</a:endParaRPr>
                    </a:p>
                    <a:p>
                      <a:pPr marL="342900" marR="0" lvl="0" indent="-160338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Video player/recorder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Televisi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901">
                <a:tc>
                  <a:txBody>
                    <a:bodyPr/>
                    <a:lstStyle/>
                    <a:p>
                      <a:pPr marL="342900" marR="0" lvl="0" indent="-1603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Multimedia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342900" marR="0" lvl="0" indent="-160338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Komputer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rgbClr val="012104"/>
                          </a:solidFill>
                          <a:effectLst/>
                        </a:rPr>
                        <a:t>Internet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12104"/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5448"/>
            <a:ext cx="8686800" cy="1252728"/>
          </a:xfrm>
        </p:spPr>
        <p:txBody>
          <a:bodyPr>
            <a:normAutofit/>
          </a:bodyPr>
          <a:lstStyle/>
          <a:p>
            <a:r>
              <a:rPr lang="en-US" sz="36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Pemanfaatan Komputer dlm Pembelajaran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ts val="2800"/>
              <a:buFontTx/>
              <a:buChar char="–"/>
              <a:tabLst/>
            </a:pPr>
            <a:r>
              <a:rPr kumimoji="0" lang="en-US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itchFamily="34" charset="0"/>
              </a:rPr>
              <a:t>Komputer sebagai </a:t>
            </a:r>
            <a:r>
              <a:rPr kumimoji="0" lang="en-US" b="1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itchFamily="34" charset="0"/>
              </a:rPr>
              <a:t>Tool (alat)</a:t>
            </a:r>
            <a:endParaRPr kumimoji="0" lang="en-US" b="0" i="0" u="none" strike="noStrike" cap="none" normalizeH="0" baseline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Calibri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ts val="2800"/>
              <a:buFontTx/>
              <a:buChar char="–"/>
              <a:tabLst/>
            </a:pPr>
            <a:r>
              <a:rPr kumimoji="0" lang="en-US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itchFamily="34" charset="0"/>
              </a:rPr>
              <a:t>Komputer sebagai </a:t>
            </a:r>
            <a:r>
              <a:rPr kumimoji="0" lang="en-US" b="1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itchFamily="34" charset="0"/>
              </a:rPr>
              <a:t>Tutor</a:t>
            </a:r>
            <a:endParaRPr kumimoji="0" lang="en-US" b="0" i="0" u="none" strike="noStrike" cap="none" normalizeH="0" baseline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Calibri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ts val="2800"/>
              <a:buFontTx/>
              <a:buChar char="–"/>
              <a:tabLst/>
            </a:pPr>
            <a:r>
              <a:rPr kumimoji="0" lang="en-US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itchFamily="34" charset="0"/>
              </a:rPr>
              <a:t>Komputer menampilkan informasi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ts val="2800"/>
              <a:buFontTx/>
              <a:buChar char="–"/>
              <a:tabLst/>
            </a:pPr>
            <a:r>
              <a:rPr kumimoji="0" lang="en-US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itchFamily="34" charset="0"/>
              </a:rPr>
              <a:t>Siswa menjawab pertanyaan atau masalah yang sesuai dengan informasi yang diberikan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ts val="2800"/>
              <a:buFontTx/>
              <a:buChar char="–"/>
              <a:tabLst/>
            </a:pPr>
            <a:r>
              <a:rPr kumimoji="0" lang="en-US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itchFamily="34" charset="0"/>
              </a:rPr>
              <a:t>Komputer mengevaluasi jawaban siswa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ts val="2800"/>
              <a:buFontTx/>
              <a:buChar char="–"/>
              <a:tabLst/>
            </a:pPr>
            <a:r>
              <a:rPr kumimoji="0" lang="en-US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" pitchFamily="34" charset="0"/>
              </a:rPr>
              <a:t>Komputer menentukan apakah yang harus diperbuat siswa selanjutnya berdasar hasil evaluasi pada jawaban tersebut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E-Learning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</a:rPr>
              <a:t>E-learning adalah sebuah proses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None/>
              <a:tabLst/>
            </a:pPr>
            <a:r>
              <a:rPr lang="en-US" sz="280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</a:rPr>
              <a:t>	</a:t>
            </a: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</a:rPr>
              <a:t>pembelajaran yang berbasis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None/>
              <a:tabLst/>
            </a:pPr>
            <a:r>
              <a:rPr lang="en-US" sz="280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</a:rPr>
              <a:t>	</a:t>
            </a: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</a:rPr>
              <a:t>elektronik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latin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Menggunakan media jaringan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None/>
              <a:tabLst/>
            </a:pPr>
            <a:r>
              <a:rPr lang="en-US" sz="280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	</a:t>
            </a: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computer (intranet atau internet).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endParaRPr kumimoji="0" lang="en-US" sz="1300" b="0" i="0" u="none" strike="noStrike" cap="none" normalizeH="0" baseline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latin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</a:rPr>
              <a:t>Berbasis web 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endParaRPr kumimoji="0" lang="en-US" sz="1300" b="0" i="0" u="none" strike="noStrike" cap="none" normalizeH="0" baseline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latin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Siswa dapat belajar dan berinteraksi dengan para guru tanpa ada batasan waktu dan tempat </a:t>
            </a: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ts val="1800"/>
              <a:buFont typeface="Courier New" pitchFamily="49" charset="0"/>
              <a:buChar char="o"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Arial" pitchFamily="34" charset="0"/>
              </a:rPr>
              <a:t>Siswa mengerjakan tugas, mendapatkan materi dari manasaja dan kapan saja, para guru juga bisa memberikan tugas dan penilaian dari mana saja dan kapan saja.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/>
              <a:t>Continually update their skills and knowledge 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latin typeface="Arial" pitchFamily="34" charset="0"/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520042"/>
            <a:ext cx="3048000" cy="31007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</a:rPr>
              <a:t>E-Learning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0" y="1600200"/>
            <a:ext cx="4876800" cy="5257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</a:pPr>
            <a:r>
              <a:rPr kumimoji="0" lang="en-US" sz="2400" b="1" i="0" u="none" strike="noStrike" cap="all" normalizeH="0" baseline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rial" pitchFamily="34" charset="0"/>
              </a:rPr>
              <a:t>Keuntungan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>
                <a:solidFill>
                  <a:srgbClr val="012104"/>
                </a:solidFill>
              </a:rPr>
              <a:t>Biaya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>
                <a:solidFill>
                  <a:srgbClr val="012104"/>
                </a:solidFill>
              </a:rPr>
              <a:t>Fleksibilitas waktu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>
                <a:solidFill>
                  <a:srgbClr val="012104"/>
                </a:solidFill>
              </a:rPr>
              <a:t>Fleksibilitas tempat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>
                <a:solidFill>
                  <a:srgbClr val="012104"/>
                </a:solidFill>
              </a:rPr>
              <a:t>Fleksibilitas kecepatan pemblajaran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>
                <a:solidFill>
                  <a:srgbClr val="012104"/>
                </a:solidFill>
              </a:rPr>
              <a:t>Standarisasi pengajaran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>
                <a:solidFill>
                  <a:srgbClr val="012104"/>
                </a:solidFill>
              </a:rPr>
              <a:t>Efektivitas pengajaran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>
                <a:solidFill>
                  <a:srgbClr val="012104"/>
                </a:solidFill>
              </a:rPr>
              <a:t>Kecepatan distribusi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>
                <a:solidFill>
                  <a:srgbClr val="012104"/>
                </a:solidFill>
              </a:rPr>
              <a:t>Ketersediaan On-Demand</a:t>
            </a:r>
          </a:p>
          <a:p>
            <a:pPr lvl="1">
              <a:buFont typeface="Courier New" pitchFamily="49" charset="0"/>
              <a:buChar char="o"/>
            </a:pPr>
            <a:r>
              <a:rPr lang="en-US" sz="2400">
                <a:solidFill>
                  <a:srgbClr val="012104"/>
                </a:solidFill>
              </a:rPr>
              <a:t>Otomatisasi Proses Administrasi</a:t>
            </a:r>
          </a:p>
          <a:p>
            <a:pPr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latin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None/>
              <a:tabLst/>
            </a:pPr>
            <a:r>
              <a:rPr lang="en-US" sz="2400">
                <a:solidFill>
                  <a:schemeClr val="accent3">
                    <a:lumMod val="40000"/>
                    <a:lumOff val="60000"/>
                  </a:schemeClr>
                </a:solidFill>
                <a:latin typeface="Arial" pitchFamily="34" charset="0"/>
              </a:rPr>
              <a:t>	</a:t>
            </a:r>
            <a:endParaRPr kumimoji="0" lang="en-US" sz="2400" b="0" i="0" u="none" strike="noStrike" cap="none" normalizeH="0" baseline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latin typeface="Arial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876800" y="1600200"/>
            <a:ext cx="4267200" cy="5257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 2"/>
              <a:buChar char=""/>
              <a:tabLst/>
              <a:defRPr/>
            </a:pPr>
            <a:r>
              <a:rPr kumimoji="0" lang="en-US" sz="2400" b="1" i="0" u="none" strike="noStrike" kern="1200" normalizeH="0" baseline="0" noProof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Kelemahan</a:t>
            </a:r>
          </a:p>
          <a:p>
            <a:pPr marL="731520" lvl="1" indent="-274320">
              <a:spcBef>
                <a:spcPct val="20000"/>
              </a:spcBef>
              <a:buClr>
                <a:schemeClr val="accent2"/>
              </a:buClr>
              <a:buSzPct val="90000"/>
              <a:buFont typeface="Courier New" pitchFamily="49" charset="0"/>
              <a:buChar char="o"/>
            </a:pPr>
            <a:r>
              <a:rPr lang="en-US" sz="2400"/>
              <a:t>Budaya</a:t>
            </a:r>
          </a:p>
          <a:p>
            <a:pPr marL="731520" lvl="1" indent="-274320">
              <a:spcBef>
                <a:spcPct val="20000"/>
              </a:spcBef>
              <a:buClr>
                <a:schemeClr val="accent2"/>
              </a:buClr>
              <a:buSzPct val="90000"/>
              <a:buFont typeface="Courier New" pitchFamily="49" charset="0"/>
              <a:buChar char="o"/>
            </a:pPr>
            <a:r>
              <a:rPr lang="en-US" sz="2400"/>
              <a:t>Investasi</a:t>
            </a:r>
          </a:p>
          <a:p>
            <a:pPr marL="731520" lvl="1" indent="-274320">
              <a:spcBef>
                <a:spcPct val="20000"/>
              </a:spcBef>
              <a:buClr>
                <a:schemeClr val="accent2"/>
              </a:buClr>
              <a:buSzPct val="90000"/>
              <a:buFont typeface="Courier New" pitchFamily="49" charset="0"/>
              <a:buChar char="o"/>
            </a:pPr>
            <a:r>
              <a:rPr lang="en-US" sz="2400"/>
              <a:t>Teknologi</a:t>
            </a:r>
          </a:p>
          <a:p>
            <a:pPr marL="731520" lvl="1" indent="-274320">
              <a:spcBef>
                <a:spcPct val="20000"/>
              </a:spcBef>
              <a:buClr>
                <a:schemeClr val="accent2"/>
              </a:buClr>
              <a:buSzPct val="90000"/>
              <a:buFont typeface="Courier New" pitchFamily="49" charset="0"/>
              <a:buChar char="o"/>
            </a:pPr>
            <a:r>
              <a:rPr lang="en-US" sz="2400"/>
              <a:t>Infrastruktur</a:t>
            </a:r>
          </a:p>
          <a:p>
            <a:pPr marL="731520" lvl="1" indent="-274320">
              <a:spcBef>
                <a:spcPct val="20000"/>
              </a:spcBef>
              <a:buClr>
                <a:schemeClr val="accent2"/>
              </a:buClr>
              <a:buSzPct val="90000"/>
              <a:buFont typeface="Courier New" pitchFamily="49" charset="0"/>
              <a:buChar char="o"/>
            </a:pPr>
            <a:r>
              <a:rPr lang="en-US" sz="2400"/>
              <a:t>Materi</a:t>
            </a:r>
          </a:p>
          <a:p>
            <a:pPr marL="731520" lvl="1" indent="-274320">
              <a:spcBef>
                <a:spcPct val="20000"/>
              </a:spcBef>
              <a:buClr>
                <a:schemeClr val="accent2"/>
              </a:buClr>
              <a:buSzPct val="90000"/>
              <a:buFont typeface="Courier New" pitchFamily="49" charset="0"/>
              <a:buChar char="o"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 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	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/>
              <a:t>Tradisional vs ELearning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1523999"/>
          <a:ext cx="9144000" cy="5334001"/>
        </p:xfrm>
        <a:graphic>
          <a:graphicData uri="http://schemas.openxmlformats.org/drawingml/2006/table">
            <a:tbl>
              <a:tblPr/>
              <a:tblGrid>
                <a:gridCol w="230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4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25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+mn-lt"/>
                          <a:ea typeface="Times New Roman"/>
                        </a:rPr>
                        <a:t> 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+mn-lt"/>
                          <a:ea typeface="Times New Roman"/>
                        </a:rPr>
                        <a:t>Traditional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+mn-lt"/>
                          <a:ea typeface="Times New Roman"/>
                        </a:rPr>
                        <a:t>E-learning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77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+mn-lt"/>
                          <a:ea typeface="Times New Roman"/>
                        </a:rPr>
                        <a:t>Classroom  Discussions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0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+mn-lt"/>
                          <a:ea typeface="Times New Roman"/>
                        </a:rPr>
                        <a:t>Dosen biasanya berbicara lebih banyak dari mahasiswa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0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+mn-lt"/>
                          <a:ea typeface="Times New Roman"/>
                        </a:rPr>
                        <a:t>Pembicaraan mahasiswa setidaknya sebanyak atau lebih dari </a:t>
                      </a:r>
                      <a:r>
                        <a:rPr lang="en-GB" sz="2000" baseline="0">
                          <a:latin typeface="+mn-lt"/>
                          <a:ea typeface="Times New Roman"/>
                        </a:rPr>
                        <a:t> dosen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77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+mn-lt"/>
                          <a:ea typeface="Times New Roman"/>
                        </a:rPr>
                        <a:t>Learning process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+mn-lt"/>
                          <a:ea typeface="Times New Roman"/>
                        </a:rPr>
                        <a:t>Hampir tidak ada kelompok atau individu studi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+mn-lt"/>
                          <a:ea typeface="Times New Roman"/>
                        </a:rPr>
                        <a:t>Sebagian besar proses belajar berlangsung dalam kelompok mahasiswa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03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+mn-lt"/>
                          <a:ea typeface="Times New Roman"/>
                        </a:rPr>
                        <a:t>Subject Matter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0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+mn-lt"/>
                          <a:ea typeface="Times New Roman"/>
                        </a:rPr>
                        <a:t>Dosen melakukan pelajaran sesuai dengan program studi dan kurikulum yang ada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0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+mn-lt"/>
                          <a:ea typeface="Times New Roman"/>
                        </a:rPr>
                        <a:t>Mahasiswa berpartisipasi dalam menentukan materi pelajaran, mempelajari didasarkan pada berbagai sumber informasi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15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>
                          <a:latin typeface="+mn-lt"/>
                          <a:ea typeface="Times New Roman"/>
                        </a:rPr>
                        <a:t>Emphases in the Learning Process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latin typeface="+mn-lt"/>
                          <a:ea typeface="Times New Roman"/>
                        </a:rPr>
                        <a:t>Mahasiswa belajar "apa" dan bukan "bagaimana", Mahasiswa dan dosen sibuk menyelesaikan materi pelajaran yang targetkan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+mn-lt"/>
                          <a:ea typeface="Times New Roman"/>
                        </a:rPr>
                        <a:t>Mahasiswa belajar "bagaimana" dan kurang "apa"; pembelajaran termasuk studi penelitian.</a:t>
                      </a:r>
                      <a:endParaRPr lang="en-US" sz="2000">
                        <a:latin typeface="+mn-lt"/>
                        <a:ea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Internet-based teaching and learning</a:t>
            </a:r>
            <a:endParaRPr lang="en-US" sz="360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76844"/>
          <a:ext cx="8382000" cy="4968240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28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76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Times New Roman" pitchFamily="18" charset="0"/>
                        </a:rPr>
                        <a:t>Jenis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Times New Roman" pitchFamily="18" charset="0"/>
                        </a:rPr>
                        <a:t>Free sources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64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e-mail (web based email)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hotmail, yahoo, lycos etc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257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mailing list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yahoogroup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64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ftp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ws-ftp, wincommander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64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www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geocities, freeweb,angelfire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356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Social media, chat room (web based chatting)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yahoo, mIRC, ICQ, facebook, twitter, youtube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257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teleconference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Yahoo, skype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35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discussion forum (web based discussion)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blazeboard, ,phpbb, facebook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764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course management system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moodle, claroline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76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</a:rPr>
                        <a:t>Ensiklopedi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</a:rPr>
                        <a:t> Wikipedia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764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search engine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+mj-lt"/>
                          <a:cs typeface="Times New Roman" pitchFamily="18" charset="0"/>
                        </a:rPr>
                        <a:t>altavista, yahoo, google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246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lvl="0"/>
            <a:r>
              <a:rPr lang="en-US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Blended Learning</a:t>
            </a:r>
            <a:endParaRPr lang="en-US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perpaduan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metode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belajar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tatap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muka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(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dalam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kelas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)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dengan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materi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yang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diberikan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secara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online.</a:t>
            </a:r>
          </a:p>
          <a:p>
            <a:pPr algn="ctr">
              <a:buNone/>
            </a:pPr>
            <a:endParaRPr lang="en-US" dirty="0"/>
          </a:p>
          <a:p>
            <a:r>
              <a:rPr lang="en-US" dirty="0" err="1"/>
              <a:t>Keuntungan</a:t>
            </a:r>
            <a:r>
              <a:rPr lang="en-US" dirty="0"/>
              <a:t> :</a:t>
            </a:r>
          </a:p>
          <a:p>
            <a:pPr lvl="1"/>
            <a:r>
              <a:rPr lang="en-US" i="1" dirty="0"/>
              <a:t>“differentiated instruction”</a:t>
            </a:r>
            <a:r>
              <a:rPr lang="en-US" dirty="0"/>
              <a:t> (</a:t>
            </a:r>
            <a:r>
              <a:rPr lang="en-US" dirty="0" err="1"/>
              <a:t>keberagaman</a:t>
            </a:r>
            <a:r>
              <a:rPr lang="en-US" dirty="0"/>
              <a:t> </a:t>
            </a:r>
            <a:r>
              <a:rPr lang="en-US" dirty="0" err="1"/>
              <a:t>instruksi</a:t>
            </a:r>
            <a:r>
              <a:rPr lang="en-US" dirty="0"/>
              <a:t>) </a:t>
            </a:r>
          </a:p>
          <a:p>
            <a:pPr lvl="1"/>
            <a:r>
              <a:rPr lang="en-US" i="1" dirty="0"/>
              <a:t>“pacing and attendance” (</a:t>
            </a:r>
            <a:r>
              <a:rPr lang="en-US" dirty="0" err="1"/>
              <a:t>kenyamanan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). </a:t>
            </a:r>
            <a:r>
              <a:rPr lang="en-US" i="1" dirty="0"/>
              <a:t> </a:t>
            </a:r>
            <a:endParaRPr lang="en-US" dirty="0"/>
          </a:p>
        </p:txBody>
      </p:sp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Riset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Universitas</a:t>
            </a:r>
            <a:r>
              <a:rPr lang="en-US" dirty="0"/>
              <a:t> Central Florida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Blended Learning (51%) </a:t>
            </a:r>
          </a:p>
          <a:p>
            <a:pPr lvl="1"/>
            <a:r>
              <a:rPr lang="en-US" dirty="0"/>
              <a:t>online </a:t>
            </a:r>
            <a:r>
              <a:rPr lang="en-US" dirty="0" err="1"/>
              <a:t>penuh</a:t>
            </a:r>
            <a:r>
              <a:rPr lang="en-US" dirty="0"/>
              <a:t> (48,3%) </a:t>
            </a:r>
          </a:p>
          <a:p>
            <a:pPr lvl="1"/>
            <a:r>
              <a:rPr lang="en-US" dirty="0" err="1"/>
              <a:t>tatap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(48,2%). 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34075" y="381000"/>
            <a:ext cx="320992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4791"/>
          <a:stretch>
            <a:fillRect/>
          </a:stretch>
        </p:blipFill>
        <p:spPr bwMode="auto">
          <a:xfrm>
            <a:off x="-34824" y="-1"/>
            <a:ext cx="9178824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024" y="-3666"/>
            <a:ext cx="9158024" cy="686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90861" y="0"/>
            <a:ext cx="1219795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1799" y="0"/>
            <a:ext cx="916759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063752"/>
          </a:xfrm>
        </p:spPr>
        <p:txBody>
          <a:bodyPr>
            <a:normAutofit/>
          </a:bodyPr>
          <a:lstStyle/>
          <a:p>
            <a:r>
              <a:rPr lang="en-GB" sz="3600" dirty="0" err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Fitur</a:t>
            </a:r>
            <a:r>
              <a:rPr lang="en-GB" sz="3600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 E-learning – </a:t>
            </a:r>
            <a:r>
              <a:rPr lang="en-GB" sz="36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sample : </a:t>
            </a:r>
            <a:r>
              <a:rPr lang="en-GB" sz="3600" b="0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moodle</a:t>
            </a:r>
            <a:endParaRPr lang="en-US" sz="360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33400" y="1828800"/>
            <a:ext cx="2971800" cy="4244609"/>
          </a:xfrm>
        </p:spPr>
        <p:txBody>
          <a:bodyPr>
            <a:normAutofit/>
          </a:bodyPr>
          <a:lstStyle/>
          <a:p>
            <a:pPr lvl="0"/>
            <a:r>
              <a:rPr lang="en-US" i="1" dirty="0"/>
              <a:t>Lesson</a:t>
            </a:r>
            <a:r>
              <a:rPr lang="en-US" dirty="0"/>
              <a:t>	</a:t>
            </a:r>
          </a:p>
          <a:p>
            <a:pPr lvl="0"/>
            <a:r>
              <a:rPr lang="en-US" i="1" dirty="0"/>
              <a:t>Quiz</a:t>
            </a:r>
            <a:r>
              <a:rPr lang="en-US" dirty="0"/>
              <a:t>	</a:t>
            </a:r>
          </a:p>
          <a:p>
            <a:pPr lvl="0"/>
            <a:r>
              <a:rPr lang="en-US" i="1" dirty="0"/>
              <a:t>Resource </a:t>
            </a:r>
            <a:r>
              <a:rPr lang="en-US" dirty="0"/>
              <a:t>	</a:t>
            </a:r>
          </a:p>
          <a:p>
            <a:pPr lvl="0"/>
            <a:r>
              <a:rPr lang="en-US" i="1" dirty="0" err="1"/>
              <a:t>Assigment</a:t>
            </a:r>
            <a:r>
              <a:rPr lang="en-US" i="1" dirty="0"/>
              <a:t> </a:t>
            </a:r>
            <a:r>
              <a:rPr lang="en-US" dirty="0"/>
              <a:t>	</a:t>
            </a:r>
          </a:p>
          <a:p>
            <a:pPr lvl="0"/>
            <a:r>
              <a:rPr lang="en-US" i="1" dirty="0"/>
              <a:t>Workshop</a:t>
            </a:r>
            <a:endParaRPr lang="en-US" dirty="0"/>
          </a:p>
          <a:p>
            <a:pPr lvl="0"/>
            <a:r>
              <a:rPr lang="en-US" i="1" dirty="0"/>
              <a:t>Database </a:t>
            </a:r>
            <a:r>
              <a:rPr lang="en-US" dirty="0"/>
              <a:t> 	</a:t>
            </a:r>
          </a:p>
          <a:p>
            <a:pPr lvl="0"/>
            <a:r>
              <a:rPr lang="en-US" i="1" dirty="0"/>
              <a:t>Forum </a:t>
            </a:r>
            <a:r>
              <a:rPr lang="en-US" dirty="0"/>
              <a:t>	</a:t>
            </a:r>
          </a:p>
          <a:p>
            <a:pPr lvl="0"/>
            <a:r>
              <a:rPr lang="en-US" i="1" dirty="0"/>
              <a:t>Chat</a:t>
            </a:r>
            <a:r>
              <a:rPr lang="en-US" dirty="0"/>
              <a:t>	</a:t>
            </a:r>
          </a:p>
          <a:p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2" cstate="print"/>
          <a:srcRect l="4978" t="28752" r="27139" b="26161"/>
          <a:stretch>
            <a:fillRect/>
          </a:stretch>
        </p:blipFill>
        <p:spPr bwMode="auto">
          <a:xfrm>
            <a:off x="3048000" y="4724400"/>
            <a:ext cx="6096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/>
          <p:nvPr/>
        </p:nvPicPr>
        <p:blipFill>
          <a:blip r:embed="rId3" cstate="print"/>
          <a:srcRect t="14815" r="3794" b="22447"/>
          <a:stretch>
            <a:fillRect/>
          </a:stretch>
        </p:blipFill>
        <p:spPr bwMode="auto">
          <a:xfrm>
            <a:off x="2971800" y="2819400"/>
            <a:ext cx="6172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/>
          <p:cNvPicPr/>
          <p:nvPr/>
        </p:nvPicPr>
        <p:blipFill>
          <a:blip r:embed="rId4" cstate="print"/>
          <a:srcRect t="14368" r="25493" b="36571"/>
          <a:stretch>
            <a:fillRect/>
          </a:stretch>
        </p:blipFill>
        <p:spPr bwMode="auto">
          <a:xfrm>
            <a:off x="2971800" y="990600"/>
            <a:ext cx="6172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/>
              <a:t>Bicara Dengan Bahasa Mereka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Pelaporan – </a:t>
            </a:r>
            <a:r>
              <a:rPr lang="en-US" b="1"/>
              <a:t>via blogs dan kamera Hp</a:t>
            </a:r>
            <a:endParaRPr lang="en-US"/>
          </a:p>
          <a:p>
            <a:pPr lvl="0"/>
            <a:r>
              <a:rPr lang="en-US"/>
              <a:t>Pencarian: </a:t>
            </a:r>
            <a:r>
              <a:rPr lang="en-US" b="1"/>
              <a:t>Menggunakan Google, Yahoo, dsb</a:t>
            </a:r>
            <a:endParaRPr lang="en-US"/>
          </a:p>
          <a:p>
            <a:pPr lvl="0"/>
            <a:r>
              <a:rPr lang="en-US"/>
              <a:t>Sosialisasi – </a:t>
            </a:r>
            <a:r>
              <a:rPr lang="en-US" b="1"/>
              <a:t>menggunakan media  online</a:t>
            </a:r>
            <a:endParaRPr lang="en-US"/>
          </a:p>
          <a:p>
            <a:endParaRPr lang="en-US"/>
          </a:p>
        </p:txBody>
      </p:sp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Calibri" pitchFamily="34" charset="0"/>
              </a:rPr>
              <a:t>Benefit - 1</a:t>
            </a:r>
            <a:endParaRPr lang="en-US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7239000" cy="4625609"/>
          </a:xfrm>
        </p:spPr>
        <p:txBody>
          <a:bodyPr>
            <a:normAutofit fontScale="92500"/>
          </a:bodyPr>
          <a:lstStyle/>
          <a:p>
            <a:pPr lvl="1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en-US" b="1" i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Real-time &amp; on-demands</a:t>
            </a:r>
            <a:r>
              <a:rPr lang="en-US" i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 online information</a:t>
            </a:r>
            <a:endParaRPr lang="en-US">
              <a:solidFill>
                <a:schemeClr val="accent3">
                  <a:lumMod val="40000"/>
                  <a:lumOff val="60000"/>
                </a:schemeClr>
              </a:solidFill>
              <a:latin typeface="Calibri" pitchFamily="34" charset="0"/>
            </a:endParaRPr>
          </a:p>
          <a:p>
            <a:pPr marL="742950" lvl="1" indent="-285750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en-US" b="1" i="1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Mobility access, </a:t>
            </a:r>
            <a:r>
              <a:rPr lang="en-US" b="1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fleksibel dan praktis</a:t>
            </a: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 (dapat dilaksanakan kapan saja sesui keinginan kita)</a:t>
            </a:r>
          </a:p>
          <a:p>
            <a:pPr marL="742950" lvl="1" indent="-285750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Menjangkau </a:t>
            </a:r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wilayah geografis yang luas</a:t>
            </a:r>
            <a:endParaRPr lang="en-US">
              <a:solidFill>
                <a:schemeClr val="accent3">
                  <a:lumMod val="40000"/>
                  <a:lumOff val="60000"/>
                </a:schemeClr>
              </a:solidFill>
              <a:latin typeface="Calibri" pitchFamily="34" charset="0"/>
            </a:endParaRPr>
          </a:p>
          <a:p>
            <a:pPr marL="742950" lvl="1" indent="-285750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en-US" b="1" i="1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User friendly, </a:t>
            </a:r>
            <a:r>
              <a:rPr lang="en-US" b="1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bebas repot</a:t>
            </a: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 dan ruwet</a:t>
            </a:r>
          </a:p>
          <a:p>
            <a:pPr marL="742950" lvl="1" indent="-285750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pt-BR" b="1" i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Benefit in cost</a:t>
            </a:r>
            <a:r>
              <a:rPr lang="pt-BR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, mengurangi (menghemat) biaya pendidikan secara keseluruhan (infrastruktur, peralatan, buku-buku, perjalanan, pengadaan pendidikan dll)</a:t>
            </a:r>
            <a:endParaRPr lang="en-US">
              <a:solidFill>
                <a:schemeClr val="accent3">
                  <a:lumMod val="40000"/>
                  <a:lumOff val="60000"/>
                </a:schemeClr>
              </a:solidFill>
              <a:latin typeface="Calibri" pitchFamily="34" charset="0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4495800"/>
            <a:ext cx="235267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Calibri" pitchFamily="34" charset="0"/>
              </a:rPr>
              <a:t>Benefit - 2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7162800" cy="3886200"/>
          </a:xfrm>
        </p:spPr>
        <p:txBody>
          <a:bodyPr>
            <a:noAutofit/>
          </a:bodyPr>
          <a:lstStyle/>
          <a:p>
            <a:pPr marL="742950" lvl="1" indent="-285750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pt-BR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Mengoptimalkan kualitas belajar</a:t>
            </a:r>
            <a:endParaRPr lang="en-US">
              <a:solidFill>
                <a:schemeClr val="accent2">
                  <a:lumMod val="40000"/>
                  <a:lumOff val="60000"/>
                </a:schemeClr>
              </a:solidFill>
              <a:latin typeface="Calibri" pitchFamily="34" charset="0"/>
            </a:endParaRPr>
          </a:p>
          <a:p>
            <a:pPr marL="742950" lvl="1" indent="-285750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en-US" i="1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Less administrative papers</a:t>
            </a:r>
            <a:endParaRPr lang="en-US">
              <a:solidFill>
                <a:schemeClr val="accent3">
                  <a:lumMod val="40000"/>
                  <a:lumOff val="60000"/>
                </a:schemeClr>
              </a:solidFill>
              <a:latin typeface="Calibri" pitchFamily="34" charset="0"/>
            </a:endParaRPr>
          </a:p>
          <a:p>
            <a:pPr marL="742950" lvl="1" indent="-285750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Dapat melengkapi aktivitas belajar konvensional</a:t>
            </a:r>
          </a:p>
          <a:p>
            <a:pPr lvl="1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en-US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Cara belajar yang aman dan sehat</a:t>
            </a:r>
          </a:p>
          <a:p>
            <a:pPr lvl="1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Alternatif media belajar dari anak-anak, remaja, dewasa sampai orang tua, belajar fleksibel tanpa terikat jadwal + menyenangkan </a:t>
            </a:r>
          </a:p>
          <a:p>
            <a:pPr marL="742950" lvl="1" indent="-285750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endParaRPr lang="en-US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1676400"/>
            <a:ext cx="3019586" cy="228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Calibri" pitchFamily="34" charset="0"/>
              </a:rPr>
              <a:t>Benefit - 3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75191"/>
            <a:ext cx="5715000" cy="4168409"/>
          </a:xfrm>
        </p:spPr>
        <p:txBody>
          <a:bodyPr>
            <a:noAutofit/>
          </a:bodyPr>
          <a:lstStyle/>
          <a:p>
            <a:pPr lvl="1" eaLnBrk="0" fontAlgn="base" hangingPunct="0">
              <a:spcAft>
                <a:spcPct val="0"/>
              </a:spcAft>
              <a:buClr>
                <a:srgbClr val="FFC000"/>
              </a:buClr>
              <a:buSzPts val="1500"/>
              <a:buFontTx/>
              <a:buChar char="–"/>
            </a:pPr>
            <a:r>
              <a:rPr lang="en-US" sz="260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Melatih pembelajar lebih mandiri dan berkembang dalam ilmu dan pengetahuan</a:t>
            </a:r>
          </a:p>
          <a:p>
            <a:pPr lvl="1" eaLnBrk="0" fontAlgn="base" hangingPunct="0">
              <a:spcAft>
                <a:spcPct val="0"/>
              </a:spcAft>
              <a:buClr>
                <a:srgbClr val="FFC000"/>
              </a:buClr>
              <a:buSzPts val="1500"/>
              <a:buFontTx/>
              <a:buChar char="–"/>
            </a:pPr>
            <a:r>
              <a:rPr lang="en-US" sz="2600">
                <a:solidFill>
                  <a:schemeClr val="accent3">
                    <a:lumMod val="40000"/>
                    <a:lumOff val="60000"/>
                  </a:schemeClr>
                </a:solidFill>
                <a:latin typeface="Calibri" pitchFamily="34" charset="0"/>
              </a:rPr>
              <a:t>Source ilmu dan informasi yang tidak terbatas (bahkan berlimpah), sehingga kuncinya bukan mendapatkan kesemuanya namun filtering yang kita butuhkan saja</a:t>
            </a:r>
          </a:p>
          <a:p>
            <a:pPr lvl="1" eaLnBrk="0" fontAlgn="base" hangingPunct="0">
              <a:spcAft>
                <a:spcPct val="0"/>
              </a:spcAft>
              <a:buClr>
                <a:srgbClr val="FFC000"/>
              </a:buClr>
              <a:buSzPts val="1500"/>
              <a:buFontTx/>
              <a:buChar char="–"/>
            </a:pPr>
            <a:r>
              <a:rPr lang="en-US" sz="260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</a:rPr>
              <a:t>Menghemat waktu proses belajar mengajar</a:t>
            </a:r>
          </a:p>
          <a:p>
            <a:pPr marL="742950" lvl="1" indent="-285750" eaLnBrk="0" fontAlgn="base" hangingPunct="0">
              <a:spcAft>
                <a:spcPct val="0"/>
              </a:spcAft>
              <a:buClr>
                <a:srgbClr val="FFC000"/>
              </a:buClr>
              <a:buSzPts val="1500"/>
            </a:pPr>
            <a:endParaRPr lang="en-US" sz="260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590800"/>
            <a:ext cx="3011542" cy="3028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9200"/>
            <a:ext cx="8013192" cy="1636776"/>
          </a:xfrm>
        </p:spPr>
        <p:txBody>
          <a:bodyPr>
            <a:normAutofit/>
          </a:bodyPr>
          <a:lstStyle/>
          <a:p>
            <a:r>
              <a:rPr lang="en-US" sz="40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rgbClr val="FFFF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MULTIMEDIA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2000" y="1676400"/>
            <a:ext cx="8022336" cy="685800"/>
          </a:xfrm>
        </p:spPr>
        <p:txBody>
          <a:bodyPr anchor="ctr"/>
          <a:lstStyle/>
          <a:p>
            <a:r>
              <a:rPr lang="en-US" b="1" spc="5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Wawan Laksito YS, S.Si, M.Kom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56388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cap="all" spc="12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Pelatihan Applied Approach (AA) </a:t>
            </a:r>
          </a:p>
          <a:p>
            <a:pPr algn="ctr"/>
            <a:r>
              <a:rPr lang="en-US" sz="2400" b="1" cap="all" spc="12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Dosen PTS Kopertis Wilayah VI Jawa  Tengah</a:t>
            </a:r>
          </a:p>
        </p:txBody>
      </p:sp>
    </p:spTree>
  </p:cSld>
  <p:clrMapOvr>
    <a:masterClrMapping/>
  </p:clrMapOvr>
  <p:transition spd="med"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Era sekarang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4397009"/>
          </a:xfrm>
        </p:spPr>
        <p:txBody>
          <a:bodyPr>
            <a:normAutofit/>
          </a:bodyPr>
          <a:lstStyle/>
          <a:p>
            <a:pPr lvl="0"/>
            <a:r>
              <a:rPr lang="en-US"/>
              <a:t>Era Informasi Digital</a:t>
            </a:r>
            <a:endParaRPr lang="en-US" sz="4400"/>
          </a:p>
          <a:p>
            <a:pPr lvl="0"/>
            <a:r>
              <a:rPr lang="en-US"/>
              <a:t>Terjadi Penggabungan Media: </a:t>
            </a:r>
            <a:endParaRPr lang="en-US" sz="4400"/>
          </a:p>
          <a:p>
            <a:pPr lvl="1"/>
            <a:r>
              <a:rPr lang="en-US"/>
              <a:t>Teks</a:t>
            </a:r>
            <a:endParaRPr lang="en-US" sz="4000"/>
          </a:p>
          <a:p>
            <a:pPr lvl="1"/>
            <a:r>
              <a:rPr lang="en-US"/>
              <a:t>Audio</a:t>
            </a:r>
            <a:endParaRPr lang="en-US" sz="4000"/>
          </a:p>
          <a:p>
            <a:pPr lvl="1"/>
            <a:r>
              <a:rPr lang="en-US"/>
              <a:t>Video</a:t>
            </a:r>
            <a:endParaRPr lang="en-US" sz="4000"/>
          </a:p>
          <a:p>
            <a:pPr lvl="1"/>
            <a:r>
              <a:rPr lang="en-US"/>
              <a:t>Grafik</a:t>
            </a:r>
            <a:endParaRPr lang="en-US" sz="4000"/>
          </a:p>
          <a:p>
            <a:pPr lvl="0"/>
            <a:r>
              <a:rPr lang="en-US"/>
              <a:t>Media yang Sama dan Makin Kecil serta Berada Dalam Saku Anda (Mobile)!</a:t>
            </a:r>
            <a:endParaRPr lang="en-US" sz="4400"/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  <p:transition spd="med"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Mengapa Multimedia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25609"/>
          </a:xfrm>
        </p:spPr>
        <p:txBody>
          <a:bodyPr/>
          <a:lstStyle/>
          <a:p>
            <a:pPr lvl="0"/>
            <a:r>
              <a:rPr lang="en-US"/>
              <a:t>Penyerapan sebesar 1,5% melalui </a:t>
            </a:r>
            <a:r>
              <a:rPr lang="en-US" b="1" i="1"/>
              <a:t>sentuhan</a:t>
            </a:r>
          </a:p>
          <a:p>
            <a:pPr lvl="0"/>
            <a:endParaRPr lang="en-US"/>
          </a:p>
          <a:p>
            <a:pPr lvl="0"/>
            <a:r>
              <a:rPr lang="en-US"/>
              <a:t> Penyerapan sebesar 3,4% melalui </a:t>
            </a:r>
            <a:r>
              <a:rPr lang="en-US" b="1" i="1"/>
              <a:t>penciuman</a:t>
            </a:r>
          </a:p>
          <a:p>
            <a:pPr lvl="0"/>
            <a:endParaRPr lang="en-US"/>
          </a:p>
          <a:p>
            <a:pPr lvl="0"/>
            <a:r>
              <a:rPr lang="en-US"/>
              <a:t> Penyerapan sebesar 11%  melalui </a:t>
            </a:r>
            <a:r>
              <a:rPr lang="en-US" b="1" i="1"/>
              <a:t>pendengaran</a:t>
            </a:r>
          </a:p>
          <a:p>
            <a:pPr lvl="0"/>
            <a:endParaRPr lang="en-US"/>
          </a:p>
          <a:p>
            <a:pPr lvl="0"/>
            <a:r>
              <a:rPr lang="en-US"/>
              <a:t> Penyerapan sebesar 83%  melalui </a:t>
            </a:r>
            <a:r>
              <a:rPr lang="en-US" b="1" i="1"/>
              <a:t>penglihatan</a:t>
            </a:r>
            <a:endParaRPr lang="en-US"/>
          </a:p>
        </p:txBody>
      </p:sp>
    </p:spTree>
  </p:cSld>
  <p:clrMapOvr>
    <a:masterClrMapping/>
  </p:clrMapOvr>
  <p:transition spd="med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i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Interactive Multimedia Instructional </a:t>
            </a:r>
            <a:r>
              <a:rPr lang="en-US" sz="32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(IMI)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52600"/>
            <a:ext cx="42672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gamelan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3429000"/>
            <a:ext cx="4038600" cy="3021987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i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Interactive Multimedia Instructional </a:t>
            </a:r>
            <a:r>
              <a:rPr lang="en-US" sz="36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(IMI)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1775191"/>
            <a:ext cx="8229600" cy="477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r>
              <a:rPr kumimoji="0" lang="en-US" sz="2800" i="0" u="none" strike="noStrike" cap="none" normalizeH="0" baseline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</a:rPr>
              <a:t>Integrasi berbagai media(seperti media teks (papan tulis), audio, video,)  ke dalam satu jenis media interaktif.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None/>
              <a:tabLst/>
            </a:pPr>
            <a:endParaRPr kumimoji="0" lang="en-US" sz="900" i="0" u="none" strike="noStrike" cap="none" normalizeH="0" baseline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r>
              <a:rPr kumimoji="0" lang="en-US" sz="2800" i="0" u="none" strike="noStrike" cap="none" normalizeH="0" baseline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Pengguna lebih nyaman dalam mempelajari isi media, secara berulang-ulang.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None/>
              <a:tabLst/>
            </a:pPr>
            <a:endParaRPr kumimoji="0" lang="en-US" sz="1300" i="0" u="none" strike="noStrike" cap="none" normalizeH="0" baseline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r>
              <a:rPr kumimoji="0" lang="en-US" sz="2800" i="0" u="none" strike="noStrike" cap="none" normalizeH="0" baseline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</a:rPr>
              <a:t>Teknologi animasi, simulasi dan visualisasi komputer, pengguna akan mendapatkan infromasi yang lebih real dari infromasi yang bersifat abstrak.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  <a:tabLst/>
            </a:pPr>
            <a:endParaRPr kumimoji="0" lang="en-US" sz="1300" i="0" u="none" strike="noStrike" cap="none" normalizeH="0" baseline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</a:pPr>
            <a:r>
              <a:rPr lang="en-US" sz="2800">
                <a:solidFill>
                  <a:schemeClr val="accent3">
                    <a:lumMod val="40000"/>
                    <a:lumOff val="60000"/>
                  </a:schemeClr>
                </a:solidFill>
              </a:rPr>
              <a:t>Pemanfaatan oleh siswa dapat menggali kemampuan individual siswa serta menimbulkan daya tarik, sehingga diharapkan dapat melahirkan motivasi.</a:t>
            </a: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</a:pPr>
            <a:endParaRPr lang="en-US" sz="90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342900" lvl="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ts val="2100"/>
              <a:buFont typeface="Wingdings" pitchFamily="2" charset="2"/>
              <a:buChar char="l"/>
            </a:pPr>
            <a:r>
              <a:rPr lang="en-US" sz="2800">
                <a:solidFill>
                  <a:schemeClr val="accent2">
                    <a:lumMod val="40000"/>
                    <a:lumOff val="60000"/>
                  </a:schemeClr>
                </a:solidFill>
              </a:rPr>
              <a:t>permasalahan keterbatasan kemampuan daya serap mahasiswa dan keterbatasan kemampuan guru.</a:t>
            </a:r>
            <a:endParaRPr kumimoji="0" lang="en-US" sz="2800" i="0" u="none" strike="noStrike" cap="none" normalizeH="0" baseline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781800" cy="4625609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Presentasi : </a:t>
            </a:r>
          </a:p>
          <a:p>
            <a:pPr lvl="1">
              <a:buNone/>
            </a:pPr>
            <a:r>
              <a:rPr lang="en-US">
                <a:solidFill>
                  <a:srgbClr val="92D050"/>
                </a:solidFill>
              </a:rPr>
              <a:t>	Ms. PowerPoint, Open Office Impress, Apple Keynote, Adobe Encore,…</a:t>
            </a:r>
          </a:p>
          <a:p>
            <a:r>
              <a:rPr lang="en-US"/>
              <a:t>Pengolah Gambar : </a:t>
            </a:r>
          </a:p>
          <a:p>
            <a:pPr lvl="1">
              <a:buNone/>
            </a:pPr>
            <a:r>
              <a:rPr lang="en-US">
                <a:solidFill>
                  <a:srgbClr val="92D050"/>
                </a:solidFill>
              </a:rPr>
              <a:t>	Corel , Photoshop, Firework,…</a:t>
            </a:r>
          </a:p>
          <a:p>
            <a:r>
              <a:rPr lang="en-US"/>
              <a:t>Animasi : </a:t>
            </a:r>
          </a:p>
          <a:p>
            <a:pPr lvl="1">
              <a:buNone/>
            </a:pPr>
            <a:r>
              <a:rPr lang="en-US">
                <a:solidFill>
                  <a:srgbClr val="92D050"/>
                </a:solidFill>
              </a:rPr>
              <a:t>	Flash, SWiSH, 3DMax, Blender,…</a:t>
            </a:r>
          </a:p>
          <a:p>
            <a:r>
              <a:rPr lang="en-US"/>
              <a:t>Pengolah suara : </a:t>
            </a:r>
          </a:p>
          <a:p>
            <a:pPr lvl="1">
              <a:buNone/>
            </a:pPr>
            <a:r>
              <a:rPr lang="en-US">
                <a:solidFill>
                  <a:srgbClr val="92D050"/>
                </a:solidFill>
              </a:rPr>
              <a:t>	AudioRecorder, AudaCity, Adobe Audition, ..</a:t>
            </a:r>
          </a:p>
          <a:p>
            <a:r>
              <a:rPr lang="en-US"/>
              <a:t>Pengolah Video : </a:t>
            </a:r>
          </a:p>
          <a:p>
            <a:pPr lvl="1">
              <a:buNone/>
            </a:pPr>
            <a:r>
              <a:rPr lang="en-US">
                <a:solidFill>
                  <a:srgbClr val="92D050"/>
                </a:solidFill>
              </a:rPr>
              <a:t>	Movie Maker, Adobe Premiere, Pinnacle Studio, Camtasia, .. 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81400" y="228600"/>
            <a:ext cx="52357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Interactive Multimedia Instructional </a:t>
            </a:r>
            <a:r>
              <a:rPr lang="en-US" sz="240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(IMI)</a:t>
            </a:r>
            <a:endParaRPr lang="en-US" sz="2400"/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5819775"/>
            <a:ext cx="1057275" cy="1038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599" y="5795555"/>
            <a:ext cx="1828801" cy="10624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26713" y="5791200"/>
            <a:ext cx="1120523" cy="1066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67600" y="5854046"/>
            <a:ext cx="1371600" cy="10039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19601" y="5762910"/>
            <a:ext cx="1524000" cy="10950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43600" y="5791200"/>
            <a:ext cx="1447800" cy="1066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/>
              <a:t>Tips Pengembangan Multimedia</a:t>
            </a:r>
            <a:br>
              <a:rPr lang="en-US"/>
            </a:br>
            <a:r>
              <a:rPr lang="en-US" sz="2700"/>
              <a:t>ala Romi Satrio 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3222" indent="-514350">
              <a:buClr>
                <a:schemeClr val="bg1"/>
              </a:buClr>
              <a:buFont typeface="+mj-lt"/>
              <a:buAutoNum type="arabicPeriod"/>
            </a:pPr>
            <a:r>
              <a:rPr lang="en-US" b="1"/>
              <a:t>Tentukan Jenis Multimedia Pembelajaran</a:t>
            </a:r>
          </a:p>
          <a:p>
            <a:pPr lvl="2">
              <a:buClr>
                <a:schemeClr val="bg1"/>
              </a:buClr>
            </a:pPr>
            <a:r>
              <a:rPr lang="en-US" b="1">
                <a:solidFill>
                  <a:schemeClr val="bg1">
                    <a:lumMod val="85000"/>
                  </a:schemeClr>
                </a:solidFill>
              </a:rPr>
              <a:t>Multimedia Presentasi Pembelajaran</a:t>
            </a:r>
          </a:p>
          <a:p>
            <a:pPr lvl="2">
              <a:buClr>
                <a:schemeClr val="bg1"/>
              </a:buClr>
            </a:pPr>
            <a:r>
              <a:rPr lang="en-US" b="1">
                <a:solidFill>
                  <a:schemeClr val="bg1">
                    <a:lumMod val="85000"/>
                  </a:schemeClr>
                </a:solidFill>
              </a:rPr>
              <a:t>Multimedia Pembelajaran Mandiri</a:t>
            </a:r>
          </a:p>
          <a:p>
            <a:pPr lvl="1">
              <a:buClr>
                <a:schemeClr val="bg1"/>
              </a:buClr>
            </a:pPr>
            <a:endParaRPr lang="en-US" b="1">
              <a:solidFill>
                <a:schemeClr val="bg1"/>
              </a:solidFill>
            </a:endParaRPr>
          </a:p>
          <a:p>
            <a:pPr marL="633222" indent="-514350">
              <a:buClr>
                <a:schemeClr val="bg1"/>
              </a:buClr>
              <a:buFont typeface="+mj-lt"/>
              <a:buAutoNum type="arabicPeriod"/>
            </a:pPr>
            <a:r>
              <a:rPr lang="en-US" b="1"/>
              <a:t>Tentukan Tema Materi Ajar</a:t>
            </a:r>
          </a:p>
          <a:p>
            <a:pPr marL="688975" lvl="2" indent="-12700">
              <a:buClr>
                <a:schemeClr val="bg1"/>
              </a:buClr>
              <a:buNone/>
            </a:pPr>
            <a:r>
              <a:rPr lang="en-US">
                <a:solidFill>
                  <a:schemeClr val="bg1">
                    <a:lumMod val="85000"/>
                  </a:schemeClr>
                </a:solidFill>
              </a:rPr>
              <a:t>tujuan utama membuat multimedia pembelajaran adalah untuk meningkatkan pemahaman siswa</a:t>
            </a:r>
          </a:p>
        </p:txBody>
      </p:sp>
    </p:spTree>
  </p:cSld>
  <p:clrMapOvr>
    <a:masterClrMapping/>
  </p:clrMapOvr>
  <p:transition spd="med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/>
              <a:t>Tips Pengembangan Multimedia</a:t>
            </a:r>
            <a:br>
              <a:rPr lang="en-US"/>
            </a:br>
            <a:r>
              <a:rPr lang="en-US" sz="2700"/>
              <a:t>ala Romi Satrio 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25609"/>
          </a:xfrm>
        </p:spPr>
        <p:txBody>
          <a:bodyPr/>
          <a:lstStyle/>
          <a:p>
            <a:pPr marL="633222" indent="-514350">
              <a:buClr>
                <a:schemeClr val="bg1"/>
              </a:buClr>
              <a:buNone/>
            </a:pPr>
            <a:r>
              <a:rPr lang="en-US" b="1"/>
              <a:t>3. Susun Alur Cerita (Storyboard)</a:t>
            </a:r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209800"/>
            <a:ext cx="5791200" cy="4440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/>
              <a:t>Tips Pengembangan Multimedia</a:t>
            </a:r>
            <a:br>
              <a:rPr lang="en-US"/>
            </a:br>
            <a:r>
              <a:rPr lang="en-US" sz="2700"/>
              <a:t>ala Romi Satrio 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2971800"/>
          </a:xfrm>
        </p:spPr>
        <p:txBody>
          <a:bodyPr>
            <a:normAutofit/>
          </a:bodyPr>
          <a:lstStyle/>
          <a:p>
            <a:pPr marL="633222" indent="-514350">
              <a:buClr>
                <a:schemeClr val="bg1"/>
              </a:buClr>
              <a:buNone/>
            </a:pPr>
            <a:r>
              <a:rPr lang="en-US" sz="2400" b="1"/>
              <a:t>4. </a:t>
            </a:r>
            <a:r>
              <a:rPr lang="en-US" sz="2800" b="1"/>
              <a:t>Mulai Buat Sekarang Juga!</a:t>
            </a:r>
          </a:p>
          <a:p>
            <a:pPr marL="925830" lvl="1" indent="-514350">
              <a:buClr>
                <a:schemeClr val="bg1"/>
              </a:buClr>
            </a:pPr>
            <a:r>
              <a:rPr lang="en-US" sz="2400"/>
              <a:t>Mulai buat slide pertama, isikan bahan ajar yang ingin anda multimedia-kan. Terus masukkan bahan ajar anda di slide slide berikutnya, mulai mainkan image, link dengan gambar, suara dan video yang bisa kita peroleh dengan gampang di Internet. </a:t>
            </a:r>
          </a:p>
          <a:p>
            <a:pPr marL="925830" lvl="1" indent="-514350">
              <a:buClr>
                <a:schemeClr val="bg1"/>
              </a:buClr>
            </a:pPr>
            <a:r>
              <a:rPr lang="en-US" sz="2400"/>
              <a:t>Bisa juga memanfaatkan situs </a:t>
            </a:r>
            <a:r>
              <a:rPr lang="en-US" sz="2400">
                <a:hlinkClick r:id="rId2"/>
              </a:rPr>
              <a:t>howstuffworks.com</a:t>
            </a:r>
            <a:endParaRPr lang="en-US" sz="240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4419600"/>
            <a:ext cx="3128963" cy="2156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/>
              <a:t>Tips Pengembangan Multimedia</a:t>
            </a:r>
            <a:br>
              <a:rPr lang="en-US"/>
            </a:br>
            <a:r>
              <a:rPr lang="en-US" sz="2700"/>
              <a:t>ala Romi Satrio 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 fontScale="85000" lnSpcReduction="20000"/>
          </a:bodyPr>
          <a:lstStyle/>
          <a:p>
            <a:pPr marL="633222" indent="-514350">
              <a:buClr>
                <a:schemeClr val="bg1"/>
              </a:buClr>
              <a:buNone/>
            </a:pPr>
            <a:r>
              <a:rPr lang="en-US" sz="3800" b="1"/>
              <a:t>5. Gunakan Teknik ATM </a:t>
            </a:r>
            <a:r>
              <a:rPr lang="en-US" sz="4000"/>
              <a:t>(</a:t>
            </a:r>
            <a:r>
              <a:rPr lang="en-US" sz="4000" i="1"/>
              <a:t>Amati, Tiru dan Modifikasi</a:t>
            </a:r>
            <a:r>
              <a:rPr lang="en-US" sz="4000"/>
              <a:t>).</a:t>
            </a:r>
            <a:endParaRPr lang="en-US" sz="3800" b="1"/>
          </a:p>
          <a:p>
            <a:pPr lvl="1"/>
            <a:r>
              <a:rPr lang="en-US"/>
              <a:t>Usahakan sering melihat contoh-contoh yang sudah ada untuk membangkitkan ide. Gunakan logo, icon dan image yang tersedia secara default. Apabila masih kurang puas:</a:t>
            </a:r>
          </a:p>
          <a:p>
            <a:pPr lvl="2" fontAlgn="t"/>
            <a:r>
              <a:rPr lang="en-US"/>
              <a:t>Cari dari berbagai sumber</a:t>
            </a:r>
          </a:p>
          <a:p>
            <a:pPr lvl="2" fontAlgn="t"/>
            <a:r>
              <a:rPr lang="en-US"/>
              <a:t>Buat sendiri apabila mampu</a:t>
            </a:r>
          </a:p>
          <a:p>
            <a:pPr lvl="2" fontAlgn="t"/>
            <a:endParaRPr lang="en-US"/>
          </a:p>
          <a:p>
            <a:pPr fontAlgn="t">
              <a:buNone/>
            </a:pPr>
            <a:r>
              <a:rPr lang="en-US" b="1"/>
              <a:t>6. Tetapkan Target</a:t>
            </a:r>
          </a:p>
          <a:p>
            <a:pPr lvl="1" fontAlgn="t"/>
            <a:r>
              <a:rPr lang="es-ES"/>
              <a:t>Target perlu supaya proses belajar membuat multimedia pembelajaran terjaga dan bisa berjalan secara kontinyu alias tidak putus di tengah jalan.</a:t>
            </a:r>
          </a:p>
          <a:p>
            <a:pPr lvl="1" fontAlgn="t"/>
            <a:r>
              <a:rPr lang="en-US"/>
              <a:t>menyiapkan produk untuk dijual, atau deadline jadwal mengajar di kelas</a:t>
            </a:r>
          </a:p>
        </p:txBody>
      </p:sp>
    </p:spTree>
  </p:cSld>
  <p:clrMapOvr>
    <a:masterClrMapping/>
  </p:clrMapOvr>
  <p:transition spd="med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/>
              <a:t>Tips Pengembangan Multimedia</a:t>
            </a:r>
            <a:br>
              <a:rPr lang="en-US"/>
            </a:br>
            <a:r>
              <a:rPr lang="en-US" sz="2700"/>
              <a:t>ala Romi Satrio 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/>
          </a:bodyPr>
          <a:lstStyle/>
          <a:p>
            <a:pPr marL="633222" indent="-514350">
              <a:buClr>
                <a:schemeClr val="bg1"/>
              </a:buClr>
              <a:buNone/>
            </a:pPr>
            <a:r>
              <a:rPr lang="en-US" sz="3800" b="1"/>
              <a:t>7. </a:t>
            </a:r>
            <a:r>
              <a:rPr lang="sv-SE" sz="3600" b="1"/>
              <a:t>Ingat Terus Tiga Resep Dari </a:t>
            </a:r>
            <a:r>
              <a:rPr lang="sv-SE" sz="3600" b="1" i="1"/>
              <a:t>Success Story</a:t>
            </a:r>
            <a:endParaRPr lang="en-US" sz="3800" b="1"/>
          </a:p>
          <a:p>
            <a:pPr lvl="1" fontAlgn="t"/>
            <a:r>
              <a:rPr lang="en-US"/>
              <a:t>Berani mencoba dan mencoba lagi</a:t>
            </a:r>
          </a:p>
          <a:p>
            <a:pPr lvl="1" fontAlgn="t"/>
            <a:r>
              <a:rPr lang="en-US"/>
              <a:t>Belajar mandiri (otodidak) dari buku-buku yang ada (perlu investasi membeli buku)</a:t>
            </a:r>
          </a:p>
          <a:p>
            <a:pPr lvl="1" fontAlgn="t"/>
            <a:r>
              <a:rPr lang="en-US"/>
              <a:t>Tekun dan tidak menyerah meskipun peralatan terbatas</a:t>
            </a:r>
          </a:p>
          <a:p>
            <a:pPr lvl="2" fontAlgn="t"/>
            <a:endParaRPr lang="en-US"/>
          </a:p>
        </p:txBody>
      </p:sp>
    </p:spTree>
  </p:cSld>
  <p:clrMapOvr>
    <a:masterClrMapping/>
  </p:clrMapOvr>
  <p:transition spd="med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</a:t>
            </a:r>
          </a:p>
        </p:txBody>
      </p:sp>
      <p:pic>
        <p:nvPicPr>
          <p:cNvPr id="34818" name="Picture 2">
            <a:hlinkClick r:id="rId2" action="ppaction://program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600200"/>
            <a:ext cx="3016078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9" name="Picture 3">
            <a:hlinkClick r:id="rId4" action="ppaction://program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29200" y="1600200"/>
            <a:ext cx="2936512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0" name="Picture 4">
            <a:hlinkClick r:id="rId6" action="ppaction://program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43200" y="3962400"/>
            <a:ext cx="3429000" cy="258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Terima Kasih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random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1746</TotalTime>
  <Words>2034</Words>
  <Application>Microsoft Office PowerPoint</Application>
  <PresentationFormat>On-screen Show (4:3)</PresentationFormat>
  <Paragraphs>350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Arial</vt:lpstr>
      <vt:lpstr>Calibri</vt:lpstr>
      <vt:lpstr>Corbel</vt:lpstr>
      <vt:lpstr>Courier New</vt:lpstr>
      <vt:lpstr>Lucida Handwriting</vt:lpstr>
      <vt:lpstr>Tahoma</vt:lpstr>
      <vt:lpstr>Wingdings</vt:lpstr>
      <vt:lpstr>Wingdings 2</vt:lpstr>
      <vt:lpstr>Wingdings 3</vt:lpstr>
      <vt:lpstr>Module</vt:lpstr>
      <vt:lpstr>RAGAM MEDIA PEMBELAJARAN</vt:lpstr>
      <vt:lpstr>Kompetensi</vt:lpstr>
      <vt:lpstr>Proses Komunikasi dalam Pembelajaran</vt:lpstr>
      <vt:lpstr>Tujuan Pengunaan Media</vt:lpstr>
      <vt:lpstr>Tujuan Pengunaan Media</vt:lpstr>
      <vt:lpstr>Bentuk Media Pembelajaran</vt:lpstr>
      <vt:lpstr>PEMILIHAN MEDIA INSTRUKSIONAL</vt:lpstr>
      <vt:lpstr>Karakteristik audience</vt:lpstr>
      <vt:lpstr>Masing-masing individu berbeda</vt:lpstr>
      <vt:lpstr>KARAKTERISTIK JENIS MEDIA PEMBELAJARAN 1. Media Visual Diam</vt:lpstr>
      <vt:lpstr>KARAKTERISTIK JENIS MEDIA PEMBELAJARAN 1. Media Visual Diam</vt:lpstr>
      <vt:lpstr>KARAKTERISTIK JENIS MEDIA PEMBELAJARAN 1. Media Visual Diam</vt:lpstr>
      <vt:lpstr>KARAKTERISTIK JENIS MEDIA PEMBELAJARAN  2. Audiotape</vt:lpstr>
      <vt:lpstr>KARAKTERISTIK JENIS MEDIA PEMBELAJARAN  3. Video</vt:lpstr>
      <vt:lpstr>KARAKTERISTIK JENIS MEDIA PEMBELAJARAN  4. Computer Based Training (CBT)</vt:lpstr>
      <vt:lpstr>KARAKTERISTIK JENIS MEDIA PEMBELAJARAN  5. Web Based Training (WBT)</vt:lpstr>
      <vt:lpstr>Komputer multimedia</vt:lpstr>
      <vt:lpstr>Manfaat Media Pembelajaran</vt:lpstr>
      <vt:lpstr>Pembelajaran Berbasis  Teknologi Informasi dan Komunikasi</vt:lpstr>
      <vt:lpstr>Perkembangan Media Pembelajaran</vt:lpstr>
      <vt:lpstr>Pemanfaatan Komputer dlm Pembelajaran</vt:lpstr>
      <vt:lpstr>E-Learning</vt:lpstr>
      <vt:lpstr>E-Learning</vt:lpstr>
      <vt:lpstr>Tradisional vs ELearning</vt:lpstr>
      <vt:lpstr>Internet-based teaching and learning</vt:lpstr>
      <vt:lpstr>Blended Learning</vt:lpstr>
      <vt:lpstr>Hasil Pembelajaran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Fitur E-learning – sample : moodle</vt:lpstr>
      <vt:lpstr>Bicara Dengan Bahasa Mereka </vt:lpstr>
      <vt:lpstr>Benefit - 1</vt:lpstr>
      <vt:lpstr>Benefit - 2</vt:lpstr>
      <vt:lpstr>Benefit - 3</vt:lpstr>
      <vt:lpstr>MULTIMEDIA</vt:lpstr>
      <vt:lpstr>Era sekarang</vt:lpstr>
      <vt:lpstr>Mengapa Multimedia ?</vt:lpstr>
      <vt:lpstr>Interactive Multimedia Instructional (IMI)</vt:lpstr>
      <vt:lpstr>Interactive Multimedia Instructional (IMI)</vt:lpstr>
      <vt:lpstr>Software</vt:lpstr>
      <vt:lpstr>Tips Pengembangan Multimedia ala Romi Satrio W</vt:lpstr>
      <vt:lpstr>Tips Pengembangan Multimedia ala Romi Satrio W</vt:lpstr>
      <vt:lpstr>Tips Pengembangan Multimedia ala Romi Satrio W</vt:lpstr>
      <vt:lpstr>Tips Pengembangan Multimedia ala Romi Satrio W</vt:lpstr>
      <vt:lpstr>Tips Pengembangan Multimedia ala Romi Satrio W</vt:lpstr>
      <vt:lpstr>Sample</vt:lpstr>
      <vt:lpstr>Terima Kasih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RAGAM MEDIA PEMBELAJARAN</dc:title>
  <dc:creator>Toshiba</dc:creator>
  <cp:lastModifiedBy>Adhi Susilo, S.Pt., M.Biotech.St., PhD</cp:lastModifiedBy>
  <cp:revision>41</cp:revision>
  <dcterms:created xsi:type="dcterms:W3CDTF">2011-05-08T12:32:26Z</dcterms:created>
  <dcterms:modified xsi:type="dcterms:W3CDTF">2020-08-18T04:38:46Z</dcterms:modified>
</cp:coreProperties>
</file>