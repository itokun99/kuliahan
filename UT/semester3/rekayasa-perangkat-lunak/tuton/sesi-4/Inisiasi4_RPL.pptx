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71" r:id="rId4"/>
    <p:sldId id="272" r:id="rId5"/>
    <p:sldId id="279" r:id="rId6"/>
    <p:sldId id="273" r:id="rId7"/>
    <p:sldId id="274" r:id="rId8"/>
    <p:sldId id="275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30" autoAdjust="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 dirty="0"/>
              <a:t>MATERI PENGAYAAAN </a:t>
            </a:r>
          </a:p>
          <a:p>
            <a:pPr algn="ctr">
              <a:buNone/>
            </a:pPr>
            <a:r>
              <a:rPr lang="id-ID" sz="2400" b="1" dirty="0"/>
              <a:t>MSIM4303 REKAYASA PERANGAKAT LUNAK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-183886" y="3059668"/>
            <a:ext cx="12410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SESI 4 </a:t>
            </a:r>
          </a:p>
          <a:p>
            <a:pPr algn="ctr">
              <a:spcBef>
                <a:spcPct val="0"/>
              </a:spcBef>
              <a:buNone/>
            </a:pPr>
            <a:r>
              <a:rPr lang="en-US" sz="4000" dirty="0" err="1"/>
              <a:t>Rekayasa</a:t>
            </a:r>
            <a:r>
              <a:rPr lang="en-US" sz="4000" dirty="0"/>
              <a:t> </a:t>
            </a:r>
            <a:r>
              <a:rPr lang="en-US" sz="4000" dirty="0" err="1"/>
              <a:t>Perangkat</a:t>
            </a:r>
            <a:r>
              <a:rPr lang="en-US" sz="4000" dirty="0"/>
              <a:t> </a:t>
            </a:r>
            <a:r>
              <a:rPr lang="en-US" sz="4000" dirty="0" err="1"/>
              <a:t>Lunak</a:t>
            </a:r>
            <a:r>
              <a:rPr lang="en-US" sz="4000" dirty="0"/>
              <a:t> </a:t>
            </a:r>
            <a:r>
              <a:rPr lang="en-US" sz="4000" dirty="0" err="1"/>
              <a:t>untuk</a:t>
            </a:r>
            <a:r>
              <a:rPr lang="en-US" sz="4000" dirty="0"/>
              <a:t> </a:t>
            </a:r>
            <a:r>
              <a:rPr lang="en-US" sz="4000" dirty="0" err="1"/>
              <a:t>Pemrograman</a:t>
            </a:r>
            <a:r>
              <a:rPr lang="en-US" sz="4000" dirty="0"/>
              <a:t> </a:t>
            </a:r>
            <a:r>
              <a:rPr lang="en-US" sz="4000" dirty="0" err="1"/>
              <a:t>Terstruktur</a:t>
            </a:r>
            <a:endParaRPr lang="id-ID" altLang="en-US" sz="5400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id-ID" dirty="0"/>
              <a:t>Rekayasa Perangkat Lunak untuk Pemrograman Terstruktur</a:t>
            </a:r>
            <a:br>
              <a:rPr lang="id-ID" dirty="0"/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Pemrograman terstruktur adalah konsep atau paradigma atau sudut pandang pemrograman yang membagi-bagi program berdasarkan fungsi-fungsi atau prosedur-prosedur yang dibutuhkan program komputer. Modul-modul (pembagian program) biasanya dibuat dengan mengelompokkan fungsi-fungsi dan prosedur-prosedur yang diperlukan sebuah proses tertentu. </a:t>
            </a:r>
          </a:p>
        </p:txBody>
      </p:sp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DFD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Data </a:t>
            </a:r>
            <a:r>
              <a:rPr lang="id-ID" dirty="0" err="1"/>
              <a:t>Flow</a:t>
            </a:r>
            <a:r>
              <a:rPr lang="id-ID" dirty="0"/>
              <a:t> Diagram (DFD) atau dalam bahasa Indonesia menjadi Diagram Alir Data (DAD) adalah representasi grafik yang menggambarkan aliran informasi dan transformasi informasi yang diaplikasikan sebagai data yang mengalir dari masukan (</a:t>
            </a:r>
            <a:r>
              <a:rPr lang="id-ID" dirty="0" err="1"/>
              <a:t>input</a:t>
            </a:r>
            <a:r>
              <a:rPr lang="id-ID" dirty="0"/>
              <a:t>) dan keluaran (</a:t>
            </a:r>
            <a:r>
              <a:rPr lang="id-ID" dirty="0" err="1"/>
              <a:t>output</a:t>
            </a:r>
            <a:r>
              <a:rPr lang="id-ID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449141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>
      <p:transition spd="slow">
        <p:blinds dir="vert"/>
        <p:sndAc>
          <p:stSnd>
            <p:snd r:embed="rId2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Notasi-notasi pada DFD 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2022DAC-8B8F-415F-AC37-E59309EEB2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0431791"/>
              </p:ext>
            </p:extLst>
          </p:nvPr>
        </p:nvGraphicFramePr>
        <p:xfrm>
          <a:off x="622299" y="1325217"/>
          <a:ext cx="5076135" cy="5167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4759">
                  <a:extLst>
                    <a:ext uri="{9D8B030D-6E8A-4147-A177-3AD203B41FA5}">
                      <a16:colId xmlns:a16="http://schemas.microsoft.com/office/drawing/2014/main" val="2824596763"/>
                    </a:ext>
                  </a:extLst>
                </a:gridCol>
                <a:gridCol w="2541376">
                  <a:extLst>
                    <a:ext uri="{9D8B030D-6E8A-4147-A177-3AD203B41FA5}">
                      <a16:colId xmlns:a16="http://schemas.microsoft.com/office/drawing/2014/main" val="4063889559"/>
                    </a:ext>
                  </a:extLst>
                </a:gridCol>
              </a:tblGrid>
              <a:tr h="51676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200">
                          <a:effectLst/>
                        </a:rPr>
                        <a:t> </a:t>
                      </a:r>
                      <a:endParaRPr lang="en-US" sz="18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200">
                          <a:effectLst/>
                        </a:rPr>
                        <a:t> </a:t>
                      </a:r>
                      <a:endParaRPr lang="en-US" sz="18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2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600" dirty="0">
                          <a:effectLst/>
                        </a:rPr>
                        <a:t>proses atau fungsi atau prosedur; pada pemodelan perangkat lunak yang akan diimplementasikan dengan pemrograman terstruktur, maka pemodelan notasi inilah yang harusnya menjadi fungsi atau prosedur di dalam kode program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6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600" dirty="0">
                          <a:effectLst/>
                        </a:rPr>
                        <a:t>catatan:</a:t>
                      </a:r>
                      <a:endParaRPr lang="en-US" sz="24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600" dirty="0">
                          <a:effectLst/>
                        </a:rPr>
                        <a:t>nama yang diberikan pada sebuah proses biasanya berupa kata kerja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739002381"/>
                  </a:ext>
                </a:extLst>
              </a:tr>
            </a:tbl>
          </a:graphicData>
        </a:graphic>
      </p:graphicFrame>
      <p:sp>
        <p:nvSpPr>
          <p:cNvPr id="11" name="Oval 6">
            <a:extLst>
              <a:ext uri="{FF2B5EF4-FFF2-40B4-BE49-F238E27FC236}">
                <a16:creationId xmlns:a16="http://schemas.microsoft.com/office/drawing/2014/main" id="{50AF48CB-32EE-4D19-990D-6576A779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2858877"/>
            <a:ext cx="1994592" cy="1914942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B443E1A-A250-48E3-AD19-46292C434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246667"/>
              </p:ext>
            </p:extLst>
          </p:nvPr>
        </p:nvGraphicFramePr>
        <p:xfrm>
          <a:off x="6096000" y="1325218"/>
          <a:ext cx="5257799" cy="5167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5473">
                  <a:extLst>
                    <a:ext uri="{9D8B030D-6E8A-4147-A177-3AD203B41FA5}">
                      <a16:colId xmlns:a16="http://schemas.microsoft.com/office/drawing/2014/main" val="699784041"/>
                    </a:ext>
                  </a:extLst>
                </a:gridCol>
                <a:gridCol w="2632326">
                  <a:extLst>
                    <a:ext uri="{9D8B030D-6E8A-4147-A177-3AD203B41FA5}">
                      <a16:colId xmlns:a16="http://schemas.microsoft.com/office/drawing/2014/main" val="2810245528"/>
                    </a:ext>
                  </a:extLst>
                </a:gridCol>
              </a:tblGrid>
              <a:tr h="516765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000" dirty="0">
                          <a:effectLst/>
                          <a:latin typeface="+mn-lt"/>
                        </a:rPr>
                        <a:t> 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br>
                        <a:rPr lang="en-US" sz="1200" dirty="0">
                          <a:effectLst/>
                          <a:latin typeface="+mn-lt"/>
                        </a:rPr>
                      </a:br>
                      <a:endParaRPr lang="en-US" sz="1200" dirty="0">
                        <a:effectLst/>
                        <a:latin typeface="+mn-lt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000" dirty="0">
                          <a:effectLst/>
                          <a:latin typeface="+mn-lt"/>
                        </a:rPr>
                        <a:t> 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400" dirty="0" err="1">
                          <a:effectLst/>
                          <a:latin typeface="+mn-lt"/>
                        </a:rPr>
                        <a:t>file</a:t>
                      </a:r>
                      <a:r>
                        <a:rPr lang="id-ID" sz="1400" dirty="0">
                          <a:effectLst/>
                          <a:latin typeface="+mn-lt"/>
                        </a:rPr>
                        <a:t>  atau </a:t>
                      </a:r>
                      <a:r>
                        <a:rPr lang="id-ID" sz="1400" dirty="0" err="1">
                          <a:effectLst/>
                          <a:latin typeface="+mn-lt"/>
                        </a:rPr>
                        <a:t>basisdata</a:t>
                      </a:r>
                      <a:r>
                        <a:rPr lang="id-ID" sz="1400" dirty="0">
                          <a:effectLst/>
                          <a:latin typeface="+mn-lt"/>
                        </a:rPr>
                        <a:t> atau penyimpanan (</a:t>
                      </a:r>
                      <a:r>
                        <a:rPr lang="id-ID" sz="1400" dirty="0" err="1">
                          <a:effectLst/>
                          <a:latin typeface="+mn-lt"/>
                        </a:rPr>
                        <a:t>storage</a:t>
                      </a:r>
                      <a:r>
                        <a:rPr lang="id-ID" sz="1400" dirty="0">
                          <a:effectLst/>
                          <a:latin typeface="+mn-lt"/>
                        </a:rPr>
                        <a:t>); pada pemodelan perangkat lunak yang akan diimplementasikan dengan pemrograman terstruktur, maka pemodelan notasi inilah yang harusnya dibuat menjadi tabel-tabel basis data yang dibutuhkan, tabel-tabel ini juga harus sesuai dengan perancangan tabel-tabel pada basis data (</a:t>
                      </a:r>
                      <a:r>
                        <a:rPr lang="id-ID" sz="1400" dirty="0" err="1">
                          <a:effectLst/>
                          <a:latin typeface="+mn-lt"/>
                        </a:rPr>
                        <a:t>Entity</a:t>
                      </a:r>
                      <a:r>
                        <a:rPr lang="id-ID" sz="1400" dirty="0">
                          <a:effectLst/>
                          <a:latin typeface="+mn-lt"/>
                        </a:rPr>
                        <a:t> </a:t>
                      </a:r>
                      <a:r>
                        <a:rPr lang="id-ID" sz="1400" dirty="0" err="1">
                          <a:effectLst/>
                          <a:latin typeface="+mn-lt"/>
                        </a:rPr>
                        <a:t>Relationship</a:t>
                      </a:r>
                      <a:r>
                        <a:rPr lang="id-ID" sz="1400" dirty="0">
                          <a:effectLst/>
                          <a:latin typeface="+mn-lt"/>
                        </a:rPr>
                        <a:t> Diagram (ERD), </a:t>
                      </a:r>
                      <a:r>
                        <a:rPr lang="id-ID" sz="1400" dirty="0" err="1">
                          <a:effectLst/>
                          <a:latin typeface="+mn-lt"/>
                        </a:rPr>
                        <a:t>Conceptual</a:t>
                      </a:r>
                      <a:r>
                        <a:rPr lang="id-ID" sz="1400" dirty="0">
                          <a:effectLst/>
                          <a:latin typeface="+mn-lt"/>
                        </a:rPr>
                        <a:t> Data Model (CDM), </a:t>
                      </a:r>
                      <a:r>
                        <a:rPr lang="id-ID" sz="1400" dirty="0" err="1">
                          <a:effectLst/>
                          <a:latin typeface="+mn-lt"/>
                        </a:rPr>
                        <a:t>Physical</a:t>
                      </a:r>
                      <a:r>
                        <a:rPr lang="id-ID" sz="1400" dirty="0">
                          <a:effectLst/>
                          <a:latin typeface="+mn-lt"/>
                        </a:rPr>
                        <a:t> Data Model (PDM))</a:t>
                      </a:r>
                      <a:endParaRPr lang="en-US" sz="2000" dirty="0">
                        <a:effectLst/>
                        <a:latin typeface="+mn-lt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400" dirty="0">
                          <a:effectLst/>
                          <a:latin typeface="+mn-lt"/>
                        </a:rPr>
                        <a:t> </a:t>
                      </a:r>
                      <a:endParaRPr lang="en-US" sz="2000" dirty="0">
                        <a:effectLst/>
                        <a:latin typeface="+mn-lt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400" dirty="0">
                          <a:effectLst/>
                          <a:latin typeface="+mn-lt"/>
                        </a:rPr>
                        <a:t>catatan:</a:t>
                      </a:r>
                      <a:endParaRPr lang="en-US" sz="2000" dirty="0">
                        <a:effectLst/>
                        <a:latin typeface="+mn-lt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400" dirty="0">
                          <a:effectLst/>
                          <a:latin typeface="+mn-lt"/>
                        </a:rPr>
                        <a:t>nama yang diberikan pada sebuah penyimpanan biasanya kata benda</a:t>
                      </a:r>
                      <a:endParaRPr lang="en-US" sz="2000" dirty="0">
                        <a:effectLst/>
                        <a:latin typeface="+mn-lt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 </a:t>
                      </a:r>
                      <a:endParaRPr lang="en-US" sz="2000" dirty="0">
                        <a:effectLst/>
                        <a:latin typeface="+mn-lt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en-US" sz="1000" dirty="0">
                          <a:effectLst/>
                          <a:latin typeface="+mn-lt"/>
                        </a:rPr>
                        <a:t> 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en-US" sz="1000" dirty="0">
                          <a:effectLst/>
                          <a:latin typeface="+mn-lt"/>
                        </a:rPr>
                        <a:t> </a:t>
                      </a:r>
                      <a:endParaRPr lang="en-US" sz="12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828139769"/>
                  </a:ext>
                </a:extLst>
              </a:tr>
            </a:tbl>
          </a:graphicData>
        </a:graphic>
      </p:graphicFrame>
      <p:pic>
        <p:nvPicPr>
          <p:cNvPr id="2055" name="Picture 70">
            <a:extLst>
              <a:ext uri="{FF2B5EF4-FFF2-40B4-BE49-F238E27FC236}">
                <a16:creationId xmlns:a16="http://schemas.microsoft.com/office/drawing/2014/main" id="{808CC058-3B1A-4FAF-9785-62812A04A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735" y="3410500"/>
            <a:ext cx="2089618" cy="81169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361358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Notasi-notasi pada DFD 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2022DAC-8B8F-415F-AC37-E59309EEB2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432339"/>
              </p:ext>
            </p:extLst>
          </p:nvPr>
        </p:nvGraphicFramePr>
        <p:xfrm>
          <a:off x="622299" y="1325217"/>
          <a:ext cx="5076135" cy="5274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4759">
                  <a:extLst>
                    <a:ext uri="{9D8B030D-6E8A-4147-A177-3AD203B41FA5}">
                      <a16:colId xmlns:a16="http://schemas.microsoft.com/office/drawing/2014/main" val="2824596763"/>
                    </a:ext>
                  </a:extLst>
                </a:gridCol>
                <a:gridCol w="2541376">
                  <a:extLst>
                    <a:ext uri="{9D8B030D-6E8A-4147-A177-3AD203B41FA5}">
                      <a16:colId xmlns:a16="http://schemas.microsoft.com/office/drawing/2014/main" val="4063889559"/>
                    </a:ext>
                  </a:extLst>
                </a:gridCol>
              </a:tblGrid>
              <a:tr h="51676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br>
                        <a:rPr lang="en-US" sz="1000" dirty="0">
                          <a:effectLst/>
                          <a:latin typeface="+mj-lt"/>
                        </a:rPr>
                      </a:b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entitas luar </a:t>
                      </a:r>
                      <a:r>
                        <a:rPr lang="id-ID" sz="18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800" i="1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external</a:t>
                      </a:r>
                      <a:r>
                        <a:rPr lang="id-ID" sz="18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i="1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entity</a:t>
                      </a:r>
                      <a:r>
                        <a:rPr lang="id-ID" sz="18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)</a:t>
                      </a: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atau masukan </a:t>
                      </a:r>
                      <a:r>
                        <a:rPr lang="id-ID" sz="18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800" i="1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input</a:t>
                      </a:r>
                      <a:r>
                        <a:rPr lang="id-ID" sz="18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) </a:t>
                      </a: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atau keluaran (</a:t>
                      </a:r>
                      <a:r>
                        <a:rPr lang="id-ID" sz="1800" i="1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output</a:t>
                      </a: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)</a:t>
                      </a:r>
                      <a:r>
                        <a:rPr lang="id-ID" sz="18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atau orang yang memakai/berinteraksi dengan perangkat lunak yang dimodelkan atau sistem lain yang terkait dengan aliran data dari sistem yang dimodelkan</a:t>
                      </a:r>
                      <a:endParaRPr lang="en-US" sz="2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catatan:</a:t>
                      </a:r>
                      <a:endParaRPr lang="en-US" sz="2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nama  yang digunakan pada masukan (</a:t>
                      </a:r>
                      <a:r>
                        <a:rPr lang="id-ID" sz="1800" i="1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input</a:t>
                      </a: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) atau keluaran </a:t>
                      </a:r>
                      <a:r>
                        <a:rPr lang="id-ID" sz="18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800" i="1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output</a:t>
                      </a:r>
                      <a:r>
                        <a:rPr lang="id-ID" sz="18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) </a:t>
                      </a:r>
                      <a:r>
                        <a:rPr lang="id-ID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biasanya berupa kata benda</a:t>
                      </a:r>
                      <a:endParaRPr lang="en-US" sz="2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73900238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B443E1A-A250-48E3-AD19-46292C434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837269"/>
              </p:ext>
            </p:extLst>
          </p:nvPr>
        </p:nvGraphicFramePr>
        <p:xfrm>
          <a:off x="6096000" y="1325218"/>
          <a:ext cx="5257799" cy="5167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5473">
                  <a:extLst>
                    <a:ext uri="{9D8B030D-6E8A-4147-A177-3AD203B41FA5}">
                      <a16:colId xmlns:a16="http://schemas.microsoft.com/office/drawing/2014/main" val="699784041"/>
                    </a:ext>
                  </a:extLst>
                </a:gridCol>
                <a:gridCol w="2632326">
                  <a:extLst>
                    <a:ext uri="{9D8B030D-6E8A-4147-A177-3AD203B41FA5}">
                      <a16:colId xmlns:a16="http://schemas.microsoft.com/office/drawing/2014/main" val="2810245528"/>
                    </a:ext>
                  </a:extLst>
                </a:gridCol>
              </a:tblGrid>
              <a:tr h="516765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br>
                        <a:rPr lang="en-US" sz="12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</a:br>
                      <a:endParaRPr lang="en-US" sz="1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aliran data; merupakan data yang dikirim antar proses, dari penyimpanan ke proses, atau dari proses ke masukan </a:t>
                      </a:r>
                      <a:r>
                        <a:rPr lang="id-ID" sz="14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400" i="1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input</a:t>
                      </a:r>
                      <a:r>
                        <a:rPr lang="id-ID" sz="14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) </a:t>
                      </a:r>
                      <a:r>
                        <a:rPr lang="id-ID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atau keluaran </a:t>
                      </a:r>
                      <a:r>
                        <a:rPr lang="id-ID" sz="14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id-ID" sz="1400" i="1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output</a:t>
                      </a:r>
                      <a:r>
                        <a:rPr lang="id-ID" sz="14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)</a:t>
                      </a:r>
                      <a:endParaRPr lang="en-US" sz="20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catatan:</a:t>
                      </a:r>
                      <a:endParaRPr lang="en-US" sz="20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11700" algn="r"/>
                        </a:tabLst>
                      </a:pPr>
                      <a:r>
                        <a:rPr lang="id-ID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nama  yang digunakan pada  aliran data</a:t>
                      </a:r>
                      <a:r>
                        <a:rPr lang="id-ID" sz="1400" i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biasanya berupa kata benda, dapat diawali dengan kata data misalnya “data siswa” atau tanpa kata data misalnya “siswa”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karena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seperti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diketahui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bahwa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simbol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ini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merupakan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representasi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data,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jadi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disebutkan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atau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tidak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dalam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penamaan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, yang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terpenting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adalah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makna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dari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simbol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ini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adalah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sebagai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aliran</a:t>
                      </a:r>
                      <a:r>
                        <a:rPr lang="en-US" sz="14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data.</a:t>
                      </a:r>
                      <a:endParaRPr lang="en-US" sz="20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828139769"/>
                  </a:ext>
                </a:extLst>
              </a:tr>
            </a:tbl>
          </a:graphicData>
        </a:graphic>
      </p:graphicFrame>
      <p:sp>
        <p:nvSpPr>
          <p:cNvPr id="3" name="Rectangle 7">
            <a:extLst>
              <a:ext uri="{FF2B5EF4-FFF2-40B4-BE49-F238E27FC236}">
                <a16:creationId xmlns:a16="http://schemas.microsoft.com/office/drawing/2014/main" id="{055E8F77-ADCA-4EA1-9D22-0329E492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200" y="3160299"/>
            <a:ext cx="1680527" cy="106189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8" name="Picture 71">
            <a:extLst>
              <a:ext uri="{FF2B5EF4-FFF2-40B4-BE49-F238E27FC236}">
                <a16:creationId xmlns:a16="http://schemas.microsoft.com/office/drawing/2014/main" id="{87D80A1A-124B-4C08-ADDF-5F75F3522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887" y="3269301"/>
            <a:ext cx="1900591" cy="70635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5228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>
      <p:transition spd="slow">
        <p:blinds dir="vert"/>
        <p:sndAc>
          <p:stSnd>
            <p:snd r:embed="rId2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id-ID" dirty="0"/>
              <a:t>tahapan-tahapan perancangan dengan menggunakan DFD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d-ID" dirty="0"/>
              <a:t>1.Membuat DFD Level 0 atau sering disebut juga </a:t>
            </a:r>
            <a:r>
              <a:rPr lang="id-ID" dirty="0" err="1"/>
              <a:t>Context</a:t>
            </a:r>
            <a:r>
              <a:rPr lang="id-ID" dirty="0"/>
              <a:t> Diagram</a:t>
            </a:r>
          </a:p>
          <a:p>
            <a:r>
              <a:rPr lang="id-ID" dirty="0"/>
              <a:t>DFD Level 0 menggambarkan sistem yang akan dibuat sebagai suatu entitas tunggal yang </a:t>
            </a:r>
            <a:r>
              <a:rPr lang="id-ID" dirty="0" err="1"/>
              <a:t>beriteraksi</a:t>
            </a:r>
            <a:r>
              <a:rPr lang="id-ID" dirty="0"/>
              <a:t> dengan orang maupun sistem lain. DFD Level 0 digunakan untuk menggambarkan interaksi antara sistem yang akan dikembangkan dengan entitas luar.</a:t>
            </a:r>
          </a:p>
          <a:p>
            <a:r>
              <a:rPr lang="id-ID" dirty="0"/>
              <a:t>2.Membuat DFD Level 1</a:t>
            </a:r>
          </a:p>
          <a:p>
            <a:r>
              <a:rPr lang="id-ID" dirty="0"/>
              <a:t>DFD Level 1 digunakan untuk menggambarkan modul-modul yang ada dalam sistem yang akan dikembangkan. DFD Level 1 merupakan hasil </a:t>
            </a:r>
            <a:r>
              <a:rPr lang="id-ID" dirty="0" err="1"/>
              <a:t>breakdown</a:t>
            </a:r>
            <a:r>
              <a:rPr lang="id-ID" dirty="0"/>
              <a:t>/pemecahan DFD Level 0 yang sebelumnya sudah dibuat.</a:t>
            </a:r>
          </a:p>
          <a:p>
            <a:r>
              <a:rPr lang="id-ID" dirty="0"/>
              <a:t>3.Membuat DFD Level 2 </a:t>
            </a:r>
          </a:p>
          <a:p>
            <a:r>
              <a:rPr lang="id-ID" dirty="0"/>
              <a:t>Modul-modul pada DFD Level 1 dapat dipecah/</a:t>
            </a:r>
            <a:r>
              <a:rPr lang="id-ID" dirty="0" err="1"/>
              <a:t>breakdown</a:t>
            </a:r>
            <a:r>
              <a:rPr lang="id-ID" dirty="0"/>
              <a:t> menjadi DFD Level 2. Modul mana saja yang harus dipecah/</a:t>
            </a:r>
            <a:r>
              <a:rPr lang="id-ID" dirty="0" err="1"/>
              <a:t>breakdown</a:t>
            </a:r>
            <a:r>
              <a:rPr lang="id-ID" dirty="0"/>
              <a:t> lebih detail tergantung pada tingkat kedetailan modul tersebut. Apabila modul tersebut sudah cukup detail dan rinci maka modul tersebut sudah tidak perlu untuk dipecah/</a:t>
            </a:r>
            <a:r>
              <a:rPr lang="id-ID" dirty="0" err="1"/>
              <a:t>breakdown</a:t>
            </a:r>
            <a:r>
              <a:rPr lang="id-ID" dirty="0"/>
              <a:t> lagi. Untuk sebuah sistem, jumlah DFD Level 2 sama dengan jumlah modul pada DFD Level 1 yang dipecah/</a:t>
            </a:r>
            <a:r>
              <a:rPr lang="id-ID" dirty="0" err="1"/>
              <a:t>breakdown</a:t>
            </a:r>
            <a:r>
              <a:rPr lang="id-ID" dirty="0"/>
              <a:t>.</a:t>
            </a:r>
          </a:p>
          <a:p>
            <a:r>
              <a:rPr lang="id-ID" dirty="0"/>
              <a:t>4.Membuat DFD Level 3 dan seterusnya</a:t>
            </a:r>
          </a:p>
          <a:p>
            <a:r>
              <a:rPr lang="id-ID" dirty="0"/>
              <a:t>DFD Level 3, 4, 5, dan seterusnya merupakan </a:t>
            </a:r>
            <a:r>
              <a:rPr lang="id-ID" dirty="0" err="1"/>
              <a:t>breakdown</a:t>
            </a:r>
            <a:r>
              <a:rPr lang="id-ID" dirty="0"/>
              <a:t> dari modul pada DFD Level </a:t>
            </a:r>
            <a:r>
              <a:rPr lang="id-ID" dirty="0" err="1"/>
              <a:t>di-atasnya</a:t>
            </a:r>
            <a:r>
              <a:rPr lang="id-ID" dirty="0"/>
              <a:t>. </a:t>
            </a:r>
            <a:r>
              <a:rPr lang="id-ID" dirty="0" err="1"/>
              <a:t>Breakdown</a:t>
            </a:r>
            <a:r>
              <a:rPr lang="id-ID" dirty="0"/>
              <a:t> pada level 3, 4, 5, dan seterusnya aturannya sama persis dengan DFD Level 1 atau Level 2.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30488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Kamus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Kamus data (data </a:t>
            </a:r>
            <a:r>
              <a:rPr lang="id-ID" dirty="0" err="1"/>
              <a:t>dictionary</a:t>
            </a:r>
            <a:r>
              <a:rPr lang="id-ID" dirty="0"/>
              <a:t>) dipergunakan untuk memperjelas aliran data yang digambarkan pada DFD. Kamus data adalah kumpulan daftar elemen data yang mengalir pada sistem perangkat lunak sehingga masukan (</a:t>
            </a:r>
            <a:r>
              <a:rPr lang="id-ID" dirty="0" err="1"/>
              <a:t>input</a:t>
            </a:r>
            <a:r>
              <a:rPr lang="id-ID" dirty="0"/>
              <a:t>) dan keluaran (</a:t>
            </a:r>
            <a:r>
              <a:rPr lang="id-ID" dirty="0" err="1"/>
              <a:t>output</a:t>
            </a:r>
            <a:r>
              <a:rPr lang="id-ID" dirty="0"/>
              <a:t>) dapat dipahami secara umum (memiliki standar cara penulisan). Kamus data dalam implementasi program dapat menjadi parameter masukan atau keluaran dari sebuah fungsi atau prosedur</a:t>
            </a:r>
          </a:p>
        </p:txBody>
      </p:sp>
    </p:spTree>
    <p:extLst>
      <p:ext uri="{BB962C8B-B14F-4D97-AF65-F5344CB8AC3E}">
        <p14:creationId xmlns:p14="http://schemas.microsoft.com/office/powerpoint/2010/main" val="38080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>
      <p:transition spd="slow">
        <p:blinds dir="vert"/>
        <p:sndAc>
          <p:stSnd>
            <p:snd r:embed="rId2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Simbol pada Kamus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E09916-FA2F-4B16-BB6B-46762E27AB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48810" y="3192524"/>
          <a:ext cx="3294380" cy="16379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525">
                  <a:extLst>
                    <a:ext uri="{9D8B030D-6E8A-4147-A177-3AD203B41FA5}">
                      <a16:colId xmlns:a16="http://schemas.microsoft.com/office/drawing/2014/main" val="2046687020"/>
                    </a:ext>
                  </a:extLst>
                </a:gridCol>
                <a:gridCol w="2141855">
                  <a:extLst>
                    <a:ext uri="{9D8B030D-6E8A-4147-A177-3AD203B41FA5}">
                      <a16:colId xmlns:a16="http://schemas.microsoft.com/office/drawing/2014/main" val="1705454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Simbol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Keterangan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3730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=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disusun atau terdiri dari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628493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+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dan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505228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[|]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baik ...atau...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617721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{ }</a:t>
                      </a:r>
                      <a:r>
                        <a:rPr lang="id-ID" sz="1000" baseline="30000">
                          <a:effectLst/>
                        </a:rPr>
                        <a:t>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n kali diulang/ bernilai banyak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42068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( 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data opsional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339651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*...*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batas komentar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83550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751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>
      <p:transition spd="slow">
        <p:blinds dir="vert"/>
        <p:sndAc>
          <p:stSnd>
            <p:snd r:embed="rId2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2988</TotalTime>
  <Words>725</Words>
  <Application>Microsoft Office PowerPoint</Application>
  <PresentationFormat>Widescreen</PresentationFormat>
  <Paragraphs>73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Britannic Bold</vt:lpstr>
      <vt:lpstr>Calibri</vt:lpstr>
      <vt:lpstr>Calibri Light</vt:lpstr>
      <vt:lpstr>Century Gothic</vt:lpstr>
      <vt:lpstr>Times New Roman</vt:lpstr>
      <vt:lpstr>Office Theme</vt:lpstr>
      <vt:lpstr>PowerPoint Presentation</vt:lpstr>
      <vt:lpstr>Rekayasa Perangkat Lunak untuk Pemrograman Terstruktur </vt:lpstr>
      <vt:lpstr>DFD</vt:lpstr>
      <vt:lpstr>Notasi-notasi pada DFD </vt:lpstr>
      <vt:lpstr>Notasi-notasi pada DFD </vt:lpstr>
      <vt:lpstr>tahapan-tahapan perancangan dengan menggunakan DFD</vt:lpstr>
      <vt:lpstr>Kamus Data</vt:lpstr>
      <vt:lpstr>Simbol pada Kamus Data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193</cp:revision>
  <dcterms:created xsi:type="dcterms:W3CDTF">2018-01-15T03:36:45Z</dcterms:created>
  <dcterms:modified xsi:type="dcterms:W3CDTF">2021-08-12T04:34:32Z</dcterms:modified>
</cp:coreProperties>
</file>