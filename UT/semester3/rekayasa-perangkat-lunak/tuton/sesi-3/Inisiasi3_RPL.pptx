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9" r:id="rId3"/>
    <p:sldId id="271" r:id="rId4"/>
    <p:sldId id="272" r:id="rId5"/>
    <p:sldId id="273" r:id="rId6"/>
    <p:sldId id="274" r:id="rId7"/>
    <p:sldId id="275" r:id="rId8"/>
    <p:sldId id="276" r:id="rId9"/>
    <p:sldId id="277" r:id="rId10"/>
    <p:sldId id="278" r:id="rId11"/>
    <p:sldId id="279" r:id="rId12"/>
    <p:sldId id="280" r:id="rId13"/>
    <p:sldId id="281" r:id="rId14"/>
    <p:sldId id="282"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AB7D1E-064E-D643-A723-EC353D1A468B}" v="2" dt="2022-08-19T09:23:17.9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96327" autoAdjust="0"/>
  </p:normalViewPr>
  <p:slideViewPr>
    <p:cSldViewPr snapToGrid="0">
      <p:cViewPr varScale="1">
        <p:scale>
          <a:sx n="128" d="100"/>
          <a:sy n="128" d="100"/>
        </p:scale>
        <p:origin x="1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tria Amastini" userId="ac40767d-9ce2-43f4-92f7-32d736f703d6" providerId="ADAL" clId="{D6AB7D1E-064E-D643-A723-EC353D1A468B}"/>
    <pc:docChg chg="modSld">
      <pc:chgData name="Fitria Amastini" userId="ac40767d-9ce2-43f4-92f7-32d736f703d6" providerId="ADAL" clId="{D6AB7D1E-064E-D643-A723-EC353D1A468B}" dt="2022-08-19T09:23:17.955" v="1" actId="20577"/>
      <pc:docMkLst>
        <pc:docMk/>
      </pc:docMkLst>
      <pc:sldChg chg="modSp">
        <pc:chgData name="Fitria Amastini" userId="ac40767d-9ce2-43f4-92f7-32d736f703d6" providerId="ADAL" clId="{D6AB7D1E-064E-D643-A723-EC353D1A468B}" dt="2022-08-19T09:23:17.955" v="1" actId="20577"/>
        <pc:sldMkLst>
          <pc:docMk/>
          <pc:sldMk cId="2097649925" sldId="257"/>
        </pc:sldMkLst>
        <pc:spChg chg="mod">
          <ac:chgData name="Fitria Amastini" userId="ac40767d-9ce2-43f4-92f7-32d736f703d6" providerId="ADAL" clId="{D6AB7D1E-064E-D643-A723-EC353D1A468B}" dt="2022-08-19T09:23:17.955" v="1" actId="20577"/>
          <ac:spMkLst>
            <pc:docMk/>
            <pc:sldMk cId="2097649925" sldId="257"/>
            <ac:spMk id="11" creationId="{2F5769DE-2A5D-4AD6-AA5B-A4CCB6BA41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8/19/22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8/19/22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8/19/22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8/19/22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8/19/22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8/19/22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8/19/22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8/19/22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8/19/22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8/19/22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dirty="0"/>
              <a:t>MATERI PENGAYAAAN </a:t>
            </a:r>
          </a:p>
          <a:p>
            <a:pPr algn="ctr">
              <a:buNone/>
            </a:pPr>
            <a:r>
              <a:rPr lang="id-ID" sz="2400" b="1" dirty="0"/>
              <a:t>MSIM4303 REKAYASA PERANGAKAT LUNAK</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1774567" y="3059668"/>
            <a:ext cx="8493159" cy="1323439"/>
          </a:xfrm>
          <a:prstGeom prst="rect">
            <a:avLst/>
          </a:prstGeom>
          <a:noFill/>
        </p:spPr>
        <p:txBody>
          <a:bodyPr wrap="none" rtlCol="0">
            <a:spAutoFit/>
          </a:bodyPr>
          <a:lstStyle/>
          <a:p>
            <a:pPr algn="ctr">
              <a:spcBef>
                <a:spcPct val="0"/>
              </a:spcBef>
              <a:buNone/>
            </a:pPr>
            <a:r>
              <a:rPr lang="id-ID" sz="4000"/>
              <a:t>SESI 3 </a:t>
            </a:r>
            <a:endParaRPr lang="id-ID" sz="4000" dirty="0"/>
          </a:p>
          <a:p>
            <a:pPr algn="ctr">
              <a:spcBef>
                <a:spcPct val="0"/>
              </a:spcBef>
              <a:buNone/>
            </a:pPr>
            <a:r>
              <a:rPr lang="en-US" sz="4000" dirty="0"/>
              <a:t>Software Development Life Cycle (SDLC)</a:t>
            </a:r>
            <a:endParaRPr lang="id-ID" altLang="en-US" sz="5400" dirty="0">
              <a:solidFill>
                <a:srgbClr val="FF0000"/>
              </a:solidFill>
              <a:latin typeface="Britannic Bold" panose="020B0903060703020204" pitchFamily="34" charset="0"/>
            </a:endParaRP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en-US" dirty="0"/>
              <a:t>Software Development Life Cycle (SDLC) </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SDLC atau </a:t>
            </a:r>
            <a:r>
              <a:rPr lang="id-ID" dirty="0" err="1"/>
              <a:t>Software</a:t>
            </a:r>
            <a:r>
              <a:rPr lang="id-ID" dirty="0"/>
              <a:t> Development Life </a:t>
            </a:r>
            <a:r>
              <a:rPr lang="id-ID" dirty="0" err="1"/>
              <a:t>Cycle</a:t>
            </a:r>
            <a:r>
              <a:rPr lang="id-ID" dirty="0"/>
              <a:t> atau sering disebut juga System Development Life </a:t>
            </a:r>
            <a:r>
              <a:rPr lang="id-ID" dirty="0" err="1"/>
              <a:t>Cycle</a:t>
            </a:r>
            <a:r>
              <a:rPr lang="id-ID" dirty="0"/>
              <a:t> atau disebut juga dengan siklus hidup pengembangan perangkat lunak adalah proses mengembangkan atau mengubah suatu sistem perangkat lunak </a:t>
            </a:r>
          </a:p>
        </p:txBody>
      </p:sp>
    </p:spTree>
    <p:extLst>
      <p:ext uri="{BB962C8B-B14F-4D97-AF65-F5344CB8AC3E}">
        <p14:creationId xmlns:p14="http://schemas.microsoft.com/office/powerpoint/2010/main" val="116944977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es-ES" dirty="0" err="1"/>
              <a:t>Tahapan-tahapan</a:t>
            </a:r>
            <a:r>
              <a:rPr lang="es-ES" dirty="0"/>
              <a:t> yang </a:t>
            </a:r>
            <a:r>
              <a:rPr lang="es-ES" dirty="0" err="1"/>
              <a:t>ada</a:t>
            </a:r>
            <a:r>
              <a:rPr lang="es-ES" dirty="0"/>
              <a:t> pada SDLC secara global </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20000"/>
          </a:bodyPr>
          <a:lstStyle/>
          <a:p>
            <a:r>
              <a:rPr lang="id-ID" dirty="0"/>
              <a:t>1.	Inisiasi (</a:t>
            </a:r>
            <a:r>
              <a:rPr lang="id-ID" dirty="0" err="1"/>
              <a:t>initiation</a:t>
            </a:r>
            <a:r>
              <a:rPr lang="id-ID" dirty="0"/>
              <a:t>) </a:t>
            </a:r>
          </a:p>
          <a:p>
            <a:r>
              <a:rPr lang="id-ID" dirty="0"/>
              <a:t>2.	Pengembangan konsep sistem (</a:t>
            </a:r>
            <a:r>
              <a:rPr lang="id-ID" dirty="0" err="1"/>
              <a:t>system</a:t>
            </a:r>
            <a:r>
              <a:rPr lang="id-ID" dirty="0"/>
              <a:t> </a:t>
            </a:r>
            <a:r>
              <a:rPr lang="id-ID" dirty="0" err="1"/>
              <a:t>concept</a:t>
            </a:r>
            <a:r>
              <a:rPr lang="id-ID" dirty="0"/>
              <a:t> </a:t>
            </a:r>
            <a:r>
              <a:rPr lang="id-ID" dirty="0" err="1"/>
              <a:t>development</a:t>
            </a:r>
            <a:r>
              <a:rPr lang="id-ID" dirty="0"/>
              <a:t>)</a:t>
            </a:r>
          </a:p>
          <a:p>
            <a:r>
              <a:rPr lang="id-ID" dirty="0"/>
              <a:t>3.	Perencanaan (</a:t>
            </a:r>
            <a:r>
              <a:rPr lang="id-ID" dirty="0" err="1"/>
              <a:t>planning</a:t>
            </a:r>
            <a:r>
              <a:rPr lang="id-ID" dirty="0"/>
              <a:t>)</a:t>
            </a:r>
          </a:p>
          <a:p>
            <a:r>
              <a:rPr lang="en-US" dirty="0"/>
              <a:t>4.	</a:t>
            </a:r>
            <a:r>
              <a:rPr lang="en-US" dirty="0" err="1"/>
              <a:t>Analisis</a:t>
            </a:r>
            <a:r>
              <a:rPr lang="en-US" dirty="0"/>
              <a:t> </a:t>
            </a:r>
            <a:r>
              <a:rPr lang="en-US" dirty="0" err="1"/>
              <a:t>kebutuhan</a:t>
            </a:r>
            <a:r>
              <a:rPr lang="en-US" dirty="0"/>
              <a:t> (requirements analysis)</a:t>
            </a:r>
            <a:endParaRPr lang="id-ID" dirty="0"/>
          </a:p>
          <a:p>
            <a:r>
              <a:rPr lang="id-ID" dirty="0"/>
              <a:t>5.	Desain (</a:t>
            </a:r>
            <a:r>
              <a:rPr lang="id-ID" dirty="0" err="1"/>
              <a:t>design</a:t>
            </a:r>
            <a:r>
              <a:rPr lang="id-ID" dirty="0"/>
              <a:t>)</a:t>
            </a:r>
          </a:p>
          <a:p>
            <a:r>
              <a:rPr lang="id-ID" dirty="0"/>
              <a:t>6.	Pengembangan (</a:t>
            </a:r>
            <a:r>
              <a:rPr lang="id-ID" dirty="0" err="1"/>
              <a:t>development</a:t>
            </a:r>
            <a:r>
              <a:rPr lang="id-ID" dirty="0"/>
              <a:t>)</a:t>
            </a:r>
          </a:p>
          <a:p>
            <a:r>
              <a:rPr lang="id-ID" dirty="0"/>
              <a:t>7.	Integrasi dan pengujian (</a:t>
            </a:r>
            <a:r>
              <a:rPr lang="id-ID" dirty="0" err="1"/>
              <a:t>integration</a:t>
            </a:r>
            <a:r>
              <a:rPr lang="id-ID" dirty="0"/>
              <a:t> </a:t>
            </a:r>
            <a:r>
              <a:rPr lang="id-ID" dirty="0" err="1"/>
              <a:t>and</a:t>
            </a:r>
            <a:r>
              <a:rPr lang="id-ID" dirty="0"/>
              <a:t> </a:t>
            </a:r>
            <a:r>
              <a:rPr lang="id-ID" dirty="0" err="1"/>
              <a:t>test</a:t>
            </a:r>
            <a:r>
              <a:rPr lang="id-ID" dirty="0"/>
              <a:t>)</a:t>
            </a:r>
          </a:p>
          <a:p>
            <a:r>
              <a:rPr lang="id-ID" dirty="0"/>
              <a:t>8.	Implementasi (</a:t>
            </a:r>
            <a:r>
              <a:rPr lang="id-ID" dirty="0" err="1"/>
              <a:t>implementation</a:t>
            </a:r>
            <a:r>
              <a:rPr lang="id-ID" dirty="0"/>
              <a:t>)</a:t>
            </a:r>
          </a:p>
          <a:p>
            <a:r>
              <a:rPr lang="en-US" dirty="0"/>
              <a:t>9.	</a:t>
            </a:r>
            <a:r>
              <a:rPr lang="en-US" dirty="0" err="1"/>
              <a:t>Operasi</a:t>
            </a:r>
            <a:r>
              <a:rPr lang="en-US" dirty="0"/>
              <a:t> dan </a:t>
            </a:r>
            <a:r>
              <a:rPr lang="en-US" dirty="0" err="1"/>
              <a:t>pemeliharaan</a:t>
            </a:r>
            <a:r>
              <a:rPr lang="en-US" dirty="0"/>
              <a:t> (operations and maintenance)</a:t>
            </a:r>
            <a:endParaRPr lang="id-ID" dirty="0"/>
          </a:p>
          <a:p>
            <a:r>
              <a:rPr lang="id-ID" dirty="0"/>
              <a:t>10.	Disposisi (</a:t>
            </a:r>
            <a:r>
              <a:rPr lang="id-ID" dirty="0" err="1"/>
              <a:t>disposition</a:t>
            </a:r>
            <a:r>
              <a:rPr lang="id-ID" dirty="0"/>
              <a:t>)</a:t>
            </a:r>
          </a:p>
        </p:txBody>
      </p:sp>
    </p:spTree>
    <p:extLst>
      <p:ext uri="{BB962C8B-B14F-4D97-AF65-F5344CB8AC3E}">
        <p14:creationId xmlns:p14="http://schemas.microsoft.com/office/powerpoint/2010/main" val="161349868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MODEL WATERFALL</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Model SDLC air terjun (</a:t>
            </a:r>
            <a:r>
              <a:rPr lang="id-ID" dirty="0" err="1"/>
              <a:t>waterfall</a:t>
            </a:r>
            <a:r>
              <a:rPr lang="id-ID" dirty="0"/>
              <a:t>) sering juga disebut model </a:t>
            </a:r>
            <a:r>
              <a:rPr lang="id-ID" dirty="0" err="1"/>
              <a:t>sekuensial</a:t>
            </a:r>
            <a:r>
              <a:rPr lang="id-ID" dirty="0"/>
              <a:t> linier (</a:t>
            </a:r>
            <a:r>
              <a:rPr lang="id-ID" dirty="0" err="1"/>
              <a:t>sequential</a:t>
            </a:r>
            <a:r>
              <a:rPr lang="id-ID" dirty="0"/>
              <a:t> linear) atau alur hidup klasik (</a:t>
            </a:r>
            <a:r>
              <a:rPr lang="id-ID" dirty="0" err="1"/>
              <a:t>classic</a:t>
            </a:r>
            <a:r>
              <a:rPr lang="id-ID" dirty="0"/>
              <a:t> </a:t>
            </a:r>
            <a:r>
              <a:rPr lang="id-ID" dirty="0" err="1"/>
              <a:t>life</a:t>
            </a:r>
            <a:r>
              <a:rPr lang="id-ID" dirty="0"/>
              <a:t> </a:t>
            </a:r>
            <a:r>
              <a:rPr lang="id-ID" dirty="0" err="1"/>
              <a:t>cycle</a:t>
            </a:r>
            <a:r>
              <a:rPr lang="id-ID" dirty="0"/>
              <a:t>). Model air terjun menyediakan pendekatan alur hidup perangkat lunak secara </a:t>
            </a:r>
            <a:r>
              <a:rPr lang="id-ID" dirty="0" err="1"/>
              <a:t>sekuensial</a:t>
            </a:r>
            <a:r>
              <a:rPr lang="id-ID" dirty="0"/>
              <a:t> atau terurut dimulai dari analisis, desain, </a:t>
            </a:r>
            <a:r>
              <a:rPr lang="id-ID" dirty="0" err="1"/>
              <a:t>pengodean</a:t>
            </a:r>
            <a:r>
              <a:rPr lang="id-ID" dirty="0"/>
              <a:t>, pengujian, dan tahap pendukung (</a:t>
            </a:r>
            <a:r>
              <a:rPr lang="id-ID" dirty="0" err="1"/>
              <a:t>support</a:t>
            </a:r>
            <a:r>
              <a:rPr lang="id-ID" dirty="0"/>
              <a:t>). </a:t>
            </a:r>
          </a:p>
        </p:txBody>
      </p:sp>
      <p:pic>
        <p:nvPicPr>
          <p:cNvPr id="4" name="Picture 3">
            <a:extLst>
              <a:ext uri="{FF2B5EF4-FFF2-40B4-BE49-F238E27FC236}">
                <a16:creationId xmlns:a16="http://schemas.microsoft.com/office/drawing/2014/main" id="{C8871AC6-9626-4623-BF0F-7BDB7F4E2AF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613868" y="4106780"/>
            <a:ext cx="6964263" cy="2070183"/>
          </a:xfrm>
          <a:prstGeom prst="rect">
            <a:avLst/>
          </a:prstGeom>
          <a:noFill/>
          <a:ln>
            <a:noFill/>
          </a:ln>
        </p:spPr>
      </p:pic>
    </p:spTree>
    <p:extLst>
      <p:ext uri="{BB962C8B-B14F-4D97-AF65-F5344CB8AC3E}">
        <p14:creationId xmlns:p14="http://schemas.microsoft.com/office/powerpoint/2010/main" val="92088750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MODEL PROTOTIPE</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Model prototipe atau purwarupa termasuk dalam kategori pengembangan ditambahkan secara bertahap/inkremental (</a:t>
            </a:r>
            <a:r>
              <a:rPr lang="id-ID" dirty="0" err="1"/>
              <a:t>incremental</a:t>
            </a:r>
            <a:r>
              <a:rPr lang="id-ID" dirty="0"/>
              <a:t> </a:t>
            </a:r>
            <a:r>
              <a:rPr lang="id-ID" dirty="0" err="1"/>
              <a:t>development</a:t>
            </a:r>
            <a:r>
              <a:rPr lang="id-ID" dirty="0"/>
              <a:t>) dan dapat digunakan untuk menyambungkan </a:t>
            </a:r>
            <a:r>
              <a:rPr lang="id-ID" dirty="0" err="1"/>
              <a:t>ketidakpahaman</a:t>
            </a:r>
            <a:r>
              <a:rPr lang="id-ID" dirty="0"/>
              <a:t> pelanggan mengenai hal teknis dan memperjelas spesifikasi kebutuhan yang diinginkan pelanggan kepada pengembang perangkat lunak, atau dengan kata lain pelanggan (</a:t>
            </a:r>
            <a:r>
              <a:rPr lang="id-ID" dirty="0" err="1"/>
              <a:t>customer</a:t>
            </a:r>
            <a:r>
              <a:rPr lang="id-ID" dirty="0"/>
              <a:t>) bisa jadi orang yang tidak memahami mengenai perangkat lunak sehingga perlu adanya sebuah contoh tampilan yang dapat membuat pelanggan terbayang akan perangkat lunak yang akan dikembangkan.</a:t>
            </a:r>
          </a:p>
        </p:txBody>
      </p:sp>
    </p:spTree>
    <p:extLst>
      <p:ext uri="{BB962C8B-B14F-4D97-AF65-F5344CB8AC3E}">
        <p14:creationId xmlns:p14="http://schemas.microsoft.com/office/powerpoint/2010/main" val="361349971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endParaRPr lang="id-ID" dirty="0"/>
          </a:p>
        </p:txBody>
      </p:sp>
      <p:pic>
        <p:nvPicPr>
          <p:cNvPr id="4" name="Picture 3">
            <a:extLst>
              <a:ext uri="{FF2B5EF4-FFF2-40B4-BE49-F238E27FC236}">
                <a16:creationId xmlns:a16="http://schemas.microsoft.com/office/drawing/2014/main" id="{5D7461B8-81E2-4D0B-BF47-4DC5FA494FA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663114" y="2145046"/>
            <a:ext cx="4865771" cy="3341354"/>
          </a:xfrm>
          <a:prstGeom prst="rect">
            <a:avLst/>
          </a:prstGeom>
          <a:solidFill>
            <a:srgbClr val="FFFFFF"/>
          </a:solidFill>
          <a:ln>
            <a:noFill/>
          </a:ln>
        </p:spPr>
      </p:pic>
    </p:spTree>
    <p:extLst>
      <p:ext uri="{BB962C8B-B14F-4D97-AF65-F5344CB8AC3E}">
        <p14:creationId xmlns:p14="http://schemas.microsoft.com/office/powerpoint/2010/main" val="42635433"/>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en-US" dirty="0"/>
              <a:t>MODEL RAPID APPLICATION DEVELOPMENT (RAD) </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Rapid </a:t>
            </a:r>
            <a:r>
              <a:rPr lang="id-ID" dirty="0" err="1"/>
              <a:t>Application</a:t>
            </a:r>
            <a:r>
              <a:rPr lang="id-ID" dirty="0"/>
              <a:t> Development (RAD) atau sering di sebut juga dengan  pengembangan aplikasi secara cepat merupakan model SDLC yang diperuntukkan untuk waktu pengembangan yang singkat. </a:t>
            </a:r>
          </a:p>
          <a:p>
            <a:r>
              <a:rPr lang="id-ID" dirty="0"/>
              <a:t>RAD dapat digunakan jika kebutuhan perangkat lunak dipahami dengan baik dan lingkup perangkat lunak dibatasi dengan baik sehingga tim dapat menyelesaikan pembuatan perangkat lunak dengan waktu yang pendek.</a:t>
            </a:r>
          </a:p>
        </p:txBody>
      </p:sp>
    </p:spTree>
    <p:extLst>
      <p:ext uri="{BB962C8B-B14F-4D97-AF65-F5344CB8AC3E}">
        <p14:creationId xmlns:p14="http://schemas.microsoft.com/office/powerpoint/2010/main" val="2617493143"/>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pic>
        <p:nvPicPr>
          <p:cNvPr id="4" name="Content Placeholder 3">
            <a:extLst>
              <a:ext uri="{FF2B5EF4-FFF2-40B4-BE49-F238E27FC236}">
                <a16:creationId xmlns:a16="http://schemas.microsoft.com/office/drawing/2014/main" id="{FC4FA96D-9BE7-4A02-B34B-E855C5DFB873}"/>
              </a:ext>
            </a:extLs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237272" y="1825625"/>
            <a:ext cx="3717455" cy="4351338"/>
          </a:xfrm>
          <a:prstGeom prst="rect">
            <a:avLst/>
          </a:prstGeom>
          <a:solidFill>
            <a:srgbClr val="FFFFFF"/>
          </a:solidFill>
          <a:ln>
            <a:noFill/>
          </a:ln>
        </p:spPr>
      </p:pic>
    </p:spTree>
    <p:extLst>
      <p:ext uri="{BB962C8B-B14F-4D97-AF65-F5344CB8AC3E}">
        <p14:creationId xmlns:p14="http://schemas.microsoft.com/office/powerpoint/2010/main" val="36314788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MODEL ITERATIF</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Model </a:t>
            </a:r>
            <a:r>
              <a:rPr lang="id-ID" dirty="0" err="1"/>
              <a:t>iteratif</a:t>
            </a:r>
            <a:r>
              <a:rPr lang="id-ID" dirty="0"/>
              <a:t> (</a:t>
            </a:r>
            <a:r>
              <a:rPr lang="id-ID" dirty="0" err="1"/>
              <a:t>iterative</a:t>
            </a:r>
            <a:r>
              <a:rPr lang="id-ID" dirty="0"/>
              <a:t> model) mengombinasikan proses-proses pada model air terjun (</a:t>
            </a:r>
            <a:r>
              <a:rPr lang="id-ID" dirty="0" err="1"/>
              <a:t>waterfall</a:t>
            </a:r>
            <a:r>
              <a:rPr lang="id-ID" dirty="0"/>
              <a:t>) dan </a:t>
            </a:r>
            <a:r>
              <a:rPr lang="id-ID" dirty="0" err="1"/>
              <a:t>iteratif</a:t>
            </a:r>
            <a:r>
              <a:rPr lang="id-ID" dirty="0"/>
              <a:t> pada model prototipe. Model ditambahkan secara bertahap/inkremental (</a:t>
            </a:r>
            <a:r>
              <a:rPr lang="id-ID" dirty="0" err="1"/>
              <a:t>incremental</a:t>
            </a:r>
            <a:r>
              <a:rPr lang="id-ID" dirty="0"/>
              <a:t>) akan menghasilkan versi-versi perangkat lunak yang sudah mengalami penambahan fungsi untuk setiap tahapannya (</a:t>
            </a:r>
            <a:r>
              <a:rPr lang="id-ID" dirty="0" err="1"/>
              <a:t>increment</a:t>
            </a:r>
            <a:r>
              <a:rPr lang="id-ID" dirty="0"/>
              <a:t>). </a:t>
            </a:r>
          </a:p>
        </p:txBody>
      </p:sp>
    </p:spTree>
    <p:extLst>
      <p:ext uri="{BB962C8B-B14F-4D97-AF65-F5344CB8AC3E}">
        <p14:creationId xmlns:p14="http://schemas.microsoft.com/office/powerpoint/2010/main" val="3656913829"/>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pic>
        <p:nvPicPr>
          <p:cNvPr id="4" name="Content Placeholder 3">
            <a:extLst>
              <a:ext uri="{FF2B5EF4-FFF2-40B4-BE49-F238E27FC236}">
                <a16:creationId xmlns:a16="http://schemas.microsoft.com/office/drawing/2014/main" id="{66E96509-3EF9-4EDF-A758-FD126A077526}"/>
              </a:ext>
            </a:extLs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86012" y="1962944"/>
            <a:ext cx="7419975" cy="4076700"/>
          </a:xfrm>
          <a:prstGeom prst="rect">
            <a:avLst/>
          </a:prstGeom>
          <a:noFill/>
          <a:ln>
            <a:noFill/>
          </a:ln>
        </p:spPr>
      </p:pic>
    </p:spTree>
    <p:extLst>
      <p:ext uri="{BB962C8B-B14F-4D97-AF65-F5344CB8AC3E}">
        <p14:creationId xmlns:p14="http://schemas.microsoft.com/office/powerpoint/2010/main" val="12932196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MODEL SPIRAL</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Model spiral (spiral model) memasangkan </a:t>
            </a:r>
            <a:r>
              <a:rPr lang="id-ID" dirty="0" err="1"/>
              <a:t>iteratif</a:t>
            </a:r>
            <a:r>
              <a:rPr lang="id-ID" dirty="0"/>
              <a:t>/pengulangan pada model prototipe dengan kontrol dan aspek sistematik yang diambil dari model air terjun. Model spiral menyediakan pengembangan dengan cara cepat dengan perangkat lunak yang memiliki versi yang terus bertambah fungsinya (</a:t>
            </a:r>
            <a:r>
              <a:rPr lang="id-ID" dirty="0" err="1"/>
              <a:t>increment</a:t>
            </a:r>
            <a:r>
              <a:rPr lang="id-ID" dirty="0"/>
              <a:t>). </a:t>
            </a:r>
          </a:p>
        </p:txBody>
      </p:sp>
    </p:spTree>
    <p:extLst>
      <p:ext uri="{BB962C8B-B14F-4D97-AF65-F5344CB8AC3E}">
        <p14:creationId xmlns:p14="http://schemas.microsoft.com/office/powerpoint/2010/main" val="352619400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pic>
        <p:nvPicPr>
          <p:cNvPr id="4" name="Content Placeholder 3">
            <a:extLst>
              <a:ext uri="{FF2B5EF4-FFF2-40B4-BE49-F238E27FC236}">
                <a16:creationId xmlns:a16="http://schemas.microsoft.com/office/drawing/2014/main" id="{A44FD001-B036-4D59-93C0-7BBD60DDA4D5}"/>
              </a:ext>
            </a:extLs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281362" y="1891506"/>
            <a:ext cx="5629275" cy="4219575"/>
          </a:xfrm>
          <a:prstGeom prst="rect">
            <a:avLst/>
          </a:prstGeom>
          <a:solidFill>
            <a:srgbClr val="FFFFFF"/>
          </a:solidFill>
          <a:ln>
            <a:noFill/>
          </a:ln>
        </p:spPr>
      </p:pic>
    </p:spTree>
    <p:extLst>
      <p:ext uri="{BB962C8B-B14F-4D97-AF65-F5344CB8AC3E}">
        <p14:creationId xmlns:p14="http://schemas.microsoft.com/office/powerpoint/2010/main" val="162942816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RUP</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RUP (</a:t>
            </a:r>
            <a:r>
              <a:rPr lang="id-ID" dirty="0" err="1"/>
              <a:t>Rational</a:t>
            </a:r>
            <a:r>
              <a:rPr lang="id-ID" dirty="0"/>
              <a:t> </a:t>
            </a:r>
            <a:r>
              <a:rPr lang="id-ID" dirty="0" err="1"/>
              <a:t>Unified</a:t>
            </a:r>
            <a:r>
              <a:rPr lang="id-ID" dirty="0"/>
              <a:t> </a:t>
            </a:r>
            <a:r>
              <a:rPr lang="id-ID" dirty="0" err="1"/>
              <a:t>Process</a:t>
            </a:r>
            <a:r>
              <a:rPr lang="id-ID" dirty="0"/>
              <a:t>) adalah pendekatan pengembangan perangkat lunak yang dilakukan berulang-ulang (</a:t>
            </a:r>
            <a:r>
              <a:rPr lang="id-ID" dirty="0" err="1"/>
              <a:t>iterative</a:t>
            </a:r>
            <a:r>
              <a:rPr lang="id-ID" dirty="0"/>
              <a:t>), fokus pada arsitektur (</a:t>
            </a:r>
            <a:r>
              <a:rPr lang="id-ID" dirty="0" err="1"/>
              <a:t>architecture-centric</a:t>
            </a:r>
            <a:r>
              <a:rPr lang="id-ID" dirty="0"/>
              <a:t>), lebih diarahkan berdasarkan penggunaan kasus (</a:t>
            </a:r>
            <a:r>
              <a:rPr lang="id-ID" dirty="0" err="1"/>
              <a:t>use</a:t>
            </a:r>
            <a:r>
              <a:rPr lang="id-ID" dirty="0"/>
              <a:t> </a:t>
            </a:r>
            <a:r>
              <a:rPr lang="id-ID" dirty="0" err="1"/>
              <a:t>case</a:t>
            </a:r>
            <a:r>
              <a:rPr lang="id-ID" dirty="0"/>
              <a:t> </a:t>
            </a:r>
            <a:r>
              <a:rPr lang="id-ID" dirty="0" err="1"/>
              <a:t>driven</a:t>
            </a:r>
            <a:r>
              <a:rPr lang="id-ID" dirty="0"/>
              <a:t>). RUP merupakan proses rekayasa perangkat lunak dengan pendefinisian yang baik (</a:t>
            </a:r>
            <a:r>
              <a:rPr lang="id-ID" dirty="0" err="1"/>
              <a:t>well</a:t>
            </a:r>
            <a:r>
              <a:rPr lang="id-ID" dirty="0"/>
              <a:t> </a:t>
            </a:r>
            <a:r>
              <a:rPr lang="id-ID" dirty="0" err="1"/>
              <a:t>defined</a:t>
            </a:r>
            <a:r>
              <a:rPr lang="id-ID" dirty="0"/>
              <a:t>) dan penstrukturan yang baik (</a:t>
            </a:r>
            <a:r>
              <a:rPr lang="id-ID" dirty="0" err="1"/>
              <a:t>well</a:t>
            </a:r>
            <a:r>
              <a:rPr lang="id-ID" dirty="0"/>
              <a:t> </a:t>
            </a:r>
            <a:r>
              <a:rPr lang="id-ID" dirty="0" err="1"/>
              <a:t>structured</a:t>
            </a:r>
            <a:r>
              <a:rPr lang="id-ID" dirty="0"/>
              <a:t>). RUP menyediakan pendefinisian struktur yang baik untuk alur hidup proyek perangkat lunak.</a:t>
            </a:r>
          </a:p>
        </p:txBody>
      </p:sp>
    </p:spTree>
    <p:extLst>
      <p:ext uri="{BB962C8B-B14F-4D97-AF65-F5344CB8AC3E}">
        <p14:creationId xmlns:p14="http://schemas.microsoft.com/office/powerpoint/2010/main" val="193222279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endParaRPr lang="id-ID" dirty="0"/>
          </a:p>
        </p:txBody>
      </p:sp>
      <p:pic>
        <p:nvPicPr>
          <p:cNvPr id="4" name="Picture 3">
            <a:extLst>
              <a:ext uri="{FF2B5EF4-FFF2-40B4-BE49-F238E27FC236}">
                <a16:creationId xmlns:a16="http://schemas.microsoft.com/office/drawing/2014/main" id="{0DBC784C-8F83-477F-8D95-2A9C06C35FCF}"/>
              </a:ext>
            </a:extLst>
          </p:cNvPr>
          <p:cNvPicPr/>
          <p:nvPr/>
        </p:nvPicPr>
        <p:blipFill rotWithShape="1">
          <a:blip r:embed="rId3">
            <a:extLst>
              <a:ext uri="{28A0092B-C50C-407E-A947-70E740481C1C}">
                <a14:useLocalDpi xmlns:a14="http://schemas.microsoft.com/office/drawing/2010/main" val="0"/>
              </a:ext>
            </a:extLst>
          </a:blip>
          <a:srcRect l="3363" t="6318" r="8345"/>
          <a:stretch/>
        </p:blipFill>
        <p:spPr bwMode="auto">
          <a:xfrm>
            <a:off x="3289968" y="2298199"/>
            <a:ext cx="5612063" cy="3501022"/>
          </a:xfrm>
          <a:prstGeom prst="rect">
            <a:avLst/>
          </a:prstGeom>
          <a:solidFill>
            <a:srgbClr val="FFFFFF"/>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5869712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3"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2978</TotalTime>
  <Words>518</Words>
  <Application>Microsoft Macintosh PowerPoint</Application>
  <PresentationFormat>Widescreen</PresentationFormat>
  <Paragraphs>36</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Britannic Bold</vt:lpstr>
      <vt:lpstr>Calibri</vt:lpstr>
      <vt:lpstr>Calibri Light</vt:lpstr>
      <vt:lpstr>Century Gothic</vt:lpstr>
      <vt:lpstr>Office Theme</vt:lpstr>
      <vt:lpstr>PowerPoint Presentation</vt:lpstr>
      <vt:lpstr>Software Development Life Cycle (SDLC) </vt:lpstr>
      <vt:lpstr>Tahapan-tahapan yang ada pada SDLC secara global </vt:lpstr>
      <vt:lpstr>MODEL WATERFALL</vt:lpstr>
      <vt:lpstr>MODEL PROTOTIPE</vt:lpstr>
      <vt:lpstr>PowerPoint Presentation</vt:lpstr>
      <vt:lpstr>MODEL RAPID APPLICATION DEVELOPMENT (RAD) </vt:lpstr>
      <vt:lpstr>PowerPoint Presentation</vt:lpstr>
      <vt:lpstr>MODEL ITERATIF</vt:lpstr>
      <vt:lpstr>PowerPoint Presentation</vt:lpstr>
      <vt:lpstr>MODEL SPIRAL</vt:lpstr>
      <vt:lpstr>PowerPoint Presentation</vt:lpstr>
      <vt:lpstr>RUP</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Fitria Amastini</cp:lastModifiedBy>
  <cp:revision>188</cp:revision>
  <dcterms:created xsi:type="dcterms:W3CDTF">2018-01-15T03:36:45Z</dcterms:created>
  <dcterms:modified xsi:type="dcterms:W3CDTF">2022-08-19T09:23:19Z</dcterms:modified>
</cp:coreProperties>
</file>