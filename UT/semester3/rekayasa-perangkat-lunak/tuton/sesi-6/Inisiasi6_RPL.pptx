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74" r:id="rId3"/>
    <p:sldId id="275" r:id="rId4"/>
    <p:sldId id="276" r:id="rId5"/>
    <p:sldId id="277" r:id="rId6"/>
    <p:sldId id="278" r:id="rId7"/>
    <p:sldId id="27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autoAdjust="0"/>
    <p:restoredTop sz="94630" autoAdjust="0"/>
  </p:normalViewPr>
  <p:slideViewPr>
    <p:cSldViewPr snapToGrid="0">
      <p:cViewPr varScale="1">
        <p:scale>
          <a:sx n="64" d="100"/>
          <a:sy n="64" d="100"/>
        </p:scale>
        <p:origin x="84"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8/13/2021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MSIM4303 REKAYASA PERANGAKAT LUNAK</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331961" y="3059668"/>
            <a:ext cx="11378372" cy="1323439"/>
          </a:xfrm>
          <a:prstGeom prst="rect">
            <a:avLst/>
          </a:prstGeom>
          <a:noFill/>
        </p:spPr>
        <p:txBody>
          <a:bodyPr wrap="none" rtlCol="0">
            <a:spAutoFit/>
          </a:bodyPr>
          <a:lstStyle/>
          <a:p>
            <a:pPr algn="ctr">
              <a:spcBef>
                <a:spcPct val="0"/>
              </a:spcBef>
              <a:buNone/>
            </a:pPr>
            <a:r>
              <a:rPr lang="id-ID" sz="4000" dirty="0"/>
              <a:t>SESI 6</a:t>
            </a:r>
          </a:p>
          <a:p>
            <a:pPr algn="ctr">
              <a:spcBef>
                <a:spcPct val="0"/>
              </a:spcBef>
              <a:buNone/>
            </a:pPr>
            <a:r>
              <a:rPr lang="en-US" sz="4000" dirty="0" err="1"/>
              <a:t>Rekayasa</a:t>
            </a:r>
            <a:r>
              <a:rPr lang="en-US" sz="4000" dirty="0"/>
              <a:t> </a:t>
            </a:r>
            <a:r>
              <a:rPr lang="en-US" sz="4000" dirty="0" err="1"/>
              <a:t>Perangkat</a:t>
            </a:r>
            <a:r>
              <a:rPr lang="id-ID" sz="4000" dirty="0"/>
              <a:t> </a:t>
            </a:r>
            <a:r>
              <a:rPr lang="en-US" sz="4000" dirty="0" err="1"/>
              <a:t>Lunak</a:t>
            </a:r>
            <a:r>
              <a:rPr lang="en-US" sz="4000" dirty="0"/>
              <a:t> </a:t>
            </a:r>
            <a:r>
              <a:rPr lang="en-US" sz="4000" dirty="0" err="1"/>
              <a:t>dengan</a:t>
            </a:r>
            <a:r>
              <a:rPr lang="en-US" sz="4000" dirty="0"/>
              <a:t> </a:t>
            </a:r>
            <a:r>
              <a:rPr lang="en-US" sz="4000" dirty="0" err="1"/>
              <a:t>Metodologi</a:t>
            </a:r>
            <a:r>
              <a:rPr lang="en-US" sz="4000" dirty="0"/>
              <a:t> Agile </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Pendahuluan Metodologi </a:t>
            </a:r>
            <a:r>
              <a:rPr lang="id-ID" dirty="0" err="1"/>
              <a:t>Agile</a:t>
            </a:r>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70000" lnSpcReduction="20000"/>
          </a:bodyPr>
          <a:lstStyle/>
          <a:p>
            <a:pPr marL="0" indent="0">
              <a:buNone/>
            </a:pPr>
            <a:r>
              <a:rPr lang="id-ID" dirty="0"/>
              <a:t>Rapid  </a:t>
            </a:r>
            <a:r>
              <a:rPr lang="id-ID" dirty="0" err="1"/>
              <a:t>Software</a:t>
            </a:r>
            <a:r>
              <a:rPr lang="id-ID" dirty="0"/>
              <a:t> Development  seiring  berjalannya waktu  lebih  dikenal  sebagai </a:t>
            </a:r>
            <a:r>
              <a:rPr lang="id-ID" dirty="0" err="1"/>
              <a:t>Agile</a:t>
            </a:r>
            <a:r>
              <a:rPr lang="id-ID" dirty="0"/>
              <a:t> Development  atau Metode </a:t>
            </a:r>
            <a:r>
              <a:rPr lang="id-ID" dirty="0" err="1"/>
              <a:t>Agile</a:t>
            </a:r>
            <a:r>
              <a:rPr lang="id-ID" dirty="0"/>
              <a:t>. Metode </a:t>
            </a:r>
            <a:r>
              <a:rPr lang="id-ID" dirty="0" err="1"/>
              <a:t>Agile</a:t>
            </a:r>
            <a:r>
              <a:rPr lang="id-ID" dirty="0"/>
              <a:t> memiliki  karakteristik  umum sebagai berikut. </a:t>
            </a:r>
          </a:p>
          <a:p>
            <a:r>
              <a:rPr lang="id-ID" dirty="0"/>
              <a:t>1.  Pemrosesan pendefinisian spesifikasi kebutuhan, desain, dan implementasi  berjalan secara paralel dan sering terjadi secara bersamaan. Tidak ada sistem  pengumpulan spesifikasi yang detail dan dokumentasi desain </a:t>
            </a:r>
            <a:r>
              <a:rPr lang="id-ID" dirty="0" err="1"/>
              <a:t>diminimalisir</a:t>
            </a:r>
            <a:r>
              <a:rPr lang="id-ID" dirty="0"/>
              <a:t> atau dibuat secara otomatis oleh lingkungan pemrograman yang digunakan untuk  mengimplementasikan perangkat lunak. Dokumen kebutuhan pengguna banyak berisi garis besar dari pendefinisian karakteristik yang penting dari sistem yang  akan dibuat. </a:t>
            </a:r>
          </a:p>
          <a:p>
            <a:r>
              <a:rPr lang="id-ID" dirty="0"/>
              <a:t>2.  Perangkat lunak yang dikembangkan merupakan hasil dari pengulangan proses  (</a:t>
            </a:r>
            <a:r>
              <a:rPr lang="id-ID" dirty="0" err="1"/>
              <a:t>increment</a:t>
            </a:r>
            <a:r>
              <a:rPr lang="id-ID" dirty="0"/>
              <a:t>). Pengguna (</a:t>
            </a:r>
            <a:r>
              <a:rPr lang="id-ID" dirty="0" err="1"/>
              <a:t>end-user</a:t>
            </a:r>
            <a:r>
              <a:rPr lang="id-ID" dirty="0"/>
              <a:t>) dan pemangku kepentingan (</a:t>
            </a:r>
            <a:r>
              <a:rPr lang="id-ID" dirty="0" err="1"/>
              <a:t>stakeholder</a:t>
            </a:r>
            <a:r>
              <a:rPr lang="id-ID" dirty="0"/>
              <a:t>) dari  sistem lain terlibat pada spesifikasi dan mengevaluasi pengulangan proses dari  sistem yang dibuat. </a:t>
            </a:r>
          </a:p>
          <a:p>
            <a:r>
              <a:rPr lang="id-ID" dirty="0"/>
              <a:t>3.  Digunakannya perkakas/perangkat yang mendukung proses pengembangan  secara cepat dan sebisa mungkin bersifat otomatis. Perangkat yang biasanya  digunakan termasuk perangkat  pengujian, perangkat untuk mendukung pengelolaan konfigurasi dan integrasi sistem,  serta perangkat untuk membuat tampilan (</a:t>
            </a:r>
            <a:r>
              <a:rPr lang="id-ID" dirty="0" err="1"/>
              <a:t>user</a:t>
            </a:r>
            <a:r>
              <a:rPr lang="id-ID" dirty="0"/>
              <a:t> </a:t>
            </a:r>
            <a:r>
              <a:rPr lang="id-ID" dirty="0" err="1"/>
              <a:t>interface</a:t>
            </a:r>
            <a:r>
              <a:rPr lang="id-ID" dirty="0"/>
              <a:t>) secara otomatis. </a:t>
            </a:r>
          </a:p>
        </p:txBody>
      </p:sp>
    </p:spTree>
    <p:extLst>
      <p:ext uri="{BB962C8B-B14F-4D97-AF65-F5344CB8AC3E}">
        <p14:creationId xmlns:p14="http://schemas.microsoft.com/office/powerpoint/2010/main" val="380809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Terdapat dua pembagian besar metode pengembangan perangkat lunak, yaitu: </a:t>
            </a:r>
          </a:p>
          <a:p>
            <a:r>
              <a:rPr lang="en-US" dirty="0"/>
              <a:t>1.  Pengembangan </a:t>
            </a:r>
            <a:r>
              <a:rPr lang="en-US" dirty="0" err="1"/>
              <a:t>Berbasis</a:t>
            </a:r>
            <a:r>
              <a:rPr lang="en-US" dirty="0"/>
              <a:t> </a:t>
            </a:r>
            <a:r>
              <a:rPr lang="en-US" dirty="0" err="1"/>
              <a:t>Perencanaan</a:t>
            </a:r>
            <a:r>
              <a:rPr lang="en-US" dirty="0"/>
              <a:t> (Plan-based Development) </a:t>
            </a:r>
            <a:endParaRPr lang="id-ID" dirty="0"/>
          </a:p>
          <a:p>
            <a:r>
              <a:rPr lang="id-ID" dirty="0"/>
              <a:t>2.  </a:t>
            </a:r>
            <a:r>
              <a:rPr lang="id-ID" dirty="0" err="1"/>
              <a:t>Agile</a:t>
            </a:r>
            <a:r>
              <a:rPr lang="id-ID" dirty="0"/>
              <a:t> Development </a:t>
            </a:r>
          </a:p>
        </p:txBody>
      </p:sp>
    </p:spTree>
    <p:extLst>
      <p:ext uri="{BB962C8B-B14F-4D97-AF65-F5344CB8AC3E}">
        <p14:creationId xmlns:p14="http://schemas.microsoft.com/office/powerpoint/2010/main" val="818771933"/>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TEKNIK PENGEMBANGAN AGILE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1.  </a:t>
            </a:r>
            <a:r>
              <a:rPr lang="id-ID" dirty="0" err="1"/>
              <a:t>Extreme</a:t>
            </a:r>
            <a:r>
              <a:rPr lang="id-ID" dirty="0"/>
              <a:t> </a:t>
            </a:r>
            <a:r>
              <a:rPr lang="id-ID" dirty="0" err="1"/>
              <a:t>Programming</a:t>
            </a:r>
            <a:r>
              <a:rPr lang="id-ID" dirty="0"/>
              <a:t> sebagai Awal Munculnya Metode </a:t>
            </a:r>
            <a:r>
              <a:rPr lang="id-ID" dirty="0" err="1"/>
              <a:t>Agile</a:t>
            </a:r>
            <a:r>
              <a:rPr lang="id-ID" dirty="0"/>
              <a:t> </a:t>
            </a:r>
          </a:p>
          <a:p>
            <a:r>
              <a:rPr lang="id-ID" dirty="0"/>
              <a:t>2.  Keterangan dari Pengguna sebagai Pendukung Metode </a:t>
            </a:r>
            <a:r>
              <a:rPr lang="id-ID" dirty="0" err="1"/>
              <a:t>Agile</a:t>
            </a:r>
            <a:r>
              <a:rPr lang="id-ID" dirty="0"/>
              <a:t> </a:t>
            </a:r>
          </a:p>
          <a:p>
            <a:r>
              <a:rPr lang="id-ID" dirty="0"/>
              <a:t>3.  </a:t>
            </a:r>
            <a:r>
              <a:rPr lang="id-ID" dirty="0" err="1"/>
              <a:t>Refactoring</a:t>
            </a:r>
            <a:r>
              <a:rPr lang="id-ID" dirty="0"/>
              <a:t> </a:t>
            </a:r>
          </a:p>
          <a:p>
            <a:r>
              <a:rPr lang="id-ID" dirty="0"/>
              <a:t>4.  Pengembangan </a:t>
            </a:r>
            <a:r>
              <a:rPr lang="id-ID" dirty="0" err="1"/>
              <a:t>Test</a:t>
            </a:r>
            <a:r>
              <a:rPr lang="id-ID" dirty="0"/>
              <a:t>-First </a:t>
            </a:r>
          </a:p>
        </p:txBody>
      </p:sp>
    </p:spTree>
    <p:extLst>
      <p:ext uri="{BB962C8B-B14F-4D97-AF65-F5344CB8AC3E}">
        <p14:creationId xmlns:p14="http://schemas.microsoft.com/office/powerpoint/2010/main" val="1981045343"/>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RICH PICTURE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Rich </a:t>
            </a:r>
            <a:r>
              <a:rPr lang="id-ID" dirty="0" err="1"/>
              <a:t>picture</a:t>
            </a:r>
            <a:r>
              <a:rPr lang="id-ID" dirty="0"/>
              <a:t> adalah sebuah tipe diagram dengan gambaran yang bebas yang dapat  memiliki jangkauan yang luas terkait dengan fungsi kecerdasan manusia. Rich </a:t>
            </a:r>
            <a:r>
              <a:rPr lang="id-ID" dirty="0" err="1"/>
              <a:t>picture</a:t>
            </a:r>
            <a:r>
              <a:rPr lang="id-ID" dirty="0"/>
              <a:t> biasanya  digunakan  untuk  membuat  gambaran  pada  tahap  </a:t>
            </a:r>
            <a:r>
              <a:rPr lang="id-ID" dirty="0" err="1"/>
              <a:t>pre-analysis</a:t>
            </a:r>
            <a:r>
              <a:rPr lang="id-ID" dirty="0"/>
              <a:t>  sebelum memahami bagian dari situasi yang terbaik terkait proses maupun struktur. Rich </a:t>
            </a:r>
            <a:r>
              <a:rPr lang="id-ID" dirty="0" err="1"/>
              <a:t>picture</a:t>
            </a:r>
            <a:r>
              <a:rPr lang="id-ID" dirty="0"/>
              <a:t> digunakan untuk mencoba </a:t>
            </a:r>
            <a:r>
              <a:rPr lang="id-ID" dirty="0" err="1"/>
              <a:t>mengkapsulasi</a:t>
            </a:r>
            <a:r>
              <a:rPr lang="id-ID" dirty="0"/>
              <a:t> situasi yang sesungguhnya tanpa aturan yang ketat  dan  representasi  kartun  untuk merepresentasikan  ide  yang  ada  seperti  </a:t>
            </a:r>
            <a:r>
              <a:rPr lang="id-ID" dirty="0" err="1"/>
              <a:t>layout</a:t>
            </a:r>
            <a:r>
              <a:rPr lang="id-ID" dirty="0"/>
              <a:t>, koneksi, relasi, pengaruh, sebab akibat, dan lain sebagainya</a:t>
            </a:r>
          </a:p>
        </p:txBody>
      </p:sp>
    </p:spTree>
    <p:extLst>
      <p:ext uri="{BB962C8B-B14F-4D97-AF65-F5344CB8AC3E}">
        <p14:creationId xmlns:p14="http://schemas.microsoft.com/office/powerpoint/2010/main" val="2558026527"/>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5" name="Content Placeholder 4">
            <a:extLst>
              <a:ext uri="{FF2B5EF4-FFF2-40B4-BE49-F238E27FC236}">
                <a16:creationId xmlns:a16="http://schemas.microsoft.com/office/drawing/2014/main" id="{AB375B68-968F-4913-9A41-9BB25C3C1E18}"/>
              </a:ext>
            </a:extLst>
          </p:cNvPr>
          <p:cNvPicPr>
            <a:picLocks noGrp="1" noChangeAspect="1"/>
          </p:cNvPicPr>
          <p:nvPr>
            <p:ph idx="1"/>
          </p:nvPr>
        </p:nvPicPr>
        <p:blipFill>
          <a:blip r:embed="rId3"/>
          <a:stretch>
            <a:fillRect/>
          </a:stretch>
        </p:blipFill>
        <p:spPr>
          <a:xfrm>
            <a:off x="4667248" y="1472930"/>
            <a:ext cx="5014291" cy="4825072"/>
          </a:xfrm>
        </p:spPr>
      </p:pic>
    </p:spTree>
    <p:extLst>
      <p:ext uri="{BB962C8B-B14F-4D97-AF65-F5344CB8AC3E}">
        <p14:creationId xmlns:p14="http://schemas.microsoft.com/office/powerpoint/2010/main" val="3300817236"/>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3126</TotalTime>
  <Words>336</Words>
  <Application>Microsoft Office PowerPoint</Application>
  <PresentationFormat>Widescreen</PresentationFormat>
  <Paragraphs>25</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Britannic Bold</vt:lpstr>
      <vt:lpstr>Calibri</vt:lpstr>
      <vt:lpstr>Calibri Light</vt:lpstr>
      <vt:lpstr>Century Gothic</vt:lpstr>
      <vt:lpstr>Office Theme</vt:lpstr>
      <vt:lpstr>PowerPoint Presentation</vt:lpstr>
      <vt:lpstr>Pendahuluan Metodologi Agile </vt:lpstr>
      <vt:lpstr>PowerPoint Presentation</vt:lpstr>
      <vt:lpstr>TEKNIK PENGEMBANGAN AGILE </vt:lpstr>
      <vt:lpstr>RICH PICTURE </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204</cp:revision>
  <dcterms:created xsi:type="dcterms:W3CDTF">2018-01-15T03:36:45Z</dcterms:created>
  <dcterms:modified xsi:type="dcterms:W3CDTF">2021-08-13T03:48:05Z</dcterms:modified>
</cp:coreProperties>
</file>