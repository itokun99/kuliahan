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75" r:id="rId3"/>
    <p:sldId id="276" r:id="rId4"/>
    <p:sldId id="277" r:id="rId5"/>
    <p:sldId id="278" r:id="rId6"/>
    <p:sldId id="279" r:id="rId7"/>
    <p:sldId id="280" r:id="rId8"/>
    <p:sldId id="281" r:id="rId9"/>
    <p:sldId id="282"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4" autoAdjust="0"/>
    <p:restoredTop sz="94630" autoAdjust="0"/>
  </p:normalViewPr>
  <p:slideViewPr>
    <p:cSldViewPr snapToGrid="0">
      <p:cViewPr varScale="1">
        <p:scale>
          <a:sx n="72" d="100"/>
          <a:sy n="72" d="100"/>
        </p:scale>
        <p:origin x="4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8/13/2021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8/13/2021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8/13/2021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8/13/2021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8/13/2021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dirty="0"/>
              <a:t>MATERI PENGAYAAAN </a:t>
            </a:r>
          </a:p>
          <a:p>
            <a:pPr algn="ctr">
              <a:buNone/>
            </a:pPr>
            <a:r>
              <a:rPr lang="id-ID" sz="2400" b="1" dirty="0"/>
              <a:t>MSIM4303 REKAYASA PERANGAKAT LUNAK</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2139475" y="3059668"/>
            <a:ext cx="7763344" cy="1323439"/>
          </a:xfrm>
          <a:prstGeom prst="rect">
            <a:avLst/>
          </a:prstGeom>
          <a:noFill/>
        </p:spPr>
        <p:txBody>
          <a:bodyPr wrap="none" rtlCol="0">
            <a:spAutoFit/>
          </a:bodyPr>
          <a:lstStyle/>
          <a:p>
            <a:pPr algn="ctr">
              <a:spcBef>
                <a:spcPct val="0"/>
              </a:spcBef>
              <a:buNone/>
            </a:pPr>
            <a:r>
              <a:rPr lang="id-ID" sz="4000" dirty="0"/>
              <a:t>SESI 7</a:t>
            </a:r>
          </a:p>
          <a:p>
            <a:pPr algn="ctr">
              <a:spcBef>
                <a:spcPct val="0"/>
              </a:spcBef>
              <a:buNone/>
            </a:pPr>
            <a:r>
              <a:rPr lang="en-US" sz="4000" dirty="0" err="1"/>
              <a:t>Manajemen</a:t>
            </a:r>
            <a:r>
              <a:rPr lang="en-US" sz="4000" dirty="0"/>
              <a:t> </a:t>
            </a:r>
            <a:r>
              <a:rPr lang="en-US" sz="4000" dirty="0" err="1"/>
              <a:t>Proyek</a:t>
            </a:r>
            <a:r>
              <a:rPr lang="id-ID" sz="4000" dirty="0"/>
              <a:t> </a:t>
            </a:r>
            <a:r>
              <a:rPr lang="en-US" sz="4000" dirty="0" err="1"/>
              <a:t>Perangkat</a:t>
            </a:r>
            <a:r>
              <a:rPr lang="en-US" sz="4000" dirty="0"/>
              <a:t> </a:t>
            </a:r>
            <a:r>
              <a:rPr lang="en-US" sz="4000" dirty="0" err="1"/>
              <a:t>Lunak</a:t>
            </a:r>
            <a:endParaRPr lang="id-ID" altLang="en-US" sz="5400" dirty="0">
              <a:solidFill>
                <a:srgbClr val="FF0000"/>
              </a:solidFill>
              <a:latin typeface="Britannic Bold" panose="020B0903060703020204" pitchFamily="34" charset="0"/>
            </a:endParaRP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id-ID" dirty="0"/>
              <a:t>Pendahuluan Manajemen Proyek Perangkat Lunak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77500" lnSpcReduction="20000"/>
          </a:bodyPr>
          <a:lstStyle/>
          <a:p>
            <a:pPr marL="0" indent="0">
              <a:buNone/>
            </a:pPr>
            <a:r>
              <a:rPr lang="nb-NO" dirty="0"/>
              <a:t>Proyek perangkat lunak dapat didapatkan dari proses-proses berikut. </a:t>
            </a:r>
            <a:endParaRPr lang="id-ID" dirty="0"/>
          </a:p>
          <a:p>
            <a:pPr marL="0" indent="0">
              <a:buNone/>
            </a:pPr>
            <a:r>
              <a:rPr lang="id-ID" dirty="0"/>
              <a:t>1.  Memiliki koneksi atau rekan yang  sedang membutuhkan rekanan untuk  mengerjakan proyek teknologi informasi </a:t>
            </a:r>
            <a:r>
              <a:rPr lang="id-ID" dirty="0" err="1"/>
              <a:t>Information</a:t>
            </a:r>
            <a:r>
              <a:rPr lang="id-ID" dirty="0"/>
              <a:t> Technology (IT). </a:t>
            </a:r>
          </a:p>
          <a:p>
            <a:pPr marL="0" indent="0">
              <a:buNone/>
            </a:pPr>
            <a:r>
              <a:rPr lang="id-ID" dirty="0"/>
              <a:t>2.  Mencari proyek perangkat lunak dari internet. Beberapa situs luar negeri  menyediakan iklan para pencari rekanan proyek perangkat lunak untuk mengerjakan perangkat lunak yang mereka </a:t>
            </a:r>
            <a:r>
              <a:rPr lang="id-ID" dirty="0" err="1"/>
              <a:t>butuhkan</a:t>
            </a:r>
            <a:r>
              <a:rPr lang="id-ID" dirty="0"/>
              <a:t>. Biasanya orang yang mendapat proyek dari internet paling tidak dapat berbahasa inggris dan menjaga reputasi karena jika tidak orang asing sering tidak bisa percaya lagi. </a:t>
            </a:r>
          </a:p>
          <a:p>
            <a:pPr marL="0" indent="0">
              <a:buNone/>
            </a:pPr>
            <a:r>
              <a:rPr lang="id-ID" dirty="0"/>
              <a:t>3.  Pihak swasta yang sedang membutuhkan rekanan untuk mengerjakan proyek teknologi informasi (</a:t>
            </a:r>
            <a:r>
              <a:rPr lang="id-ID" dirty="0" err="1"/>
              <a:t>Information</a:t>
            </a:r>
            <a:r>
              <a:rPr lang="id-ID" dirty="0"/>
              <a:t> Technology (IT)). </a:t>
            </a:r>
          </a:p>
          <a:p>
            <a:pPr marL="0" indent="0">
              <a:buNone/>
            </a:pPr>
            <a:r>
              <a:rPr lang="id-ID" dirty="0"/>
              <a:t>4.  Penunjukan langsung dari instansi pemerintah yang sedang membutuhkan rekanan untuk mengerjakan proyek teknologi informasi (</a:t>
            </a:r>
            <a:r>
              <a:rPr lang="id-ID" dirty="0" err="1"/>
              <a:t>Information</a:t>
            </a:r>
            <a:r>
              <a:rPr lang="id-ID" dirty="0"/>
              <a:t> Technology (IT)). </a:t>
            </a:r>
          </a:p>
          <a:p>
            <a:pPr marL="0" indent="0">
              <a:buNone/>
            </a:pPr>
            <a:r>
              <a:rPr lang="id-ID" dirty="0"/>
              <a:t>5.  Proses pelelangan oleh instansi pemerintah yang membutuhkan rekanan untuk mengerjakan proyek teknologi informasi (</a:t>
            </a:r>
            <a:r>
              <a:rPr lang="id-ID" dirty="0" err="1"/>
              <a:t>Information</a:t>
            </a:r>
            <a:r>
              <a:rPr lang="id-ID" dirty="0"/>
              <a:t> Technology (IT)). </a:t>
            </a:r>
          </a:p>
        </p:txBody>
      </p:sp>
    </p:spTree>
    <p:extLst>
      <p:ext uri="{BB962C8B-B14F-4D97-AF65-F5344CB8AC3E}">
        <p14:creationId xmlns:p14="http://schemas.microsoft.com/office/powerpoint/2010/main" val="818771933"/>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Aktivitas manajemen proyek</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1.  Manajemen Aktivitas Proyek </a:t>
            </a:r>
          </a:p>
          <a:p>
            <a:r>
              <a:rPr lang="id-ID" dirty="0"/>
              <a:t>2.  Perencanaan Proyek </a:t>
            </a:r>
          </a:p>
          <a:p>
            <a:r>
              <a:rPr lang="id-ID" dirty="0"/>
              <a:t>3.  Penjadwalan Proyek </a:t>
            </a:r>
          </a:p>
          <a:p>
            <a:r>
              <a:rPr lang="id-ID" dirty="0"/>
              <a:t>4.  Manajemen Risiko </a:t>
            </a:r>
          </a:p>
        </p:txBody>
      </p:sp>
    </p:spTree>
    <p:extLst>
      <p:ext uri="{BB962C8B-B14F-4D97-AF65-F5344CB8AC3E}">
        <p14:creationId xmlns:p14="http://schemas.microsoft.com/office/powerpoint/2010/main" val="2997523538"/>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ORANG DI DALAM PROYEK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85000" lnSpcReduction="20000"/>
          </a:bodyPr>
          <a:lstStyle/>
          <a:p>
            <a:pPr marL="0" indent="0">
              <a:buNone/>
            </a:pPr>
            <a:r>
              <a:rPr lang="id-ID" dirty="0"/>
              <a:t>Kepala proyek harus memiliki keahlian dalam hal: </a:t>
            </a:r>
          </a:p>
          <a:p>
            <a:r>
              <a:rPr lang="id-ID" dirty="0"/>
              <a:t>1.  memotivasi anggota tim; </a:t>
            </a:r>
          </a:p>
          <a:p>
            <a:r>
              <a:rPr lang="id-ID" dirty="0"/>
              <a:t>2.  mengorganisasi proses proyek; </a:t>
            </a:r>
          </a:p>
          <a:p>
            <a:r>
              <a:rPr lang="id-ID" dirty="0"/>
              <a:t>3.  memiliki kreativitas yang baik terkait ide dan inovasi; </a:t>
            </a:r>
          </a:p>
          <a:p>
            <a:r>
              <a:rPr lang="id-ID" dirty="0"/>
              <a:t>4.  memiliki kemampuan problem </a:t>
            </a:r>
            <a:r>
              <a:rPr lang="id-ID" dirty="0" err="1"/>
              <a:t>solving</a:t>
            </a:r>
            <a:r>
              <a:rPr lang="id-ID" dirty="0"/>
              <a:t> (menyelesaikan masalah) yang baik; </a:t>
            </a:r>
          </a:p>
          <a:p>
            <a:r>
              <a:rPr lang="id-ID" dirty="0"/>
              <a:t>5.  bertanggung jawab terhadap proyek yang diberikan; </a:t>
            </a:r>
          </a:p>
          <a:p>
            <a:r>
              <a:rPr lang="id-ID" dirty="0"/>
              <a:t>6.  mengoptimalkan kerja anggota tim dengan melakukan </a:t>
            </a:r>
            <a:r>
              <a:rPr lang="id-ID" dirty="0" err="1"/>
              <a:t>pembimbingan</a:t>
            </a:r>
            <a:r>
              <a:rPr lang="id-ID" dirty="0"/>
              <a:t> jika </a:t>
            </a:r>
            <a:r>
              <a:rPr lang="id-ID" dirty="0" err="1"/>
              <a:t>terjadikesalahan</a:t>
            </a:r>
            <a:r>
              <a:rPr lang="id-ID" dirty="0"/>
              <a:t> dan memberikan bentuk penghargaan jika kerja anggota tim baik; </a:t>
            </a:r>
          </a:p>
          <a:p>
            <a:r>
              <a:rPr lang="id-ID" dirty="0"/>
              <a:t>7.  dapat  berkomunikasi  dengan  baik  secara  verbal  dan  non-verbal  serta  dapat membaca  situasi  serta  mampu  mengendalikan  diri  saat  terjadi  tekanan  yang tinggi. </a:t>
            </a:r>
          </a:p>
        </p:txBody>
      </p:sp>
    </p:spTree>
    <p:extLst>
      <p:ext uri="{BB962C8B-B14F-4D97-AF65-F5344CB8AC3E}">
        <p14:creationId xmlns:p14="http://schemas.microsoft.com/office/powerpoint/2010/main" val="1019400875"/>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Tipe dalam tim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1.  </a:t>
            </a:r>
            <a:r>
              <a:rPr lang="id-ID" dirty="0" err="1"/>
              <a:t>Democratic</a:t>
            </a:r>
            <a:r>
              <a:rPr lang="id-ID" dirty="0"/>
              <a:t> </a:t>
            </a:r>
            <a:r>
              <a:rPr lang="id-ID" dirty="0" err="1"/>
              <a:t>Decentralize</a:t>
            </a:r>
            <a:r>
              <a:rPr lang="id-ID" dirty="0"/>
              <a:t> (DD) </a:t>
            </a:r>
          </a:p>
          <a:p>
            <a:r>
              <a:rPr lang="id-ID" dirty="0"/>
              <a:t>2.  </a:t>
            </a:r>
            <a:r>
              <a:rPr lang="id-ID" dirty="0" err="1"/>
              <a:t>Controlled</a:t>
            </a:r>
            <a:r>
              <a:rPr lang="id-ID" dirty="0"/>
              <a:t> </a:t>
            </a:r>
            <a:r>
              <a:rPr lang="id-ID" dirty="0" err="1"/>
              <a:t>Decentralized</a:t>
            </a:r>
            <a:r>
              <a:rPr lang="id-ID" dirty="0"/>
              <a:t> (CD) </a:t>
            </a:r>
          </a:p>
          <a:p>
            <a:r>
              <a:rPr lang="id-ID" dirty="0"/>
              <a:t>3.  </a:t>
            </a:r>
            <a:r>
              <a:rPr lang="id-ID" dirty="0" err="1"/>
              <a:t>Controlled</a:t>
            </a:r>
            <a:r>
              <a:rPr lang="id-ID" dirty="0"/>
              <a:t> </a:t>
            </a:r>
            <a:r>
              <a:rPr lang="id-ID" dirty="0" err="1"/>
              <a:t>Centralized</a:t>
            </a:r>
            <a:r>
              <a:rPr lang="id-ID" dirty="0"/>
              <a:t> (CC) </a:t>
            </a:r>
          </a:p>
        </p:txBody>
      </p:sp>
    </p:spTree>
    <p:extLst>
      <p:ext uri="{BB962C8B-B14F-4D97-AF65-F5344CB8AC3E}">
        <p14:creationId xmlns:p14="http://schemas.microsoft.com/office/powerpoint/2010/main" val="2799146440"/>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PRODUK</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Pendefinisian kebutuhan akan produk perangkat lunak yang akan dibuat sangat diperlukan. Namun pada kenyataannya hal  ini bukanlah hal yang mudah dikarenakan sering  terjadinya perbedaan  tingkatan pengetahuan di bidang perangkat  lunak  antara pelanggan (</a:t>
            </a:r>
            <a:r>
              <a:rPr lang="id-ID" dirty="0" err="1"/>
              <a:t>customer</a:t>
            </a:r>
            <a:r>
              <a:rPr lang="id-ID" dirty="0"/>
              <a:t>) dan pengembang (developer). Oleh sebab itu, seorang pengelola proyek  (</a:t>
            </a:r>
            <a:r>
              <a:rPr lang="id-ID" dirty="0" err="1"/>
              <a:t>project</a:t>
            </a:r>
            <a:r>
              <a:rPr lang="id-ID" dirty="0"/>
              <a:t> </a:t>
            </a:r>
            <a:r>
              <a:rPr lang="id-ID" dirty="0" err="1"/>
              <a:t>manager</a:t>
            </a:r>
            <a:r>
              <a:rPr lang="id-ID" dirty="0"/>
              <a:t>)  harus  dapat memastikan  bahwa  definisi  kebutuhan  sesuai dengan  kebutuhan  pelanggan  (</a:t>
            </a:r>
            <a:r>
              <a:rPr lang="id-ID" dirty="0" err="1"/>
              <a:t>customer</a:t>
            </a:r>
            <a:r>
              <a:rPr lang="id-ID" dirty="0"/>
              <a:t>).  Hal  ini  akan  mempengaruhi  perencanaan terkait waktu, biaya, dan penyusunan anggota tim. </a:t>
            </a:r>
          </a:p>
        </p:txBody>
      </p:sp>
    </p:spTree>
    <p:extLst>
      <p:ext uri="{BB962C8B-B14F-4D97-AF65-F5344CB8AC3E}">
        <p14:creationId xmlns:p14="http://schemas.microsoft.com/office/powerpoint/2010/main" val="2444492162"/>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PROSES</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buNone/>
            </a:pPr>
            <a:r>
              <a:rPr lang="id-ID" dirty="0"/>
              <a:t>Seorang  manajer  harus  memutuskan  model  proses  (model  SDLC)  yang digunakan dalam proyek dan sesuai dengan kondisi: </a:t>
            </a:r>
          </a:p>
          <a:p>
            <a:r>
              <a:rPr lang="id-ID" dirty="0"/>
              <a:t>1.  pelanggan (</a:t>
            </a:r>
            <a:r>
              <a:rPr lang="id-ID" dirty="0" err="1"/>
              <a:t>customer</a:t>
            </a:r>
            <a:r>
              <a:rPr lang="id-ID" dirty="0"/>
              <a:t>) yang memesan produk perangkat lunak beserta orang-orang terkait kebutuhan perangkat lunak </a:t>
            </a:r>
            <a:r>
              <a:rPr lang="id-ID" dirty="0" err="1"/>
              <a:t>termasukan</a:t>
            </a:r>
            <a:r>
              <a:rPr lang="id-ID" dirty="0"/>
              <a:t> orang-orang yang nantinya akan menggunakan perangkat lunak; </a:t>
            </a:r>
          </a:p>
          <a:p>
            <a:r>
              <a:rPr lang="id-ID" dirty="0"/>
              <a:t>2.  karakteristik dari produk perangkat lunak itu sendiri; </a:t>
            </a:r>
          </a:p>
          <a:p>
            <a:r>
              <a:rPr lang="id-ID" dirty="0"/>
              <a:t>3.  lingkungan dikembangkannya perangkat lunak di mana tim pengembang bekerja. </a:t>
            </a:r>
          </a:p>
        </p:txBody>
      </p:sp>
    </p:spTree>
    <p:extLst>
      <p:ext uri="{BB962C8B-B14F-4D97-AF65-F5344CB8AC3E}">
        <p14:creationId xmlns:p14="http://schemas.microsoft.com/office/powerpoint/2010/main" val="1235002450"/>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PROYEK</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20000"/>
          </a:bodyPr>
          <a:lstStyle/>
          <a:p>
            <a:pPr marL="0" indent="0">
              <a:buNone/>
            </a:pPr>
            <a:r>
              <a:rPr lang="id-ID" sz="1800" dirty="0"/>
              <a:t>Agar  proyek  dapat mencapai  keberhasilan maka  diperlukan  ketajaman  dalam  memahami tanda-tanda di mana proyek akan mulai masuk ke area kegagalan proyek.  Tanda-tanda di mana proyek mulai masuk ke area akan mengalami kegagalan: </a:t>
            </a:r>
          </a:p>
          <a:p>
            <a:r>
              <a:rPr lang="id-ID" sz="1800" dirty="0"/>
              <a:t>1.  tim pengembang perangkat lunak tidak memahami kebutuhan pelanggan (</a:t>
            </a:r>
            <a:r>
              <a:rPr lang="id-ID" sz="1800" dirty="0" err="1"/>
              <a:t>customer</a:t>
            </a:r>
            <a:r>
              <a:rPr lang="id-ID" sz="1800" dirty="0"/>
              <a:t>); </a:t>
            </a:r>
          </a:p>
          <a:p>
            <a:r>
              <a:rPr lang="id-ID" sz="1800" dirty="0"/>
              <a:t>2.  ruang lingkup perangkat lunak sangat kurang terdefinisi dengan jelas; </a:t>
            </a:r>
          </a:p>
          <a:p>
            <a:r>
              <a:rPr lang="id-ID" sz="1800" dirty="0"/>
              <a:t>3.  pengelolaan perubahan pada jalannya proyek kurang baik; </a:t>
            </a:r>
          </a:p>
          <a:p>
            <a:r>
              <a:rPr lang="id-ID" sz="1800" dirty="0"/>
              <a:t>4.  perubahan teknologi yang dipilih; </a:t>
            </a:r>
          </a:p>
          <a:p>
            <a:r>
              <a:rPr lang="id-ID" sz="1800" dirty="0"/>
              <a:t>5.  kebutuhan akan proses bisnis berubah dan hal ini kurang didefinisikan dengan baik sebelumnya; </a:t>
            </a:r>
          </a:p>
          <a:p>
            <a:r>
              <a:rPr lang="id-ID" sz="1800" dirty="0"/>
              <a:t>6.  batas waktu pengerjaan (</a:t>
            </a:r>
            <a:r>
              <a:rPr lang="id-ID" sz="1800" dirty="0" err="1"/>
              <a:t>deadlines</a:t>
            </a:r>
            <a:r>
              <a:rPr lang="id-ID" sz="1800" dirty="0"/>
              <a:t>) tidak realistis; </a:t>
            </a:r>
          </a:p>
          <a:p>
            <a:r>
              <a:rPr lang="id-ID" sz="1800" dirty="0"/>
              <a:t>7.  pengguna bersifat resistan (sulit mengubah kebiasaannya, terutama dari sistem kerja sebelumnya ke sistem kerja yang baru dengan menggunakan perangkat lunak yang dibuat); </a:t>
            </a:r>
          </a:p>
          <a:p>
            <a:r>
              <a:rPr lang="id-ID" sz="1800" dirty="0"/>
              <a:t>8.  kehilangan dukungan atau memang belum mendapat dukungan yang memadai. </a:t>
            </a:r>
          </a:p>
          <a:p>
            <a:r>
              <a:rPr lang="id-ID" sz="1800" dirty="0"/>
              <a:t>9.  tim proyek kekurangan orang dengan kemampuan yang memadai; </a:t>
            </a:r>
          </a:p>
          <a:p>
            <a:r>
              <a:rPr lang="id-ID" sz="1800" dirty="0"/>
              <a:t>10.  manajer dan praktisi mengabaikan  </a:t>
            </a:r>
            <a:r>
              <a:rPr lang="id-ID" sz="1800" dirty="0" err="1"/>
              <a:t>best</a:t>
            </a:r>
            <a:r>
              <a:rPr lang="id-ID" sz="1800" dirty="0"/>
              <a:t> </a:t>
            </a:r>
            <a:r>
              <a:rPr lang="id-ID" sz="1800" dirty="0" err="1"/>
              <a:t>practice</a:t>
            </a:r>
            <a:r>
              <a:rPr lang="id-ID" sz="1800" dirty="0"/>
              <a:t>  (pengalaman ahli yang sudah terbukti baik) dan pelajaran yang perlu dipelajari untuk memperbaiki langkah ke depan (hikmah). </a:t>
            </a:r>
          </a:p>
        </p:txBody>
      </p:sp>
    </p:spTree>
    <p:extLst>
      <p:ext uri="{BB962C8B-B14F-4D97-AF65-F5344CB8AC3E}">
        <p14:creationId xmlns:p14="http://schemas.microsoft.com/office/powerpoint/2010/main" val="4259051737"/>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Perencanaan Proyek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A.  FASE PROPOSAL </a:t>
            </a:r>
          </a:p>
          <a:p>
            <a:r>
              <a:rPr lang="id-ID" dirty="0"/>
              <a:t>B.  FASE PERMULAAN </a:t>
            </a:r>
          </a:p>
          <a:p>
            <a:r>
              <a:rPr lang="id-ID" dirty="0"/>
              <a:t>C.  FASE PEMANTAUAN SECARA BERKALA SEPANJANG PROYEK </a:t>
            </a:r>
          </a:p>
        </p:txBody>
      </p:sp>
    </p:spTree>
    <p:extLst>
      <p:ext uri="{BB962C8B-B14F-4D97-AF65-F5344CB8AC3E}">
        <p14:creationId xmlns:p14="http://schemas.microsoft.com/office/powerpoint/2010/main" val="2441772044"/>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3141</TotalTime>
  <Words>672</Words>
  <Application>Microsoft Office PowerPoint</Application>
  <PresentationFormat>Widescreen</PresentationFormat>
  <Paragraphs>58</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Britannic Bold</vt:lpstr>
      <vt:lpstr>Calibri</vt:lpstr>
      <vt:lpstr>Calibri Light</vt:lpstr>
      <vt:lpstr>Century Gothic</vt:lpstr>
      <vt:lpstr>Office Theme</vt:lpstr>
      <vt:lpstr>PowerPoint Presentation</vt:lpstr>
      <vt:lpstr>Pendahuluan Manajemen Proyek Perangkat Lunak </vt:lpstr>
      <vt:lpstr>Aktivitas manajemen proyek</vt:lpstr>
      <vt:lpstr>ORANG DI DALAM PROYEK </vt:lpstr>
      <vt:lpstr>Tipe dalam tim</vt:lpstr>
      <vt:lpstr>PRODUK</vt:lpstr>
      <vt:lpstr>PROSES</vt:lpstr>
      <vt:lpstr>PROYEK</vt:lpstr>
      <vt:lpstr>Perencanaan Proyek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212</cp:revision>
  <dcterms:created xsi:type="dcterms:W3CDTF">2018-01-15T03:36:45Z</dcterms:created>
  <dcterms:modified xsi:type="dcterms:W3CDTF">2021-08-13T04:03:26Z</dcterms:modified>
</cp:coreProperties>
</file>